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98" r:id="rId3"/>
    <p:sldId id="272" r:id="rId4"/>
    <p:sldId id="285" r:id="rId5"/>
    <p:sldId id="286" r:id="rId6"/>
    <p:sldId id="289" r:id="rId7"/>
    <p:sldId id="295" r:id="rId8"/>
    <p:sldId id="290" r:id="rId9"/>
    <p:sldId id="299" r:id="rId10"/>
    <p:sldId id="269" r:id="rId11"/>
    <p:sldId id="270" r:id="rId12"/>
    <p:sldId id="283" r:id="rId13"/>
    <p:sldId id="274" r:id="rId14"/>
    <p:sldId id="275" r:id="rId15"/>
    <p:sldId id="276" r:id="rId16"/>
    <p:sldId id="281" r:id="rId17"/>
    <p:sldId id="277" r:id="rId18"/>
    <p:sldId id="300" r:id="rId19"/>
    <p:sldId id="284" r:id="rId20"/>
    <p:sldId id="266" r:id="rId21"/>
    <p:sldId id="293" r:id="rId22"/>
    <p:sldId id="294" r:id="rId23"/>
    <p:sldId id="292" r:id="rId24"/>
    <p:sldId id="287" r:id="rId25"/>
    <p:sldId id="278" r:id="rId2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C57E4B-B466-8021-0B84-E7DFC9C8C430}" name="다희 김" initials="다김" userId="824dc75a19a4f2f9"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박선우" initials="박" lastIdx="15" clrIdx="0">
    <p:extLst>
      <p:ext uri="{19B8F6BF-5375-455C-9EA6-DF929625EA0E}">
        <p15:presenceInfo xmlns:p15="http://schemas.microsoft.com/office/powerpoint/2012/main" userId="박선우"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D1D19"/>
    <a:srgbClr val="F2AAA8"/>
    <a:srgbClr val="0D326F"/>
    <a:srgbClr val="F9D8D7"/>
    <a:srgbClr val="FBF1AB"/>
    <a:srgbClr val="F3FAAC"/>
    <a:srgbClr val="0000FF"/>
    <a:srgbClr val="E44E4A"/>
    <a:srgbClr val="D1D1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93230" autoAdjust="0"/>
  </p:normalViewPr>
  <p:slideViewPr>
    <p:cSldViewPr snapToGrid="0">
      <p:cViewPr varScale="1">
        <p:scale>
          <a:sx n="77" d="100"/>
          <a:sy n="77" d="100"/>
        </p:scale>
        <p:origin x="97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153188-29C4-4987-BC01-09FB3C8FBA2C}" type="datetimeFigureOut">
              <a:rPr lang="ko-KR" altLang="en-US" smtClean="0"/>
              <a:t>2026-08-24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5936B-34C4-4A44-9219-F5A4F39A9411}" type="slidenum">
              <a:rPr lang="ko-KR" altLang="en-US" smtClean="0"/>
              <a:t>‹#›</a:t>
            </a:fld>
            <a:endParaRPr lang="ko-KR" altLang="en-US"/>
          </a:p>
        </p:txBody>
      </p:sp>
    </p:spTree>
    <p:extLst>
      <p:ext uri="{BB962C8B-B14F-4D97-AF65-F5344CB8AC3E}">
        <p14:creationId xmlns:p14="http://schemas.microsoft.com/office/powerpoint/2010/main" val="336496768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CCE8F-A496-689C-A631-EF2B50E226D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F906D2F-C89B-3EFE-E05C-EAFB4C2EB7D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DD9F533-81DB-EDF0-B1ED-3F95B2A4ABD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25F28E0-2E10-3F22-B160-EEF7A9C97C8E}"/>
              </a:ext>
            </a:extLst>
          </p:cNvPr>
          <p:cNvSpPr>
            <a:spLocks noGrp="1"/>
          </p:cNvSpPr>
          <p:nvPr>
            <p:ph type="sldNum" sz="quarter" idx="5"/>
          </p:nvPr>
        </p:nvSpPr>
        <p:spPr/>
        <p:txBody>
          <a:bodyPr/>
          <a:lstStyle/>
          <a:p>
            <a:fld id="{6335936B-34C4-4A44-9219-F5A4F39A9411}" type="slidenum">
              <a:rPr lang="ko-KR" altLang="en-US" smtClean="0"/>
              <a:t>3</a:t>
            </a:fld>
            <a:endParaRPr lang="ko-KR" altLang="en-US"/>
          </a:p>
        </p:txBody>
      </p:sp>
    </p:spTree>
    <p:extLst>
      <p:ext uri="{BB962C8B-B14F-4D97-AF65-F5344CB8AC3E}">
        <p14:creationId xmlns:p14="http://schemas.microsoft.com/office/powerpoint/2010/main" val="3537979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FFDEE-D4B3-0E4D-5898-DB682A94E5B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F7F901C-8976-F208-6790-BAAD254CF3B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4E514C4-4FB5-5C86-512C-D71C1D0A594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AAFE82C-C7CB-7E0C-4FD8-834627979CE4}"/>
              </a:ext>
            </a:extLst>
          </p:cNvPr>
          <p:cNvSpPr>
            <a:spLocks noGrp="1"/>
          </p:cNvSpPr>
          <p:nvPr>
            <p:ph type="sldNum" sz="quarter" idx="5"/>
          </p:nvPr>
        </p:nvSpPr>
        <p:spPr/>
        <p:txBody>
          <a:bodyPr/>
          <a:lstStyle/>
          <a:p>
            <a:fld id="{6335936B-34C4-4A44-9219-F5A4F39A9411}" type="slidenum">
              <a:rPr lang="ko-KR" altLang="en-US" smtClean="0"/>
              <a:t>4</a:t>
            </a:fld>
            <a:endParaRPr lang="ko-KR" altLang="en-US"/>
          </a:p>
        </p:txBody>
      </p:sp>
    </p:spTree>
    <p:extLst>
      <p:ext uri="{BB962C8B-B14F-4D97-AF65-F5344CB8AC3E}">
        <p14:creationId xmlns:p14="http://schemas.microsoft.com/office/powerpoint/2010/main" val="2931272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4C275-DA70-6D74-C72E-C1E40432667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E863C94-C0F0-08E1-592D-915320D85B1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3A393AB-F236-04BC-7E6A-CB66D105F20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E2A721E-9360-C707-A836-D25D95A8F5EF}"/>
              </a:ext>
            </a:extLst>
          </p:cNvPr>
          <p:cNvSpPr>
            <a:spLocks noGrp="1"/>
          </p:cNvSpPr>
          <p:nvPr>
            <p:ph type="sldNum" sz="quarter" idx="5"/>
          </p:nvPr>
        </p:nvSpPr>
        <p:spPr/>
        <p:txBody>
          <a:bodyPr/>
          <a:lstStyle/>
          <a:p>
            <a:fld id="{6335936B-34C4-4A44-9219-F5A4F39A9411}" type="slidenum">
              <a:rPr lang="ko-KR" altLang="en-US" smtClean="0"/>
              <a:t>5</a:t>
            </a:fld>
            <a:endParaRPr lang="ko-KR" altLang="en-US"/>
          </a:p>
        </p:txBody>
      </p:sp>
    </p:spTree>
    <p:extLst>
      <p:ext uri="{BB962C8B-B14F-4D97-AF65-F5344CB8AC3E}">
        <p14:creationId xmlns:p14="http://schemas.microsoft.com/office/powerpoint/2010/main" val="1704010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4C275-DA70-6D74-C72E-C1E40432667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E863C94-C0F0-08E1-592D-915320D85B1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3A393AB-F236-04BC-7E6A-CB66D105F20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E2A721E-9360-C707-A836-D25D95A8F5EF}"/>
              </a:ext>
            </a:extLst>
          </p:cNvPr>
          <p:cNvSpPr>
            <a:spLocks noGrp="1"/>
          </p:cNvSpPr>
          <p:nvPr>
            <p:ph type="sldNum" sz="quarter" idx="5"/>
          </p:nvPr>
        </p:nvSpPr>
        <p:spPr/>
        <p:txBody>
          <a:bodyPr/>
          <a:lstStyle/>
          <a:p>
            <a:fld id="{6335936B-34C4-4A44-9219-F5A4F39A9411}" type="slidenum">
              <a:rPr lang="ko-KR" altLang="en-US" smtClean="0"/>
              <a:t>6</a:t>
            </a:fld>
            <a:endParaRPr lang="ko-KR" altLang="en-US"/>
          </a:p>
        </p:txBody>
      </p:sp>
    </p:spTree>
    <p:extLst>
      <p:ext uri="{BB962C8B-B14F-4D97-AF65-F5344CB8AC3E}">
        <p14:creationId xmlns:p14="http://schemas.microsoft.com/office/powerpoint/2010/main" val="1324541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2CB09-72E2-2531-7BF8-DF4B19E118A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833377A-35DD-0C06-9457-675A4E890FF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292533B-73A6-44D7-CFF5-DBCF53E9A1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FA1F931-0394-4863-6B58-CA2EA7B4151F}"/>
              </a:ext>
            </a:extLst>
          </p:cNvPr>
          <p:cNvSpPr>
            <a:spLocks noGrp="1"/>
          </p:cNvSpPr>
          <p:nvPr>
            <p:ph type="sldNum" sz="quarter" idx="5"/>
          </p:nvPr>
        </p:nvSpPr>
        <p:spPr/>
        <p:txBody>
          <a:bodyPr/>
          <a:lstStyle/>
          <a:p>
            <a:fld id="{6335936B-34C4-4A44-9219-F5A4F39A9411}" type="slidenum">
              <a:rPr lang="ko-KR" altLang="en-US" smtClean="0"/>
              <a:t>7</a:t>
            </a:fld>
            <a:endParaRPr lang="ko-KR" altLang="en-US"/>
          </a:p>
        </p:txBody>
      </p:sp>
    </p:spTree>
    <p:extLst>
      <p:ext uri="{BB962C8B-B14F-4D97-AF65-F5344CB8AC3E}">
        <p14:creationId xmlns:p14="http://schemas.microsoft.com/office/powerpoint/2010/main" val="248313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4C275-DA70-6D74-C72E-C1E40432667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E863C94-C0F0-08E1-592D-915320D85B1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3A393AB-F236-04BC-7E6A-CB66D105F20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E2A721E-9360-C707-A836-D25D95A8F5EF}"/>
              </a:ext>
            </a:extLst>
          </p:cNvPr>
          <p:cNvSpPr>
            <a:spLocks noGrp="1"/>
          </p:cNvSpPr>
          <p:nvPr>
            <p:ph type="sldNum" sz="quarter" idx="5"/>
          </p:nvPr>
        </p:nvSpPr>
        <p:spPr/>
        <p:txBody>
          <a:bodyPr/>
          <a:lstStyle/>
          <a:p>
            <a:fld id="{6335936B-34C4-4A44-9219-F5A4F39A9411}" type="slidenum">
              <a:rPr lang="ko-KR" altLang="en-US" smtClean="0"/>
              <a:t>8</a:t>
            </a:fld>
            <a:endParaRPr lang="ko-KR" altLang="en-US"/>
          </a:p>
        </p:txBody>
      </p:sp>
    </p:spTree>
    <p:extLst>
      <p:ext uri="{BB962C8B-B14F-4D97-AF65-F5344CB8AC3E}">
        <p14:creationId xmlns:p14="http://schemas.microsoft.com/office/powerpoint/2010/main" val="1704594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51DA2-128A-3A49-3C35-1EA8B5070D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B9A661D-D43F-D21A-68D6-5A63AD3ABE1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F69FBB2-C0FB-98C3-6AB6-884C90B056C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50A950B-795D-B1C3-6996-7AC2D2B7A334}"/>
              </a:ext>
            </a:extLst>
          </p:cNvPr>
          <p:cNvSpPr>
            <a:spLocks noGrp="1"/>
          </p:cNvSpPr>
          <p:nvPr>
            <p:ph type="sldNum" sz="quarter" idx="5"/>
          </p:nvPr>
        </p:nvSpPr>
        <p:spPr/>
        <p:txBody>
          <a:bodyPr/>
          <a:lstStyle/>
          <a:p>
            <a:fld id="{6335936B-34C4-4A44-9219-F5A4F39A9411}" type="slidenum">
              <a:rPr lang="ko-KR" altLang="en-US" smtClean="0"/>
              <a:t>9</a:t>
            </a:fld>
            <a:endParaRPr lang="ko-KR" altLang="en-US"/>
          </a:p>
        </p:txBody>
      </p:sp>
    </p:spTree>
    <p:extLst>
      <p:ext uri="{BB962C8B-B14F-4D97-AF65-F5344CB8AC3E}">
        <p14:creationId xmlns:p14="http://schemas.microsoft.com/office/powerpoint/2010/main" val="1970319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r>
              <a:rPr lang="ko-KR" altLang="en-US" dirty="0" err="1"/>
              <a:t>결측값이</a:t>
            </a:r>
            <a:r>
              <a:rPr lang="ko-KR" altLang="en-US" dirty="0"/>
              <a:t> 있는 데이터가 몇 개인지 통계에 보여주기 </a:t>
            </a:r>
            <a:r>
              <a:rPr lang="en-US" altLang="ko-KR" dirty="0"/>
              <a:t>(or </a:t>
            </a:r>
            <a:r>
              <a:rPr lang="ko-KR" altLang="en-US" dirty="0" err="1"/>
              <a:t>결측값</a:t>
            </a:r>
            <a:r>
              <a:rPr lang="ko-KR" altLang="en-US" dirty="0"/>
              <a:t> 제외한 총 데이터 개수</a:t>
            </a:r>
            <a:r>
              <a:rPr lang="en-US" altLang="ko-KR" dirty="0"/>
              <a:t>)</a:t>
            </a:r>
            <a:endParaRPr lang="ko-KR" altLang="en-US" dirty="0"/>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10</a:t>
            </a:fld>
            <a:endParaRPr lang="ko-KR" altLang="en-US"/>
          </a:p>
        </p:txBody>
      </p:sp>
    </p:spTree>
    <p:extLst>
      <p:ext uri="{BB962C8B-B14F-4D97-AF65-F5344CB8AC3E}">
        <p14:creationId xmlns:p14="http://schemas.microsoft.com/office/powerpoint/2010/main" val="1149784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A663C-E60E-3EA3-9202-39E8E901FAC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380E01F-CC10-A74E-E341-E584C16003B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4FAFF5F-7AE1-75EE-1D4F-6574DCF4FD7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FE2A6D6-816D-9331-1827-15154018AC0A}"/>
              </a:ext>
            </a:extLst>
          </p:cNvPr>
          <p:cNvSpPr>
            <a:spLocks noGrp="1"/>
          </p:cNvSpPr>
          <p:nvPr>
            <p:ph type="sldNum" sz="quarter" idx="5"/>
          </p:nvPr>
        </p:nvSpPr>
        <p:spPr/>
        <p:txBody>
          <a:bodyPr/>
          <a:lstStyle/>
          <a:p>
            <a:fld id="{6335936B-34C4-4A44-9219-F5A4F39A9411}" type="slidenum">
              <a:rPr lang="ko-KR" altLang="en-US" smtClean="0"/>
              <a:t>11</a:t>
            </a:fld>
            <a:endParaRPr lang="ko-KR" altLang="en-US"/>
          </a:p>
        </p:txBody>
      </p:sp>
    </p:spTree>
    <p:extLst>
      <p:ext uri="{BB962C8B-B14F-4D97-AF65-F5344CB8AC3E}">
        <p14:creationId xmlns:p14="http://schemas.microsoft.com/office/powerpoint/2010/main" val="231611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B1A3D-E491-A1D6-1823-2DA44CA1674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0D69CAE-A427-B6D9-D78C-9DA03AB962F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16F1C1A-0DA0-E9D1-75D6-FA6865F522C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5FD41F4-EF5A-BFEC-102F-9DE8591715B0}"/>
              </a:ext>
            </a:extLst>
          </p:cNvPr>
          <p:cNvSpPr>
            <a:spLocks noGrp="1"/>
          </p:cNvSpPr>
          <p:nvPr>
            <p:ph type="sldNum" sz="quarter" idx="5"/>
          </p:nvPr>
        </p:nvSpPr>
        <p:spPr/>
        <p:txBody>
          <a:bodyPr/>
          <a:lstStyle/>
          <a:p>
            <a:fld id="{6335936B-34C4-4A44-9219-F5A4F39A9411}" type="slidenum">
              <a:rPr lang="ko-KR" altLang="en-US" smtClean="0"/>
              <a:t>12</a:t>
            </a:fld>
            <a:endParaRPr lang="ko-KR" altLang="en-US"/>
          </a:p>
        </p:txBody>
      </p:sp>
    </p:spTree>
    <p:extLst>
      <p:ext uri="{BB962C8B-B14F-4D97-AF65-F5344CB8AC3E}">
        <p14:creationId xmlns:p14="http://schemas.microsoft.com/office/powerpoint/2010/main" val="1059792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13</a:t>
            </a:fld>
            <a:endParaRPr lang="ko-KR" altLang="en-US"/>
          </a:p>
        </p:txBody>
      </p:sp>
    </p:spTree>
    <p:extLst>
      <p:ext uri="{BB962C8B-B14F-4D97-AF65-F5344CB8AC3E}">
        <p14:creationId xmlns:p14="http://schemas.microsoft.com/office/powerpoint/2010/main" val="2339310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r>
              <a:rPr lang="ko-KR" altLang="en-US" dirty="0"/>
              <a:t>수정하기</a:t>
            </a:r>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14</a:t>
            </a:fld>
            <a:endParaRPr lang="ko-KR" altLang="en-US"/>
          </a:p>
        </p:txBody>
      </p:sp>
    </p:spTree>
    <p:extLst>
      <p:ext uri="{BB962C8B-B14F-4D97-AF65-F5344CB8AC3E}">
        <p14:creationId xmlns:p14="http://schemas.microsoft.com/office/powerpoint/2010/main" val="1637578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15</a:t>
            </a:fld>
            <a:endParaRPr lang="ko-KR" altLang="en-US"/>
          </a:p>
        </p:txBody>
      </p:sp>
    </p:spTree>
    <p:extLst>
      <p:ext uri="{BB962C8B-B14F-4D97-AF65-F5344CB8AC3E}">
        <p14:creationId xmlns:p14="http://schemas.microsoft.com/office/powerpoint/2010/main" val="517950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16</a:t>
            </a:fld>
            <a:endParaRPr lang="ko-KR" altLang="en-US"/>
          </a:p>
        </p:txBody>
      </p:sp>
    </p:spTree>
    <p:extLst>
      <p:ext uri="{BB962C8B-B14F-4D97-AF65-F5344CB8AC3E}">
        <p14:creationId xmlns:p14="http://schemas.microsoft.com/office/powerpoint/2010/main" val="4047231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17</a:t>
            </a:fld>
            <a:endParaRPr lang="ko-KR" altLang="en-US"/>
          </a:p>
        </p:txBody>
      </p:sp>
    </p:spTree>
    <p:extLst>
      <p:ext uri="{BB962C8B-B14F-4D97-AF65-F5344CB8AC3E}">
        <p14:creationId xmlns:p14="http://schemas.microsoft.com/office/powerpoint/2010/main" val="314020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53D8-4C85-4F8C-78B1-7868889D6D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0D7AE80-5F23-A383-297B-CAD1F7E46A1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2FF4D76-9F66-DA0F-0640-EB009BAA32C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9AAB76D-C562-6908-29E1-9F810B98D286}"/>
              </a:ext>
            </a:extLst>
          </p:cNvPr>
          <p:cNvSpPr>
            <a:spLocks noGrp="1"/>
          </p:cNvSpPr>
          <p:nvPr>
            <p:ph type="sldNum" sz="quarter" idx="5"/>
          </p:nvPr>
        </p:nvSpPr>
        <p:spPr/>
        <p:txBody>
          <a:bodyPr/>
          <a:lstStyle/>
          <a:p>
            <a:fld id="{6335936B-34C4-4A44-9219-F5A4F39A9411}" type="slidenum">
              <a:rPr lang="ko-KR" altLang="en-US" smtClean="0"/>
              <a:t>18</a:t>
            </a:fld>
            <a:endParaRPr lang="ko-KR" altLang="en-US"/>
          </a:p>
        </p:txBody>
      </p:sp>
    </p:spTree>
    <p:extLst>
      <p:ext uri="{BB962C8B-B14F-4D97-AF65-F5344CB8AC3E}">
        <p14:creationId xmlns:p14="http://schemas.microsoft.com/office/powerpoint/2010/main" val="34559488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B1A3D-E491-A1D6-1823-2DA44CA1674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0D69CAE-A427-B6D9-D78C-9DA03AB962F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16F1C1A-0DA0-E9D1-75D6-FA6865F522C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5FD41F4-EF5A-BFEC-102F-9DE8591715B0}"/>
              </a:ext>
            </a:extLst>
          </p:cNvPr>
          <p:cNvSpPr>
            <a:spLocks noGrp="1"/>
          </p:cNvSpPr>
          <p:nvPr>
            <p:ph type="sldNum" sz="quarter" idx="5"/>
          </p:nvPr>
        </p:nvSpPr>
        <p:spPr/>
        <p:txBody>
          <a:bodyPr/>
          <a:lstStyle/>
          <a:p>
            <a:fld id="{6335936B-34C4-4A44-9219-F5A4F39A9411}" type="slidenum">
              <a:rPr lang="ko-KR" altLang="en-US" smtClean="0"/>
              <a:t>19</a:t>
            </a:fld>
            <a:endParaRPr lang="ko-KR" altLang="en-US"/>
          </a:p>
        </p:txBody>
      </p:sp>
    </p:spTree>
    <p:extLst>
      <p:ext uri="{BB962C8B-B14F-4D97-AF65-F5344CB8AC3E}">
        <p14:creationId xmlns:p14="http://schemas.microsoft.com/office/powerpoint/2010/main" val="30608457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84FC8-DAC1-ECFE-BDB7-7EC5D1398E7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EACFDB6-2FE7-F98B-4FC3-A92F0206AD3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CBFA517-47BA-4908-51E4-7A4C934576AE}"/>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88F5844-9ADA-C03C-0196-17090099E900}"/>
              </a:ext>
            </a:extLst>
          </p:cNvPr>
          <p:cNvSpPr>
            <a:spLocks noGrp="1"/>
          </p:cNvSpPr>
          <p:nvPr>
            <p:ph type="sldNum" sz="quarter" idx="5"/>
          </p:nvPr>
        </p:nvSpPr>
        <p:spPr/>
        <p:txBody>
          <a:bodyPr/>
          <a:lstStyle/>
          <a:p>
            <a:fld id="{6335936B-34C4-4A44-9219-F5A4F39A9411}" type="slidenum">
              <a:rPr lang="ko-KR" altLang="en-US" smtClean="0"/>
              <a:t>20</a:t>
            </a:fld>
            <a:endParaRPr lang="ko-KR" altLang="en-US"/>
          </a:p>
        </p:txBody>
      </p:sp>
    </p:spTree>
    <p:extLst>
      <p:ext uri="{BB962C8B-B14F-4D97-AF65-F5344CB8AC3E}">
        <p14:creationId xmlns:p14="http://schemas.microsoft.com/office/powerpoint/2010/main" val="3045379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21</a:t>
            </a:fld>
            <a:endParaRPr lang="ko-KR" altLang="en-US"/>
          </a:p>
        </p:txBody>
      </p:sp>
    </p:spTree>
    <p:extLst>
      <p:ext uri="{BB962C8B-B14F-4D97-AF65-F5344CB8AC3E}">
        <p14:creationId xmlns:p14="http://schemas.microsoft.com/office/powerpoint/2010/main" val="33304357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22</a:t>
            </a:fld>
            <a:endParaRPr lang="ko-KR" altLang="en-US"/>
          </a:p>
        </p:txBody>
      </p:sp>
    </p:spTree>
    <p:extLst>
      <p:ext uri="{BB962C8B-B14F-4D97-AF65-F5344CB8AC3E}">
        <p14:creationId xmlns:p14="http://schemas.microsoft.com/office/powerpoint/2010/main" val="2400455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23</a:t>
            </a:fld>
            <a:endParaRPr lang="ko-KR" altLang="en-US"/>
          </a:p>
        </p:txBody>
      </p:sp>
    </p:spTree>
    <p:extLst>
      <p:ext uri="{BB962C8B-B14F-4D97-AF65-F5344CB8AC3E}">
        <p14:creationId xmlns:p14="http://schemas.microsoft.com/office/powerpoint/2010/main" val="871144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24</a:t>
            </a:fld>
            <a:endParaRPr lang="ko-KR" altLang="en-US"/>
          </a:p>
        </p:txBody>
      </p:sp>
    </p:spTree>
    <p:extLst>
      <p:ext uri="{BB962C8B-B14F-4D97-AF65-F5344CB8AC3E}">
        <p14:creationId xmlns:p14="http://schemas.microsoft.com/office/powerpoint/2010/main" val="7315146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1E37-E6FE-9D75-41B7-500010A21B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A4A8C7D-CC9D-2F35-E94C-DF00A66EEA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7DE01CA-75E8-1E77-610B-B778D8912E6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E431DB2-85CC-AACF-2774-43459968F3BF}"/>
              </a:ext>
            </a:extLst>
          </p:cNvPr>
          <p:cNvSpPr>
            <a:spLocks noGrp="1"/>
          </p:cNvSpPr>
          <p:nvPr>
            <p:ph type="sldNum" sz="quarter" idx="5"/>
          </p:nvPr>
        </p:nvSpPr>
        <p:spPr/>
        <p:txBody>
          <a:bodyPr/>
          <a:lstStyle/>
          <a:p>
            <a:fld id="{6335936B-34C4-4A44-9219-F5A4F39A9411}" type="slidenum">
              <a:rPr lang="ko-KR" altLang="en-US" smtClean="0"/>
              <a:t>25</a:t>
            </a:fld>
            <a:endParaRPr lang="ko-KR" altLang="en-US"/>
          </a:p>
        </p:txBody>
      </p:sp>
    </p:spTree>
    <p:extLst>
      <p:ext uri="{BB962C8B-B14F-4D97-AF65-F5344CB8AC3E}">
        <p14:creationId xmlns:p14="http://schemas.microsoft.com/office/powerpoint/2010/main" val="4177150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DB439B0-F3F0-A346-4B58-99DCE8F9180C}"/>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53AFB65C-A889-FBD1-EE72-1DD3D29DE2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AF8417A9-8FC8-B0B0-FC86-580D658085F9}"/>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5" name="바닥글 개체 틀 4">
            <a:extLst>
              <a:ext uri="{FF2B5EF4-FFF2-40B4-BE49-F238E27FC236}">
                <a16:creationId xmlns:a16="http://schemas.microsoft.com/office/drawing/2014/main" id="{0E698B16-16B9-9FFE-925A-B8B823DBE2F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BB97FA8-CE3C-B7D2-68F3-A9700F7B93BE}"/>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1169604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1799AF-6F1E-E91F-740D-0DC4FBFF45C2}"/>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F27D346-AFF0-F9A9-204D-CC3DCCD09074}"/>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7EC9905-6393-10DA-A66F-31D791846E35}"/>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5" name="바닥글 개체 틀 4">
            <a:extLst>
              <a:ext uri="{FF2B5EF4-FFF2-40B4-BE49-F238E27FC236}">
                <a16:creationId xmlns:a16="http://schemas.microsoft.com/office/drawing/2014/main" id="{B309B236-B9A7-B09B-72A7-F6907DB1483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6F3BD89-B319-FD5A-2A40-E8E1E3D282C0}"/>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63470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AAA0FA-F5F2-CEF1-E6EB-68A0677194C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67E8EC5D-9EE4-1606-0D43-B3CD543BA0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F554315-ACD2-A396-AE03-6AEE9DCEC6D4}"/>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5" name="바닥글 개체 틀 4">
            <a:extLst>
              <a:ext uri="{FF2B5EF4-FFF2-40B4-BE49-F238E27FC236}">
                <a16:creationId xmlns:a16="http://schemas.microsoft.com/office/drawing/2014/main" id="{64E252FA-C555-4B50-0567-576D01F0984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A52E921-47FD-F396-2015-E26E55D36041}"/>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68478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5B7C9AA-DA2C-12A5-FF08-33E1D6AFED7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67EB684-4E93-DBDC-1DD0-E69AA84852B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E3801A9-145A-4488-8C2C-BC76CCBB6E3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418A820-180C-9E74-3833-CF01DD31D11F}"/>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6" name="바닥글 개체 틀 5">
            <a:extLst>
              <a:ext uri="{FF2B5EF4-FFF2-40B4-BE49-F238E27FC236}">
                <a16:creationId xmlns:a16="http://schemas.microsoft.com/office/drawing/2014/main" id="{1EC81BA1-72DF-EACB-A786-F2B24496D5B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06875D8-2603-6414-68DB-98F26B017FC8}"/>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4107561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BCEDB2-A5B6-BF1D-9E99-687C221770F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9305965-DE0F-27DA-C3F8-AF6DADF6BE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165A02C8-E930-EBB0-CD21-2ABDE569B0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BFB018D-90C2-565A-022D-711EE7F5C3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7152B24-6B5E-ADAF-66B5-648859237D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056EE44B-FA35-5D2D-1636-A0979143740F}"/>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8" name="바닥글 개체 틀 7">
            <a:extLst>
              <a:ext uri="{FF2B5EF4-FFF2-40B4-BE49-F238E27FC236}">
                <a16:creationId xmlns:a16="http://schemas.microsoft.com/office/drawing/2014/main" id="{6401CD04-877D-FF8F-3917-7B052B6E9D6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426504A1-78F1-1E15-EDB9-3BB589CED499}"/>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145407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866FB7A-40E6-D532-1DA8-A89600BCF378}"/>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8CA24CB4-D99D-FA79-EA73-1DE0F686E59F}"/>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4" name="바닥글 개체 틀 3">
            <a:extLst>
              <a:ext uri="{FF2B5EF4-FFF2-40B4-BE49-F238E27FC236}">
                <a16:creationId xmlns:a16="http://schemas.microsoft.com/office/drawing/2014/main" id="{D3623CE3-7998-EB0A-961C-C7111A04DCE4}"/>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80472581-1E21-613D-CA37-D7D33A71D5F7}"/>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1917195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F8B46501-AA9F-11D1-EC5C-5F17D8241ADA}"/>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3" name="바닥글 개체 틀 2">
            <a:extLst>
              <a:ext uri="{FF2B5EF4-FFF2-40B4-BE49-F238E27FC236}">
                <a16:creationId xmlns:a16="http://schemas.microsoft.com/office/drawing/2014/main" id="{D37FF9FF-EA97-687B-6473-6921A9F8F69B}"/>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EEF5FD20-74CA-7B14-F9D7-80497E97C337}"/>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1651079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02B6BC-6626-BD69-8047-9CEC17CED94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0C640EB0-549C-9123-9B99-A345E610F3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F4EB8AEB-A962-C310-76D7-50442AC6DB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4DB9CCC-5723-6D89-FDFD-12147E69E0A5}"/>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6" name="바닥글 개체 틀 5">
            <a:extLst>
              <a:ext uri="{FF2B5EF4-FFF2-40B4-BE49-F238E27FC236}">
                <a16:creationId xmlns:a16="http://schemas.microsoft.com/office/drawing/2014/main" id="{1896808F-6AFB-4343-9BC8-6A433E1B862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7565032-38EB-DE1D-A1A7-1720E9E71F1E}"/>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2380666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B63677D-215E-1B24-DE79-59A38536EE17}"/>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0C5BC21F-57AF-1113-8C7F-8FA4E9BA1F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1020461-82AA-1313-A188-8C341DA19C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AF16A12E-2CAB-AF03-3904-5ECAEF70BCB1}"/>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6" name="바닥글 개체 틀 5">
            <a:extLst>
              <a:ext uri="{FF2B5EF4-FFF2-40B4-BE49-F238E27FC236}">
                <a16:creationId xmlns:a16="http://schemas.microsoft.com/office/drawing/2014/main" id="{362946F5-9C6A-74A8-53D2-134D5225B6A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B93D829-2C2A-A830-9EEC-4328A0464A0A}"/>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600088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2C2BE4-0A49-C279-62E5-6A7AC40B561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6491214-8F40-97C5-5B8C-E5FDC46C3B2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49F5F94-F296-89E7-7C5E-C03C0C7AA392}"/>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5" name="바닥글 개체 틀 4">
            <a:extLst>
              <a:ext uri="{FF2B5EF4-FFF2-40B4-BE49-F238E27FC236}">
                <a16:creationId xmlns:a16="http://schemas.microsoft.com/office/drawing/2014/main" id="{B2A5E94B-ABDF-9B82-BF10-BF583ED5E68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30330BF-9068-E69B-FC0A-BAEF82691325}"/>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279846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8C07A86B-C505-46BB-A35C-E9B4BC401518}"/>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359885E-9510-6C63-2760-5503158376B5}"/>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7AFC6C3-4C6E-BE34-2FA2-04DCD097DE67}"/>
              </a:ext>
            </a:extLst>
          </p:cNvPr>
          <p:cNvSpPr>
            <a:spLocks noGrp="1"/>
          </p:cNvSpPr>
          <p:nvPr>
            <p:ph type="dt" sz="half" idx="10"/>
          </p:nvPr>
        </p:nvSpPr>
        <p:spPr/>
        <p:txBody>
          <a:bodyPr/>
          <a:lstStyle/>
          <a:p>
            <a:fld id="{996CD079-6245-4A10-AF17-44400DDB15B8}" type="datetimeFigureOut">
              <a:rPr lang="ko-KR" altLang="en-US" smtClean="0"/>
              <a:t>2026-08-24</a:t>
            </a:fld>
            <a:endParaRPr lang="ko-KR" altLang="en-US"/>
          </a:p>
        </p:txBody>
      </p:sp>
      <p:sp>
        <p:nvSpPr>
          <p:cNvPr id="5" name="바닥글 개체 틀 4">
            <a:extLst>
              <a:ext uri="{FF2B5EF4-FFF2-40B4-BE49-F238E27FC236}">
                <a16:creationId xmlns:a16="http://schemas.microsoft.com/office/drawing/2014/main" id="{5ADF203F-ECBE-F5FE-0812-336317E388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45269E2-B839-DB11-0B13-E1F99AC071B0}"/>
              </a:ext>
            </a:extLst>
          </p:cNvPr>
          <p:cNvSpPr>
            <a:spLocks noGrp="1"/>
          </p:cNvSpPr>
          <p:nvPr>
            <p:ph type="sldNum" sz="quarter" idx="12"/>
          </p:nvPr>
        </p:nvSpPr>
        <p:spPr/>
        <p:txBody>
          <a:body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4040084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5333A32-E1E5-6A24-FAEA-AD356C9BF3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BE6F0B10-A3AE-1214-36DB-C3630962D2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FDCD59DB-2473-9DC2-C529-C699C165F9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6CD079-6245-4A10-AF17-44400DDB15B8}" type="datetimeFigureOut">
              <a:rPr lang="ko-KR" altLang="en-US" smtClean="0"/>
              <a:t>2026-08-24</a:t>
            </a:fld>
            <a:endParaRPr lang="ko-KR" altLang="en-US"/>
          </a:p>
        </p:txBody>
      </p:sp>
      <p:sp>
        <p:nvSpPr>
          <p:cNvPr id="5" name="바닥글 개체 틀 4">
            <a:extLst>
              <a:ext uri="{FF2B5EF4-FFF2-40B4-BE49-F238E27FC236}">
                <a16:creationId xmlns:a16="http://schemas.microsoft.com/office/drawing/2014/main" id="{9DF0AFC4-CFF1-EC32-8260-BAE06C8582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2E416D67-EC92-2A00-B73D-35A8FE756A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CF2B30-820C-4EF9-834C-E557B436AEDD}" type="slidenum">
              <a:rPr lang="ko-KR" altLang="en-US" smtClean="0"/>
              <a:t>‹#›</a:t>
            </a:fld>
            <a:endParaRPr lang="ko-KR" altLang="en-US"/>
          </a:p>
        </p:txBody>
      </p:sp>
    </p:spTree>
    <p:extLst>
      <p:ext uri="{BB962C8B-B14F-4D97-AF65-F5344CB8AC3E}">
        <p14:creationId xmlns:p14="http://schemas.microsoft.com/office/powerpoint/2010/main" val="3772909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경희대학교">
            <a:extLst>
              <a:ext uri="{FF2B5EF4-FFF2-40B4-BE49-F238E27FC236}">
                <a16:creationId xmlns:a16="http://schemas.microsoft.com/office/drawing/2014/main" id="{818BC849-DFE1-A1C4-E3DE-3E89F7067B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92807" y="0"/>
            <a:ext cx="1199193" cy="899396"/>
          </a:xfrm>
          <a:prstGeom prst="rect">
            <a:avLst/>
          </a:prstGeom>
          <a:noFill/>
          <a:extLst>
            <a:ext uri="{909E8E84-426E-40DD-AFC4-6F175D3DCCD1}">
              <a14:hiddenFill xmlns:a14="http://schemas.microsoft.com/office/drawing/2010/main">
                <a:solidFill>
                  <a:srgbClr val="FFFFFF"/>
                </a:solidFill>
              </a14:hiddenFill>
            </a:ext>
          </a:extLst>
        </p:spPr>
      </p:pic>
      <p:cxnSp>
        <p:nvCxnSpPr>
          <p:cNvPr id="2" name="직선 연결선 1">
            <a:extLst>
              <a:ext uri="{FF2B5EF4-FFF2-40B4-BE49-F238E27FC236}">
                <a16:creationId xmlns:a16="http://schemas.microsoft.com/office/drawing/2014/main" id="{43004058-4E20-612C-89DC-89DF7F565510}"/>
              </a:ext>
            </a:extLst>
          </p:cNvPr>
          <p:cNvCxnSpPr>
            <a:cxnSpLocks/>
          </p:cNvCxnSpPr>
          <p:nvPr/>
        </p:nvCxnSpPr>
        <p:spPr>
          <a:xfrm>
            <a:off x="731520" y="6171074"/>
            <a:ext cx="11455566"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15" name="직사각형 14">
            <a:extLst>
              <a:ext uri="{FF2B5EF4-FFF2-40B4-BE49-F238E27FC236}">
                <a16:creationId xmlns:a16="http://schemas.microsoft.com/office/drawing/2014/main" id="{E20E4D23-A4A1-96FB-C3D1-798D00189324}"/>
              </a:ext>
            </a:extLst>
          </p:cNvPr>
          <p:cNvSpPr/>
          <p:nvPr/>
        </p:nvSpPr>
        <p:spPr>
          <a:xfrm>
            <a:off x="0" y="0"/>
            <a:ext cx="613186" cy="6858000"/>
          </a:xfrm>
          <a:prstGeom prst="rect">
            <a:avLst/>
          </a:prstGeom>
          <a:solidFill>
            <a:srgbClr val="AD1D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TextBox 16">
            <a:extLst>
              <a:ext uri="{FF2B5EF4-FFF2-40B4-BE49-F238E27FC236}">
                <a16:creationId xmlns:a16="http://schemas.microsoft.com/office/drawing/2014/main" id="{F818F023-5937-16CE-D702-9A1709B5D3AD}"/>
              </a:ext>
            </a:extLst>
          </p:cNvPr>
          <p:cNvSpPr txBox="1"/>
          <p:nvPr/>
        </p:nvSpPr>
        <p:spPr>
          <a:xfrm>
            <a:off x="1039474" y="2195473"/>
            <a:ext cx="11147612" cy="1077218"/>
          </a:xfrm>
          <a:prstGeom prst="rect">
            <a:avLst/>
          </a:prstGeom>
          <a:noFill/>
        </p:spPr>
        <p:txBody>
          <a:bodyPr wrap="square">
            <a:spAutoFit/>
          </a:bodyPr>
          <a:lstStyle/>
          <a:p>
            <a:r>
              <a:rPr lang="en-US" altLang="ko-KR" sz="3200" b="1" i="0" dirty="0">
                <a:solidFill>
                  <a:srgbClr val="222222"/>
                </a:solidFill>
                <a:effectLst/>
                <a:latin typeface="Times New Roman" panose="02020603050405020304" pitchFamily="18" charset="0"/>
                <a:ea typeface="나눔고딕" panose="020D0604000000000000" pitchFamily="50" charset="-127"/>
                <a:cs typeface="Times New Roman" panose="02020603050405020304" pitchFamily="18" charset="0"/>
              </a:rPr>
              <a:t>An LLM-based Serialization Framework for Representation Learning in Recommender Systems</a:t>
            </a:r>
            <a:endParaRPr lang="ko-KR" altLang="en-US" sz="3200" b="1" dirty="0">
              <a:latin typeface="Times New Roman" panose="02020603050405020304" pitchFamily="18" charset="0"/>
              <a:ea typeface="나눔고딕" panose="020D0604000000000000" pitchFamily="50" charset="-127"/>
              <a:cs typeface="Times New Roman" panose="02020603050405020304" pitchFamily="18" charset="0"/>
            </a:endParaRPr>
          </a:p>
        </p:txBody>
      </p:sp>
      <p:sp>
        <p:nvSpPr>
          <p:cNvPr id="19" name="TextBox 18">
            <a:extLst>
              <a:ext uri="{FF2B5EF4-FFF2-40B4-BE49-F238E27FC236}">
                <a16:creationId xmlns:a16="http://schemas.microsoft.com/office/drawing/2014/main" id="{7D0F076D-7F7F-C6EE-B053-2117B919A78A}"/>
              </a:ext>
            </a:extLst>
          </p:cNvPr>
          <p:cNvSpPr txBox="1"/>
          <p:nvPr/>
        </p:nvSpPr>
        <p:spPr>
          <a:xfrm>
            <a:off x="1039473" y="3272691"/>
            <a:ext cx="9598511" cy="960328"/>
          </a:xfrm>
          <a:prstGeom prst="rect">
            <a:avLst/>
          </a:prstGeom>
          <a:noFill/>
        </p:spPr>
        <p:txBody>
          <a:bodyPr wrap="square">
            <a:spAutoFit/>
          </a:bodyPr>
          <a:lstStyle/>
          <a:p>
            <a:pPr>
              <a:lnSpc>
                <a:spcPct val="150000"/>
              </a:lnSpc>
            </a:pPr>
            <a:r>
              <a:rPr lang="en-US" altLang="ko-KR" sz="2000" b="1" dirty="0" err="1">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Dahee</a:t>
            </a:r>
            <a:r>
              <a:rPr lang="en-US" altLang="ko-KR" sz="2000" b="1" dirty="0">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 Kim</a:t>
            </a:r>
          </a:p>
          <a:p>
            <a:pPr>
              <a:lnSpc>
                <a:spcPct val="150000"/>
              </a:lnSpc>
            </a:pPr>
            <a:r>
              <a:rPr lang="en-US" altLang="ko-KR" sz="2000" dirty="0">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Master’s Student, Department of Big Data Analytics, Kyung </a:t>
            </a:r>
            <a:r>
              <a:rPr lang="en-US" altLang="ko-KR" sz="2000" dirty="0" err="1">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Hee</a:t>
            </a:r>
            <a:r>
              <a:rPr lang="en-US" altLang="ko-KR" sz="2000" dirty="0">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 University</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sp>
        <p:nvSpPr>
          <p:cNvPr id="3" name="TextBox 2">
            <a:extLst>
              <a:ext uri="{FF2B5EF4-FFF2-40B4-BE49-F238E27FC236}">
                <a16:creationId xmlns:a16="http://schemas.microsoft.com/office/drawing/2014/main" id="{75D96B3C-FDC7-D5E1-3490-66BA8E520D12}"/>
              </a:ext>
            </a:extLst>
          </p:cNvPr>
          <p:cNvSpPr txBox="1"/>
          <p:nvPr/>
        </p:nvSpPr>
        <p:spPr>
          <a:xfrm>
            <a:off x="1039474" y="5502632"/>
            <a:ext cx="9598511" cy="498663"/>
          </a:xfrm>
          <a:prstGeom prst="rect">
            <a:avLst/>
          </a:prstGeom>
          <a:noFill/>
        </p:spPr>
        <p:txBody>
          <a:bodyPr wrap="square">
            <a:spAutoFit/>
          </a:bodyPr>
          <a:lstStyle/>
          <a:p>
            <a:pPr>
              <a:lnSpc>
                <a:spcPct val="150000"/>
              </a:lnSpc>
            </a:pPr>
            <a:r>
              <a:rPr lang="en-US" altLang="ko-KR" sz="2000" b="1" dirty="0">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Supervising Professor:</a:t>
            </a:r>
            <a:r>
              <a:rPr lang="en-US" altLang="ko-KR" sz="2000" b="1" i="0" dirty="0">
                <a:solidFill>
                  <a:srgbClr val="222222"/>
                </a:solidFill>
                <a:effectLst/>
                <a:latin typeface="Times New Roman" panose="02020603050405020304" pitchFamily="18" charset="0"/>
                <a:ea typeface="나눔고딕" panose="020D0604000000000000" pitchFamily="50" charset="-127"/>
                <a:cs typeface="Times New Roman" panose="02020603050405020304" pitchFamily="18" charset="0"/>
              </a:rPr>
              <a:t> Sung-Byung Yang</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spTree>
    <p:extLst>
      <p:ext uri="{BB962C8B-B14F-4D97-AF65-F5344CB8AC3E}">
        <p14:creationId xmlns:p14="http://schemas.microsoft.com/office/powerpoint/2010/main" val="442387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13577-D360-BB1A-2B50-CC1415349A24}"/>
            </a:ext>
          </a:extLst>
        </p:cNvPr>
        <p:cNvGrpSpPr/>
        <p:nvPr/>
      </p:nvGrpSpPr>
      <p:grpSpPr>
        <a:xfrm>
          <a:off x="0" y="0"/>
          <a:ext cx="0" cy="0"/>
          <a:chOff x="0" y="0"/>
          <a:chExt cx="0" cy="0"/>
        </a:xfrm>
      </p:grpSpPr>
      <p:pic>
        <p:nvPicPr>
          <p:cNvPr id="12" name="Picture 2" descr="경희대학교">
            <a:extLst>
              <a:ext uri="{FF2B5EF4-FFF2-40B4-BE49-F238E27FC236}">
                <a16:creationId xmlns:a16="http://schemas.microsoft.com/office/drawing/2014/main" id="{C8116BB0-607C-2D06-89E4-33E0D36F3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92807" y="0"/>
            <a:ext cx="1199193" cy="899396"/>
          </a:xfrm>
          <a:prstGeom prst="rect">
            <a:avLst/>
          </a:prstGeom>
          <a:noFill/>
          <a:extLst>
            <a:ext uri="{909E8E84-426E-40DD-AFC4-6F175D3DCCD1}">
              <a14:hiddenFill xmlns:a14="http://schemas.microsoft.com/office/drawing/2010/main">
                <a:solidFill>
                  <a:srgbClr val="FFFFFF"/>
                </a:solidFill>
              </a14:hiddenFill>
            </a:ext>
          </a:extLst>
        </p:spPr>
      </p:pic>
      <p:cxnSp>
        <p:nvCxnSpPr>
          <p:cNvPr id="2" name="직선 연결선 1">
            <a:extLst>
              <a:ext uri="{FF2B5EF4-FFF2-40B4-BE49-F238E27FC236}">
                <a16:creationId xmlns:a16="http://schemas.microsoft.com/office/drawing/2014/main" id="{BA546A01-0327-B93C-0AD2-30E5281A5BDA}"/>
              </a:ext>
            </a:extLst>
          </p:cNvPr>
          <p:cNvCxnSpPr>
            <a:cxnSpLocks/>
          </p:cNvCxnSpPr>
          <p:nvPr/>
        </p:nvCxnSpPr>
        <p:spPr>
          <a:xfrm>
            <a:off x="731520" y="6171074"/>
            <a:ext cx="11455566"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15" name="직사각형 14">
            <a:extLst>
              <a:ext uri="{FF2B5EF4-FFF2-40B4-BE49-F238E27FC236}">
                <a16:creationId xmlns:a16="http://schemas.microsoft.com/office/drawing/2014/main" id="{1895399A-7817-EBE0-5F11-CB1B77FFA0BE}"/>
              </a:ext>
            </a:extLst>
          </p:cNvPr>
          <p:cNvSpPr/>
          <p:nvPr/>
        </p:nvSpPr>
        <p:spPr>
          <a:xfrm>
            <a:off x="0" y="0"/>
            <a:ext cx="613186" cy="6858000"/>
          </a:xfrm>
          <a:prstGeom prst="rect">
            <a:avLst/>
          </a:prstGeom>
          <a:solidFill>
            <a:srgbClr val="AD1D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TextBox 16">
            <a:extLst>
              <a:ext uri="{FF2B5EF4-FFF2-40B4-BE49-F238E27FC236}">
                <a16:creationId xmlns:a16="http://schemas.microsoft.com/office/drawing/2014/main" id="{3DD94A50-CFBE-C526-49AB-6DC21155281D}"/>
              </a:ext>
            </a:extLst>
          </p:cNvPr>
          <p:cNvSpPr txBox="1"/>
          <p:nvPr/>
        </p:nvSpPr>
        <p:spPr>
          <a:xfrm>
            <a:off x="5019886" y="303723"/>
            <a:ext cx="2878834" cy="523220"/>
          </a:xfrm>
          <a:prstGeom prst="rect">
            <a:avLst/>
          </a:prstGeom>
          <a:noFill/>
        </p:spPr>
        <p:txBody>
          <a:bodyPr wrap="square">
            <a:spAutoFit/>
          </a:bodyPr>
          <a:lstStyle/>
          <a:p>
            <a:r>
              <a:rPr lang="en-US" altLang="ko-KR" sz="2800" b="1" i="0" dirty="0">
                <a:solidFill>
                  <a:srgbClr val="222222"/>
                </a:solidFill>
                <a:effectLst/>
                <a:latin typeface="Times New Roman" panose="02020603050405020304" pitchFamily="18" charset="0"/>
                <a:ea typeface="나눔고딕" panose="020D0604000000000000" pitchFamily="50" charset="-127"/>
                <a:cs typeface="Times New Roman" panose="02020603050405020304" pitchFamily="18" charset="0"/>
              </a:rPr>
              <a:t>Table of Contents</a:t>
            </a:r>
            <a:endParaRPr lang="ko-KR" altLang="en-US" sz="2800" b="1" dirty="0">
              <a:latin typeface="Times New Roman" panose="02020603050405020304" pitchFamily="18" charset="0"/>
              <a:ea typeface="나눔고딕" panose="020D0604000000000000" pitchFamily="50" charset="-127"/>
              <a:cs typeface="Times New Roman" panose="02020603050405020304" pitchFamily="18" charset="0"/>
            </a:endParaRPr>
          </a:p>
        </p:txBody>
      </p:sp>
      <p:sp>
        <p:nvSpPr>
          <p:cNvPr id="19" name="TextBox 18">
            <a:extLst>
              <a:ext uri="{FF2B5EF4-FFF2-40B4-BE49-F238E27FC236}">
                <a16:creationId xmlns:a16="http://schemas.microsoft.com/office/drawing/2014/main" id="{376ABEDC-8DD1-DA5F-E0A9-DBDCF178B0A7}"/>
              </a:ext>
            </a:extLst>
          </p:cNvPr>
          <p:cNvSpPr txBox="1"/>
          <p:nvPr/>
        </p:nvSpPr>
        <p:spPr>
          <a:xfrm>
            <a:off x="2239924" y="721617"/>
            <a:ext cx="7126144" cy="5131661"/>
          </a:xfrm>
          <a:prstGeom prst="rect">
            <a:avLst/>
          </a:prstGeom>
          <a:noFill/>
        </p:spPr>
        <p:txBody>
          <a:bodyPr wrap="square">
            <a:spAutoFit/>
          </a:bodyPr>
          <a:lstStyle/>
          <a:p>
            <a:pPr marL="457200" indent="-457200">
              <a:lnSpc>
                <a:spcPct val="200000"/>
              </a:lnSpc>
              <a:buAutoNum type="arabicPeriod"/>
            </a:pPr>
            <a:r>
              <a:rPr lang="en-US" altLang="ko-KR" sz="2800" b="1" dirty="0">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Introduction</a:t>
            </a:r>
          </a:p>
          <a:p>
            <a:pPr marL="457200" indent="-457200">
              <a:lnSpc>
                <a:spcPct val="200000"/>
              </a:lnSpc>
              <a:buAutoNum type="arabicPeriod"/>
            </a:pPr>
            <a:r>
              <a:rPr lang="en-US" altLang="ko-KR" sz="2800" b="1" dirty="0">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Framework</a:t>
            </a:r>
          </a:p>
          <a:p>
            <a:pPr marL="457200" indent="-457200">
              <a:lnSpc>
                <a:spcPct val="200000"/>
              </a:lnSpc>
              <a:buAutoNum type="arabicPeriod"/>
            </a:pPr>
            <a:r>
              <a:rPr lang="en-US" altLang="ko-KR" sz="2800" b="1" dirty="0">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Experiments</a:t>
            </a:r>
          </a:p>
          <a:p>
            <a:pPr marL="457200" indent="-457200">
              <a:lnSpc>
                <a:spcPct val="200000"/>
              </a:lnSpc>
              <a:buAutoNum type="arabicPeriod"/>
            </a:pPr>
            <a:r>
              <a:rPr lang="en-US" altLang="ko-KR" sz="2800" b="1" dirty="0">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Prompt Design</a:t>
            </a:r>
          </a:p>
          <a:p>
            <a:pPr marL="457200" indent="-457200">
              <a:lnSpc>
                <a:spcPct val="200000"/>
              </a:lnSpc>
              <a:buAutoNum type="arabicPeriod"/>
            </a:pPr>
            <a:r>
              <a:rPr lang="en-US" altLang="ko-KR" sz="2800" b="1" dirty="0">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Performance</a:t>
            </a:r>
          </a:p>
          <a:p>
            <a:pPr marL="457200" indent="-457200">
              <a:lnSpc>
                <a:spcPct val="200000"/>
              </a:lnSpc>
              <a:buAutoNum type="arabicPeriod"/>
            </a:pPr>
            <a:r>
              <a:rPr lang="en-US" altLang="ko-KR" sz="2800" b="1" dirty="0">
                <a:solidFill>
                  <a:srgbClr val="222222"/>
                </a:solidFill>
                <a:latin typeface="Times New Roman" panose="02020603050405020304" pitchFamily="18" charset="0"/>
                <a:ea typeface="나눔고딕" panose="020D0604000000000000" pitchFamily="50" charset="-127"/>
                <a:cs typeface="Times New Roman" panose="02020603050405020304" pitchFamily="18" charset="0"/>
              </a:rPr>
              <a:t>Conclusion and Future Work</a:t>
            </a:r>
            <a:endParaRPr lang="ko-KR" altLang="en-US" sz="2800" b="1" dirty="0">
              <a:latin typeface="Times New Roman" panose="02020603050405020304" pitchFamily="18" charset="0"/>
              <a:ea typeface="나눔고딕" panose="020D0604000000000000" pitchFamily="50" charset="-127"/>
              <a:cs typeface="Times New Roman" panose="02020603050405020304" pitchFamily="18" charset="0"/>
            </a:endParaRPr>
          </a:p>
        </p:txBody>
      </p:sp>
    </p:spTree>
    <p:extLst>
      <p:ext uri="{BB962C8B-B14F-4D97-AF65-F5344CB8AC3E}">
        <p14:creationId xmlns:p14="http://schemas.microsoft.com/office/powerpoint/2010/main" val="2599989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E35DB-6857-EE84-EC74-1369E916AFD9}"/>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59C6EF99-6FE0-0312-6007-3A68C67DF488}"/>
              </a:ext>
            </a:extLst>
          </p:cNvPr>
          <p:cNvSpPr>
            <a:spLocks noGrp="1"/>
          </p:cNvSpPr>
          <p:nvPr>
            <p:ph type="subTitle" idx="1"/>
          </p:nvPr>
        </p:nvSpPr>
        <p:spPr>
          <a:xfrm>
            <a:off x="184848" y="171375"/>
            <a:ext cx="6264078" cy="392039"/>
          </a:xfrm>
        </p:spPr>
        <p:txBody>
          <a:bodyPr anchor="ctr">
            <a:norm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1. Introduction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6B25FB3B-C1A6-46BC-05C4-138921EC1958}"/>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836EEB68-28F4-EF30-16D8-B8C7E064D48B}"/>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3</a:t>
            </a:fld>
            <a:endParaRPr lang="ko-KR" altLang="en-US" dirty="0"/>
          </a:p>
        </p:txBody>
      </p:sp>
      <p:pic>
        <p:nvPicPr>
          <p:cNvPr id="2" name="Picture 2" descr="경희대학교">
            <a:extLst>
              <a:ext uri="{FF2B5EF4-FFF2-40B4-BE49-F238E27FC236}">
                <a16:creationId xmlns:a16="http://schemas.microsoft.com/office/drawing/2014/main" id="{F0E04401-9B10-A1DD-14EC-C5F121BC45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33216464-056A-F1BE-B989-74A6990891C3}"/>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6" name="부제목 2">
            <a:extLst>
              <a:ext uri="{FF2B5EF4-FFF2-40B4-BE49-F238E27FC236}">
                <a16:creationId xmlns:a16="http://schemas.microsoft.com/office/drawing/2014/main" id="{566A65F1-4F33-0192-1A7D-489ED7A7A4F6}"/>
              </a:ext>
            </a:extLst>
          </p:cNvPr>
          <p:cNvSpPr txBox="1">
            <a:spLocks/>
          </p:cNvSpPr>
          <p:nvPr/>
        </p:nvSpPr>
        <p:spPr>
          <a:xfrm>
            <a:off x="134142"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latinLnBrk="0">
              <a:lnSpc>
                <a:spcPct val="150000"/>
              </a:lnSpc>
            </a:pPr>
            <a:r>
              <a:rPr lang="en-US" altLang="ko-KR" sz="1800" b="1" kern="1000" spc="-10" dirty="0">
                <a:latin typeface="Times New Roman" panose="02020603050405020304" pitchFamily="18" charset="0"/>
                <a:ea typeface="나눔고딕" panose="020D0604000000000000" pitchFamily="50" charset="-127"/>
              </a:rPr>
              <a:t>With the advancement of ICT and digital platforms, users are exposed to an increasing number of choices, leading to frequent </a:t>
            </a:r>
            <a:r>
              <a:rPr lang="en-US" altLang="ko-KR" sz="1800" b="1" kern="1000" spc="-10" dirty="0">
                <a:solidFill>
                  <a:srgbClr val="AD1D19"/>
                </a:solidFill>
                <a:latin typeface="Times New Roman" panose="02020603050405020304" pitchFamily="18" charset="0"/>
                <a:ea typeface="나눔고딕" panose="020D0604000000000000" pitchFamily="50" charset="-127"/>
              </a:rPr>
              <a:t>information overload</a:t>
            </a:r>
            <a:r>
              <a:rPr lang="en-US" altLang="ko-KR" sz="1800" b="1" kern="1000" spc="-10" dirty="0">
                <a:latin typeface="Times New Roman" panose="02020603050405020304" pitchFamily="18" charset="0"/>
                <a:ea typeface="나눔고딕" panose="020D0604000000000000" pitchFamily="50" charset="-127"/>
              </a:rPr>
              <a:t> situations (Arnold et al., 2023).</a:t>
            </a:r>
            <a:endParaRPr lang="en-US" altLang="ko-KR" sz="1600" kern="1000" dirty="0">
              <a:latin typeface="Times New Roman" panose="02020603050405020304" pitchFamily="18" charset="0"/>
              <a:ea typeface="나눔고딕" panose="020D0604000000000000" pitchFamily="50" charset="-127"/>
            </a:endParaRP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In this environment, </a:t>
            </a:r>
            <a:r>
              <a:rPr lang="en-US" altLang="ko-KR" sz="1600" b="1" u="sng" kern="1000" dirty="0">
                <a:solidFill>
                  <a:srgbClr val="AD1D19"/>
                </a:solidFill>
                <a:latin typeface="Times New Roman" panose="02020603050405020304" pitchFamily="18" charset="0"/>
                <a:ea typeface="나눔고딕" panose="020D0604000000000000" pitchFamily="50" charset="-127"/>
              </a:rPr>
              <a:t>recommender systems </a:t>
            </a:r>
            <a:r>
              <a:rPr lang="en-US" altLang="ko-KR" sz="1600" u="sng" kern="1000" dirty="0">
                <a:latin typeface="Times New Roman" panose="02020603050405020304" pitchFamily="18" charset="0"/>
                <a:ea typeface="나눔고딕" panose="020D0604000000000000" pitchFamily="50" charset="-127"/>
              </a:rPr>
              <a:t>have emerged as a core technology</a:t>
            </a:r>
            <a:r>
              <a:rPr lang="en-US" altLang="ko-KR" sz="1600" kern="1000" dirty="0">
                <a:latin typeface="Times New Roman" panose="02020603050405020304" pitchFamily="18" charset="0"/>
                <a:ea typeface="나눔고딕" panose="020D0604000000000000" pitchFamily="50" charset="-127"/>
              </a:rPr>
              <a:t> for improving user experience and supporting decision-making by </a:t>
            </a:r>
            <a:r>
              <a:rPr lang="en-US" altLang="ko-KR" sz="1600" u="sng" kern="1000" dirty="0">
                <a:latin typeface="Times New Roman" panose="02020603050405020304" pitchFamily="18" charset="0"/>
                <a:ea typeface="나눔고딕" panose="020D0604000000000000" pitchFamily="50" charset="-127"/>
              </a:rPr>
              <a:t>effectively connecting appropriate products to </a:t>
            </a:r>
            <a:r>
              <a:rPr lang="en-US" altLang="ko-KR" sz="1600" kern="1000" dirty="0" err="1">
                <a:latin typeface="Times New Roman" panose="02020603050405020304" pitchFamily="18" charset="0"/>
                <a:ea typeface="나눔고딕" panose="020D0604000000000000" pitchFamily="50" charset="-127"/>
              </a:rPr>
              <a:t>a</a:t>
            </a:r>
            <a:r>
              <a:rPr lang="en-US" altLang="ko-KR" sz="1600" u="sng" kern="1000" dirty="0" err="1">
                <a:latin typeface="Times New Roman" panose="02020603050405020304" pitchFamily="18" charset="0"/>
                <a:ea typeface="나눔고딕" panose="020D0604000000000000" pitchFamily="50" charset="-127"/>
              </a:rPr>
              <a:t>users</a:t>
            </a:r>
            <a:r>
              <a:rPr lang="en-US" altLang="ko-KR" sz="1600" kern="1000" dirty="0">
                <a:latin typeface="Times New Roman" panose="02020603050405020304" pitchFamily="18" charset="0"/>
                <a:ea typeface="나눔고딕" panose="020D0604000000000000" pitchFamily="50" charset="-127"/>
              </a:rPr>
              <a:t> (</a:t>
            </a:r>
            <a:r>
              <a:rPr lang="en-US" altLang="ko-KR" sz="1600" kern="1000" dirty="0" err="1">
                <a:latin typeface="Times New Roman" panose="02020603050405020304" pitchFamily="18" charset="0"/>
                <a:ea typeface="나눔고딕" panose="020D0604000000000000" pitchFamily="50" charset="-127"/>
              </a:rPr>
              <a:t>Kashlot</a:t>
            </a:r>
            <a:r>
              <a:rPr lang="en-US" altLang="ko-KR" sz="1600" kern="1000" dirty="0">
                <a:latin typeface="Times New Roman" panose="02020603050405020304" pitchFamily="18" charset="0"/>
                <a:ea typeface="나눔고딕" panose="020D0604000000000000" pitchFamily="50" charset="-127"/>
              </a:rPr>
              <a:t> et l., 2026).</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Recommender systems predict items that users are likely to prefer based on user preferences and behavioral histories and provide them in a personalized manner (</a:t>
            </a:r>
            <a:r>
              <a:rPr lang="en-US" altLang="ko-KR" sz="1600" kern="1000" dirty="0" err="1">
                <a:latin typeface="Times New Roman" panose="02020603050405020304" pitchFamily="18" charset="0"/>
                <a:ea typeface="나눔고딕" panose="020D0604000000000000" pitchFamily="50" charset="-127"/>
              </a:rPr>
              <a:t>Alamdari</a:t>
            </a:r>
            <a:r>
              <a:rPr lang="en-US" altLang="ko-KR" sz="1600" kern="1000" dirty="0">
                <a:latin typeface="Times New Roman" panose="02020603050405020304" pitchFamily="18" charset="0"/>
                <a:ea typeface="나눔고딕" panose="020D0604000000000000" pitchFamily="50" charset="-127"/>
              </a:rPr>
              <a:t> et al., 2020). </a:t>
            </a:r>
          </a:p>
          <a:p>
            <a:pPr lvl="1" algn="just" latinLnBrk="0">
              <a:lnSpc>
                <a:spcPct val="150000"/>
              </a:lnSpc>
              <a:buFont typeface="나눔고딕" panose="020D0604000000000000" pitchFamily="50" charset="-127"/>
              <a:buChar char="‐"/>
            </a:pPr>
            <a:endParaRPr lang="ko-KR" altLang="en-US" sz="500" kern="1000" dirty="0">
              <a:latin typeface="Times New Roman" panose="02020603050405020304" pitchFamily="18" charset="0"/>
              <a:ea typeface="나눔고딕" panose="020D0604000000000000" pitchFamily="50" charset="-127"/>
            </a:endParaRPr>
          </a:p>
          <a:p>
            <a:pPr marL="285750" indent="-285750" algn="just" latinLnBrk="0">
              <a:lnSpc>
                <a:spcPct val="150000"/>
              </a:lnSpc>
            </a:pPr>
            <a:r>
              <a:rPr lang="en-US" altLang="ko-KR" sz="1800" b="1" kern="1000" dirty="0">
                <a:latin typeface="Times New Roman" panose="02020603050405020304" pitchFamily="18" charset="0"/>
                <a:ea typeface="나눔고딕" panose="020D0604000000000000" pitchFamily="50" charset="-127"/>
              </a:rPr>
              <a:t>Recommender systems are generally categorized into </a:t>
            </a:r>
            <a:r>
              <a:rPr lang="en-US" altLang="ko-KR" sz="1800" b="1" u="sng" kern="1000" dirty="0">
                <a:latin typeface="Times New Roman" panose="02020603050405020304" pitchFamily="18" charset="0"/>
                <a:ea typeface="나눔고딕" panose="020D0604000000000000" pitchFamily="50" charset="-127"/>
              </a:rPr>
              <a:t>personalized ranking and </a:t>
            </a:r>
            <a:r>
              <a:rPr lang="en-US" altLang="ko-KR" sz="1800" b="1" u="sng" kern="1000" dirty="0">
                <a:solidFill>
                  <a:srgbClr val="AD1D19"/>
                </a:solidFill>
                <a:latin typeface="Times New Roman" panose="02020603050405020304" pitchFamily="18" charset="0"/>
                <a:ea typeface="나눔고딕" panose="020D0604000000000000" pitchFamily="50" charset="-127"/>
              </a:rPr>
              <a:t>rating prediction</a:t>
            </a:r>
            <a:r>
              <a:rPr lang="en-US" altLang="ko-KR" sz="1800" b="1" kern="1000" dirty="0">
                <a:solidFill>
                  <a:srgbClr val="AD1D19"/>
                </a:solidFill>
                <a:latin typeface="Times New Roman" panose="02020603050405020304" pitchFamily="18" charset="0"/>
                <a:ea typeface="나눔고딕" panose="020D0604000000000000" pitchFamily="50" charset="-127"/>
              </a:rPr>
              <a:t> </a:t>
            </a:r>
            <a:r>
              <a:rPr lang="en-US" altLang="ko-KR" sz="1800" b="1" kern="1000" dirty="0">
                <a:latin typeface="Times New Roman" panose="02020603050405020304" pitchFamily="18" charset="0"/>
                <a:ea typeface="나눔고딕" panose="020D0604000000000000" pitchFamily="50" charset="-127"/>
              </a:rPr>
              <a:t>model(Zhao et al., 2022).</a:t>
            </a:r>
          </a:p>
          <a:p>
            <a:pPr lvl="1" algn="just" latinLnBrk="0">
              <a:lnSpc>
                <a:spcPct val="150000"/>
              </a:lnSpc>
              <a:buFont typeface="나눔고딕" panose="020D0604000000000000" pitchFamily="50" charset="-127"/>
              <a:buChar char="‐"/>
            </a:pPr>
            <a:r>
              <a:rPr lang="en-US" altLang="ko-KR" sz="1600" dirty="0">
                <a:latin typeface="Times New Roman" panose="02020603050405020304" pitchFamily="18" charset="0"/>
                <a:ea typeface="나눔고딕" panose="020D0604000000000000" pitchFamily="50" charset="-127"/>
              </a:rPr>
              <a:t>In particular, rating prediction aims to quantitatively estimate user preference scores for specific items based on historical rating information (Khan et al., 2021). </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Since representation learning directly affects rating prediction, this study focuses on advancements in rating prediction through improvements in representation learning in recommender systems.</a:t>
            </a:r>
            <a:endParaRPr lang="en-US" altLang="ko-KR" sz="1600" dirty="0">
              <a:highlight>
                <a:srgbClr val="FFFF00"/>
              </a:highlight>
              <a:latin typeface="Times New Roman" panose="02020603050405020304" pitchFamily="18" charset="0"/>
              <a:ea typeface="나눔고딕" panose="020D0604000000000000" pitchFamily="50" charset="-127"/>
            </a:endParaRPr>
          </a:p>
        </p:txBody>
      </p:sp>
      <p:sp>
        <p:nvSpPr>
          <p:cNvPr id="7" name="TextBox 6">
            <a:extLst>
              <a:ext uri="{FF2B5EF4-FFF2-40B4-BE49-F238E27FC236}">
                <a16:creationId xmlns:a16="http://schemas.microsoft.com/office/drawing/2014/main" id="{84FAB106-1E1E-B59D-1F67-4939DD1BC3EA}"/>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2829967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579E1-C093-D1AE-5F37-E5DA28D0F554}"/>
            </a:ext>
          </a:extLst>
        </p:cNvPr>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35044055-E0C7-38B0-AD17-CA31CB22FA80}"/>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B72BCAA5-6C8A-3A08-A9A6-FEE3C38515F5}"/>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4</a:t>
            </a:fld>
            <a:endParaRPr lang="ko-KR" altLang="en-US" dirty="0"/>
          </a:p>
        </p:txBody>
      </p:sp>
      <p:pic>
        <p:nvPicPr>
          <p:cNvPr id="2" name="Picture 2" descr="경희대학교">
            <a:extLst>
              <a:ext uri="{FF2B5EF4-FFF2-40B4-BE49-F238E27FC236}">
                <a16:creationId xmlns:a16="http://schemas.microsoft.com/office/drawing/2014/main" id="{34F23A17-97D7-C5DD-7234-AA657F5C664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4A85F4B7-4602-B922-BE4F-1A6D7ABBDA0D}"/>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6" name="부제목 2">
            <a:extLst>
              <a:ext uri="{FF2B5EF4-FFF2-40B4-BE49-F238E27FC236}">
                <a16:creationId xmlns:a16="http://schemas.microsoft.com/office/drawing/2014/main" id="{C2DAEF30-0A4D-2F3C-B7A0-6B573DB4D0D0}"/>
              </a:ext>
            </a:extLst>
          </p:cNvPr>
          <p:cNvSpPr txBox="1">
            <a:spLocks/>
          </p:cNvSpPr>
          <p:nvPr/>
        </p:nvSpPr>
        <p:spPr>
          <a:xfrm>
            <a:off x="134142"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latinLnBrk="0">
              <a:lnSpc>
                <a:spcPct val="150000"/>
              </a:lnSpc>
            </a:pPr>
            <a:r>
              <a:rPr lang="en-US" altLang="ko-KR" sz="1800" b="1" kern="1000" spc="-10" dirty="0">
                <a:latin typeface="Times New Roman" panose="02020603050405020304" pitchFamily="18" charset="0"/>
                <a:ea typeface="나눔고딕" panose="020D0604000000000000" pitchFamily="50" charset="-127"/>
              </a:rPr>
              <a:t>To achieve personalized recommendation, various recommendation techniques have been proposed such as collaborative filtering (CF), content-based filtering (CBF) and </a:t>
            </a:r>
            <a:r>
              <a:rPr lang="en-US" altLang="ko-KR" sz="1800" b="1" kern="1000" spc="-10" dirty="0">
                <a:solidFill>
                  <a:srgbClr val="AD1D19"/>
                </a:solidFill>
                <a:latin typeface="Times New Roman" panose="02020603050405020304" pitchFamily="18" charset="0"/>
                <a:ea typeface="나눔고딕" panose="020D0604000000000000" pitchFamily="50" charset="-127"/>
              </a:rPr>
              <a:t>hybrid filtering.</a:t>
            </a:r>
            <a:r>
              <a:rPr lang="en-US" altLang="ko-KR" sz="1600" kern="1000" dirty="0">
                <a:solidFill>
                  <a:srgbClr val="AD1D19"/>
                </a:solidFill>
                <a:latin typeface="Times New Roman" panose="02020603050405020304" pitchFamily="18" charset="0"/>
                <a:ea typeface="나눔고딕" panose="020D0604000000000000" pitchFamily="50" charset="-127"/>
              </a:rPr>
              <a:t> </a:t>
            </a:r>
          </a:p>
          <a:p>
            <a:pPr lvl="1" algn="just" latinLnBrk="0">
              <a:lnSpc>
                <a:spcPct val="150000"/>
              </a:lnSpc>
              <a:buFont typeface="나눔고딕" panose="020D0604000000000000" pitchFamily="50" charset="-127"/>
              <a:buChar char="‐"/>
            </a:pPr>
            <a:r>
              <a:rPr lang="ko-KR" altLang="en-US" sz="1600" kern="1000" dirty="0">
                <a:latin typeface="Times New Roman" panose="02020603050405020304" pitchFamily="18" charset="0"/>
                <a:ea typeface="나눔고딕" panose="020D0604000000000000" pitchFamily="50" charset="-127"/>
              </a:rPr>
              <a:t>﻿</a:t>
            </a:r>
            <a:r>
              <a:rPr lang="en-US" altLang="ko-KR" sz="1600" kern="1000" dirty="0">
                <a:latin typeface="Times New Roman" panose="02020603050405020304" pitchFamily="18" charset="0"/>
                <a:ea typeface="나눔고딕" panose="020D0604000000000000" pitchFamily="50" charset="-127"/>
              </a:rPr>
              <a:t>Hybrid approaches </a:t>
            </a:r>
            <a:r>
              <a:rPr lang="en-US" altLang="ko-KR" sz="1600" u="sng" kern="1000" dirty="0">
                <a:latin typeface="Times New Roman" panose="02020603050405020304" pitchFamily="18" charset="0"/>
                <a:ea typeface="나눔고딕" panose="020D0604000000000000" pitchFamily="50" charset="-127"/>
              </a:rPr>
              <a:t>combine user-item interaction information with item attributes</a:t>
            </a:r>
            <a:r>
              <a:rPr lang="en-US" altLang="ko-KR" sz="1600" kern="1000" dirty="0">
                <a:latin typeface="Times New Roman" panose="02020603050405020304" pitchFamily="18" charset="0"/>
                <a:ea typeface="나눔고딕" panose="020D0604000000000000" pitchFamily="50" charset="-127"/>
              </a:rPr>
              <a:t>, </a:t>
            </a:r>
            <a:r>
              <a:rPr lang="en-US" altLang="ko-KR" sz="1600" u="sng" kern="1000" dirty="0">
                <a:latin typeface="Times New Roman" panose="02020603050405020304" pitchFamily="18" charset="0"/>
                <a:ea typeface="나눔고딕" panose="020D0604000000000000" pitchFamily="50" charset="-127"/>
              </a:rPr>
              <a:t>helping alleviate </a:t>
            </a:r>
            <a:r>
              <a:rPr lang="en-US" altLang="ko-KR" sz="1600" b="1" u="sng" kern="1000" dirty="0">
                <a:latin typeface="Times New Roman" panose="02020603050405020304" pitchFamily="18" charset="0"/>
                <a:ea typeface="나눔고딕" panose="020D0604000000000000" pitchFamily="50" charset="-127"/>
              </a:rPr>
              <a:t>data sparsity and cold-start problems</a:t>
            </a:r>
            <a:r>
              <a:rPr lang="en-US" altLang="ko-KR" sz="1600" b="1" kern="1000" dirty="0">
                <a:latin typeface="Times New Roman" panose="02020603050405020304" pitchFamily="18" charset="0"/>
                <a:ea typeface="나눔고딕" panose="020D0604000000000000" pitchFamily="50" charset="-127"/>
              </a:rPr>
              <a:t> </a:t>
            </a:r>
            <a:r>
              <a:rPr lang="en-US" altLang="ko-KR" sz="1600" kern="1000" dirty="0">
                <a:latin typeface="Times New Roman" panose="02020603050405020304" pitchFamily="18" charset="0"/>
                <a:ea typeface="나눔고딕" panose="020D0604000000000000" pitchFamily="50" charset="-127"/>
              </a:rPr>
              <a:t>(</a:t>
            </a:r>
            <a:r>
              <a:rPr lang="en-US" altLang="ko-KR" sz="1600" kern="1000" dirty="0" err="1">
                <a:latin typeface="Times New Roman" panose="02020603050405020304" pitchFamily="18" charset="0"/>
                <a:ea typeface="나눔고딕" panose="020D0604000000000000" pitchFamily="50" charset="-127"/>
              </a:rPr>
              <a:t>Alyari</a:t>
            </a:r>
            <a:r>
              <a:rPr lang="en-US" altLang="ko-KR" sz="1600" kern="1000" dirty="0">
                <a:latin typeface="Times New Roman" panose="02020603050405020304" pitchFamily="18" charset="0"/>
                <a:ea typeface="나눔고딕" panose="020D0604000000000000" pitchFamily="50" charset="-127"/>
              </a:rPr>
              <a:t> &amp; Jafari </a:t>
            </a:r>
            <a:r>
              <a:rPr lang="en-US" altLang="ko-KR" sz="1600" kern="1000" dirty="0" err="1">
                <a:latin typeface="Times New Roman" panose="02020603050405020304" pitchFamily="18" charset="0"/>
                <a:ea typeface="나눔고딕" panose="020D0604000000000000" pitchFamily="50" charset="-127"/>
              </a:rPr>
              <a:t>Navimipour</a:t>
            </a:r>
            <a:r>
              <a:rPr lang="en-US" altLang="ko-KR" sz="1600" kern="1000" dirty="0">
                <a:latin typeface="Times New Roman" panose="02020603050405020304" pitchFamily="18" charset="0"/>
                <a:ea typeface="나눔고딕" panose="020D0604000000000000" pitchFamily="50" charset="-127"/>
              </a:rPr>
              <a:t>, 2018).</a:t>
            </a:r>
          </a:p>
          <a:p>
            <a:pPr lvl="1" algn="just" latinLnBrk="0">
              <a:lnSpc>
                <a:spcPct val="150000"/>
              </a:lnSpc>
              <a:buFont typeface="나눔고딕" panose="020D0604000000000000" pitchFamily="50" charset="-127"/>
              <a:buChar char="‐"/>
            </a:pPr>
            <a:endParaRPr lang="en-US" altLang="ko-KR" sz="500" kern="1000" dirty="0">
              <a:latin typeface="Times New Roman" panose="02020603050405020304" pitchFamily="18" charset="0"/>
              <a:ea typeface="나눔고딕" panose="020D0604000000000000" pitchFamily="50" charset="-127"/>
            </a:endParaRPr>
          </a:p>
          <a:p>
            <a:pPr marL="285750" indent="-285750" algn="just" latinLnBrk="0">
              <a:lnSpc>
                <a:spcPct val="150000"/>
              </a:lnSpc>
            </a:pPr>
            <a:r>
              <a:rPr lang="ko-KR" altLang="en-US" sz="1800" b="1" kern="1000" spc="-10" dirty="0">
                <a:latin typeface="Times New Roman" panose="02020603050405020304" pitchFamily="18" charset="0"/>
                <a:ea typeface="나눔고딕" panose="020D0604000000000000" pitchFamily="50" charset="-127"/>
              </a:rPr>
              <a:t>﻿</a:t>
            </a:r>
            <a:r>
              <a:rPr lang="en-US" altLang="ko-KR" sz="1800" b="1" kern="1000" spc="-10" dirty="0">
                <a:latin typeface="Times New Roman" panose="02020603050405020304" pitchFamily="18" charset="0"/>
                <a:ea typeface="나눔고딕" panose="020D0604000000000000" pitchFamily="50" charset="-127"/>
              </a:rPr>
              <a:t>Recent recommendation studies have mainly focused on advancing model architectures and refining embedding representations.</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These approaches are effective for learning user-item relationships (Hasan et al., 2025). </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Despite the advantage stated above, they still have limitations in </a:t>
            </a:r>
            <a:r>
              <a:rPr lang="en-US" altLang="ko-KR" sz="1600" b="1" u="sng" kern="1000" dirty="0">
                <a:latin typeface="Times New Roman" panose="02020603050405020304" pitchFamily="18" charset="0"/>
                <a:ea typeface="나눔고딕" panose="020D0604000000000000" pitchFamily="50" charset="-127"/>
              </a:rPr>
              <a:t>integrating heterogeneous data into a unified and consistent </a:t>
            </a:r>
            <a:r>
              <a:rPr lang="en-US" altLang="ko-KR" sz="1600" b="1" u="sng" kern="1000" dirty="0">
                <a:solidFill>
                  <a:srgbClr val="AD1D19"/>
                </a:solidFill>
                <a:latin typeface="Times New Roman" panose="02020603050405020304" pitchFamily="18" charset="0"/>
                <a:ea typeface="나눔고딕" panose="020D0604000000000000" pitchFamily="50" charset="-127"/>
              </a:rPr>
              <a:t>semantic representation.</a:t>
            </a:r>
          </a:p>
        </p:txBody>
      </p:sp>
      <p:sp>
        <p:nvSpPr>
          <p:cNvPr id="9" name="부제목 2">
            <a:extLst>
              <a:ext uri="{FF2B5EF4-FFF2-40B4-BE49-F238E27FC236}">
                <a16:creationId xmlns:a16="http://schemas.microsoft.com/office/drawing/2014/main" id="{C44A408A-4258-5BAF-4881-5905476BAB52}"/>
              </a:ext>
            </a:extLst>
          </p:cNvPr>
          <p:cNvSpPr>
            <a:spLocks noGrp="1"/>
          </p:cNvSpPr>
          <p:nvPr>
            <p:ph type="subTitle" idx="1"/>
          </p:nvPr>
        </p:nvSpPr>
        <p:spPr>
          <a:xfrm>
            <a:off x="184848" y="171375"/>
            <a:ext cx="6264078" cy="392039"/>
          </a:xfrm>
        </p:spPr>
        <p:txBody>
          <a:bodyPr anchor="ctr">
            <a:norm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1. Introduction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sp>
        <p:nvSpPr>
          <p:cNvPr id="3" name="TextBox 2">
            <a:extLst>
              <a:ext uri="{FF2B5EF4-FFF2-40B4-BE49-F238E27FC236}">
                <a16:creationId xmlns:a16="http://schemas.microsoft.com/office/drawing/2014/main" id="{DF8E6690-0660-F227-D539-5574AF93D0A9}"/>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2118178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C3272-39AB-5831-58AD-E8C0B085CBE5}"/>
            </a:ext>
          </a:extLst>
        </p:cNvPr>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FDEDDA98-88D8-06AA-7E85-E15B88E62B27}"/>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79F7E784-C756-C1E2-09AB-A38874122606}"/>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5</a:t>
            </a:fld>
            <a:endParaRPr lang="ko-KR" altLang="en-US" dirty="0"/>
          </a:p>
        </p:txBody>
      </p:sp>
      <p:pic>
        <p:nvPicPr>
          <p:cNvPr id="2" name="Picture 2" descr="경희대학교">
            <a:extLst>
              <a:ext uri="{FF2B5EF4-FFF2-40B4-BE49-F238E27FC236}">
                <a16:creationId xmlns:a16="http://schemas.microsoft.com/office/drawing/2014/main" id="{98B87BA8-A3D7-4A3A-CC52-A64271D32A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3F61F601-8F12-A6DE-862F-01F413E50020}"/>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6" name="부제목 2">
            <a:extLst>
              <a:ext uri="{FF2B5EF4-FFF2-40B4-BE49-F238E27FC236}">
                <a16:creationId xmlns:a16="http://schemas.microsoft.com/office/drawing/2014/main" id="{229B70D3-A4AB-9ECC-1850-FA2A43431A79}"/>
              </a:ext>
            </a:extLst>
          </p:cNvPr>
          <p:cNvSpPr txBox="1">
            <a:spLocks/>
          </p:cNvSpPr>
          <p:nvPr/>
        </p:nvSpPr>
        <p:spPr>
          <a:xfrm>
            <a:off x="134142"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latinLnBrk="0">
              <a:lnSpc>
                <a:spcPct val="150000"/>
              </a:lnSpc>
            </a:pPr>
            <a:r>
              <a:rPr lang="en-US" altLang="ko-KR" sz="1800" b="1" kern="1000" dirty="0">
                <a:latin typeface="Times New Roman" panose="02020603050405020304" pitchFamily="18" charset="0"/>
                <a:ea typeface="나눔고딕" panose="020D0604000000000000" pitchFamily="50" charset="-127"/>
              </a:rPr>
              <a:t>In recent online environments, diverse types of data (user-generated reviews, item descriptions and attributes) are continuously generated.</a:t>
            </a:r>
          </a:p>
          <a:p>
            <a:pPr lvl="1" algn="just" latinLnBrk="0">
              <a:lnSpc>
                <a:spcPct val="150000"/>
              </a:lnSpc>
              <a:buFont typeface="나눔고딕" panose="020D0604000000000000" pitchFamily="50" charset="-127"/>
              <a:buChar char="‐"/>
            </a:pPr>
            <a:r>
              <a:rPr lang="en-US" altLang="ko-KR" sz="1600" dirty="0">
                <a:latin typeface="Times New Roman" panose="02020603050405020304" pitchFamily="18" charset="0"/>
                <a:ea typeface="나눔고딕" panose="020D0604000000000000" pitchFamily="50" charset="-127"/>
              </a:rPr>
              <a:t>These data are generally managed as </a:t>
            </a:r>
            <a:r>
              <a:rPr lang="en-US" altLang="ko-KR" sz="1600" b="1" u="sng" dirty="0">
                <a:solidFill>
                  <a:srgbClr val="AD1D19"/>
                </a:solidFill>
                <a:latin typeface="Times New Roman" panose="02020603050405020304" pitchFamily="18" charset="0"/>
                <a:ea typeface="나눔고딕" panose="020D0604000000000000" pitchFamily="50" charset="-127"/>
              </a:rPr>
              <a:t>tabular data </a:t>
            </a:r>
            <a:r>
              <a:rPr lang="en-US" altLang="ko-KR" sz="1600" b="1" u="sng" dirty="0">
                <a:latin typeface="Times New Roman" panose="02020603050405020304" pitchFamily="18" charset="0"/>
                <a:ea typeface="나눔고딕" panose="020D0604000000000000" pitchFamily="50" charset="-127"/>
              </a:rPr>
              <a:t>consisting of rows and columns</a:t>
            </a:r>
            <a:r>
              <a:rPr lang="en-US" altLang="ko-KR" sz="1600" dirty="0">
                <a:latin typeface="Times New Roman" panose="02020603050405020304" pitchFamily="18" charset="0"/>
                <a:ea typeface="나눔고딕" panose="020D0604000000000000" pitchFamily="50" charset="-127"/>
              </a:rPr>
              <a:t> to systematically store and efficiently process various attributes (Jiang et al., 2026).</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Existing recommendation studies mainly </a:t>
            </a:r>
            <a:r>
              <a:rPr lang="en-US" altLang="ko-KR" sz="1600" b="1" u="sng" kern="1000" dirty="0">
                <a:latin typeface="Times New Roman" panose="02020603050405020304" pitchFamily="18" charset="0"/>
                <a:ea typeface="나눔고딕" panose="020D0604000000000000" pitchFamily="50" charset="-127"/>
              </a:rPr>
              <a:t>embed each feature in columns independently</a:t>
            </a:r>
            <a:r>
              <a:rPr lang="en-US" altLang="ko-KR" sz="1600" b="1" kern="1000" dirty="0">
                <a:latin typeface="Times New Roman" panose="02020603050405020304" pitchFamily="18" charset="0"/>
                <a:ea typeface="나눔고딕" panose="020D0604000000000000" pitchFamily="50" charset="-127"/>
              </a:rPr>
              <a:t> </a:t>
            </a:r>
            <a:r>
              <a:rPr lang="en-US" altLang="ko-KR" sz="1600" kern="1000" dirty="0">
                <a:latin typeface="Times New Roman" panose="02020603050405020304" pitchFamily="18" charset="0"/>
                <a:ea typeface="나눔고딕" panose="020D0604000000000000" pitchFamily="50" charset="-127"/>
              </a:rPr>
              <a:t>and use them as inputs to recommendation models (Li et al., 2023).</a:t>
            </a:r>
          </a:p>
          <a:p>
            <a:pPr lvl="1" algn="just" latinLnBrk="0">
              <a:lnSpc>
                <a:spcPct val="150000"/>
              </a:lnSpc>
              <a:buFont typeface="나눔고딕" panose="020D0604000000000000" pitchFamily="50" charset="-127"/>
              <a:buChar char="‐"/>
            </a:pPr>
            <a:endParaRPr lang="en-US" altLang="ko-KR" sz="500" kern="1000" dirty="0">
              <a:latin typeface="Times New Roman" panose="02020603050405020304" pitchFamily="18" charset="0"/>
              <a:ea typeface="나눔고딕" panose="020D0604000000000000" pitchFamily="50" charset="-127"/>
            </a:endParaRPr>
          </a:p>
          <a:p>
            <a:pPr marL="285750" indent="-285750" algn="just" latinLnBrk="0">
              <a:lnSpc>
                <a:spcPct val="150000"/>
              </a:lnSpc>
            </a:pPr>
            <a:r>
              <a:rPr lang="en-US" altLang="ko-KR" sz="1800" b="1" kern="1000" dirty="0">
                <a:latin typeface="Times New Roman" panose="02020603050405020304" pitchFamily="18" charset="0"/>
                <a:ea typeface="나눔고딕" panose="020D0604000000000000" pitchFamily="50" charset="-127"/>
              </a:rPr>
              <a:t>Although </a:t>
            </a:r>
            <a:r>
              <a:rPr lang="en-US" altLang="ko-KR" sz="1800" b="1" kern="1000" dirty="0">
                <a:solidFill>
                  <a:srgbClr val="AD1D19"/>
                </a:solidFill>
                <a:latin typeface="Times New Roman" panose="02020603050405020304" pitchFamily="18" charset="0"/>
                <a:ea typeface="나눔고딕" panose="020D0604000000000000" pitchFamily="50" charset="-127"/>
              </a:rPr>
              <a:t>feature-wise</a:t>
            </a:r>
            <a:r>
              <a:rPr lang="en-US" altLang="ko-KR" sz="1800" b="1" kern="1000" dirty="0">
                <a:latin typeface="Times New Roman" panose="02020603050405020304" pitchFamily="18" charset="0"/>
                <a:ea typeface="나눔고딕" panose="020D0604000000000000" pitchFamily="50" charset="-127"/>
              </a:rPr>
              <a:t> representations are simple and computationally efficient, they may fail to sufficiently capture complex </a:t>
            </a:r>
            <a:r>
              <a:rPr lang="en-US" altLang="ko-KR" sz="1800" b="1" kern="1000" dirty="0">
                <a:solidFill>
                  <a:srgbClr val="AD1D19"/>
                </a:solidFill>
                <a:latin typeface="Times New Roman" panose="02020603050405020304" pitchFamily="18" charset="0"/>
                <a:ea typeface="나눔고딕" panose="020D0604000000000000" pitchFamily="50" charset="-127"/>
              </a:rPr>
              <a:t>contextual dependencies </a:t>
            </a:r>
            <a:r>
              <a:rPr lang="en-US" altLang="ko-KR" sz="1800" b="1" kern="1000" dirty="0">
                <a:latin typeface="Times New Roman" panose="02020603050405020304" pitchFamily="18" charset="0"/>
                <a:ea typeface="나눔고딕" panose="020D0604000000000000" pitchFamily="50" charset="-127"/>
              </a:rPr>
              <a:t>among heterogeneous data.</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Simply combining heterogeneous features makes it difficult to preserve semantic consistency and representation stability, which may negatively affect personalization and prediction accuracy (Cai et al., 2024).</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Furthermore, datasets collected from real-world industrial environments frequently contain </a:t>
            </a:r>
            <a:r>
              <a:rPr lang="en-US" altLang="ko-KR" sz="1600" b="1" kern="1000" dirty="0">
                <a:solidFill>
                  <a:srgbClr val="AD1D19"/>
                </a:solidFill>
                <a:latin typeface="Times New Roman" panose="02020603050405020304" pitchFamily="18" charset="0"/>
                <a:ea typeface="나눔고딕" panose="020D0604000000000000" pitchFamily="50" charset="-127"/>
              </a:rPr>
              <a:t>missing values</a:t>
            </a:r>
            <a:r>
              <a:rPr lang="en-US" altLang="ko-KR" sz="1600" kern="1000" dirty="0">
                <a:latin typeface="Times New Roman" panose="02020603050405020304" pitchFamily="18" charset="0"/>
                <a:ea typeface="나눔고딕" panose="020D0604000000000000" pitchFamily="50" charset="-127"/>
              </a:rPr>
              <a:t>, which </a:t>
            </a:r>
            <a:r>
              <a:rPr lang="en-US" altLang="ko-KR" sz="1600" u="sng" kern="1000" dirty="0">
                <a:latin typeface="Times New Roman" panose="02020603050405020304" pitchFamily="18" charset="0"/>
                <a:ea typeface="나눔고딕" panose="020D0604000000000000" pitchFamily="50" charset="-127"/>
              </a:rPr>
              <a:t>represent not only simple data omission but also </a:t>
            </a:r>
            <a:r>
              <a:rPr lang="en-US" altLang="ko-KR" sz="1600" b="1" u="sng" kern="1000" dirty="0">
                <a:solidFill>
                  <a:srgbClr val="AD1D19"/>
                </a:solidFill>
                <a:latin typeface="Times New Roman" panose="02020603050405020304" pitchFamily="18" charset="0"/>
                <a:ea typeface="나눔고딕" panose="020D0604000000000000" pitchFamily="50" charset="-127"/>
              </a:rPr>
              <a:t>incompleteness</a:t>
            </a:r>
            <a:r>
              <a:rPr lang="en-US" altLang="ko-KR" sz="1600" b="1" u="sng" kern="1000" dirty="0">
                <a:latin typeface="Times New Roman" panose="02020603050405020304" pitchFamily="18" charset="0"/>
                <a:ea typeface="나눔고딕" panose="020D0604000000000000" pitchFamily="50" charset="-127"/>
              </a:rPr>
              <a:t> in information representation</a:t>
            </a:r>
            <a:r>
              <a:rPr lang="en-US" altLang="ko-KR" sz="1600" b="1" kern="1000" dirty="0">
                <a:latin typeface="Times New Roman" panose="02020603050405020304" pitchFamily="18" charset="0"/>
                <a:ea typeface="나눔고딕" panose="020D0604000000000000" pitchFamily="50" charset="-127"/>
              </a:rPr>
              <a:t> </a:t>
            </a:r>
            <a:r>
              <a:rPr lang="en-US" altLang="ko-KR" sz="1600" kern="1000" dirty="0">
                <a:latin typeface="Times New Roman" panose="02020603050405020304" pitchFamily="18" charset="0"/>
                <a:ea typeface="나눔고딕" panose="020D0604000000000000" pitchFamily="50" charset="-127"/>
              </a:rPr>
              <a:t>(Zhou et al., 2024).</a:t>
            </a:r>
          </a:p>
          <a:p>
            <a:pPr marL="0" indent="0" algn="just" latinLnBrk="0">
              <a:lnSpc>
                <a:spcPct val="150000"/>
              </a:lnSpc>
              <a:buNone/>
            </a:pPr>
            <a:endParaRPr lang="en-US" altLang="ko-KR" sz="1600" dirty="0">
              <a:latin typeface="Times New Roman" panose="02020603050405020304" pitchFamily="18" charset="0"/>
              <a:ea typeface="나눔고딕" panose="020D0604000000000000" pitchFamily="50" charset="-127"/>
            </a:endParaRPr>
          </a:p>
        </p:txBody>
      </p:sp>
      <p:sp>
        <p:nvSpPr>
          <p:cNvPr id="11" name="부제목 2">
            <a:extLst>
              <a:ext uri="{FF2B5EF4-FFF2-40B4-BE49-F238E27FC236}">
                <a16:creationId xmlns:a16="http://schemas.microsoft.com/office/drawing/2014/main" id="{B9D6C460-44CE-8C7B-EDD7-FF6DA8F66C6B}"/>
              </a:ext>
            </a:extLst>
          </p:cNvPr>
          <p:cNvSpPr txBox="1">
            <a:spLocks/>
          </p:cNvSpPr>
          <p:nvPr/>
        </p:nvSpPr>
        <p:spPr>
          <a:xfrm>
            <a:off x="184848" y="171375"/>
            <a:ext cx="2325881" cy="392058"/>
          </a:xfrm>
          <a:prstGeom prst="rect">
            <a:avLst/>
          </a:prstGeom>
        </p:spPr>
        <p:txBody>
          <a:bodyPr vert="horz" lIns="91440" tIns="45720" rIns="91440" bIns="45720" rtlCol="0" anchor="ctr">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1. Introduction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sp>
        <p:nvSpPr>
          <p:cNvPr id="3" name="TextBox 2">
            <a:extLst>
              <a:ext uri="{FF2B5EF4-FFF2-40B4-BE49-F238E27FC236}">
                <a16:creationId xmlns:a16="http://schemas.microsoft.com/office/drawing/2014/main" id="{0CE7DD26-C61C-565B-4C7E-A41850C3DEAD}"/>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2327252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C3272-39AB-5831-58AD-E8C0B085CBE5}"/>
            </a:ext>
          </a:extLst>
        </p:cNvPr>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FDEDDA98-88D8-06AA-7E85-E15B88E62B27}"/>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79F7E784-C756-C1E2-09AB-A38874122606}"/>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6</a:t>
            </a:fld>
            <a:endParaRPr lang="ko-KR" altLang="en-US" dirty="0"/>
          </a:p>
        </p:txBody>
      </p:sp>
      <p:pic>
        <p:nvPicPr>
          <p:cNvPr id="2" name="Picture 2" descr="경희대학교">
            <a:extLst>
              <a:ext uri="{FF2B5EF4-FFF2-40B4-BE49-F238E27FC236}">
                <a16:creationId xmlns:a16="http://schemas.microsoft.com/office/drawing/2014/main" id="{98B87BA8-A3D7-4A3A-CC52-A64271D32A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3F61F601-8F12-A6DE-862F-01F413E50020}"/>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6" name="부제목 2">
            <a:extLst>
              <a:ext uri="{FF2B5EF4-FFF2-40B4-BE49-F238E27FC236}">
                <a16:creationId xmlns:a16="http://schemas.microsoft.com/office/drawing/2014/main" id="{229B70D3-A4AB-9ECC-1850-FA2A43431A79}"/>
              </a:ext>
            </a:extLst>
          </p:cNvPr>
          <p:cNvSpPr txBox="1">
            <a:spLocks/>
          </p:cNvSpPr>
          <p:nvPr/>
        </p:nvSpPr>
        <p:spPr>
          <a:xfrm>
            <a:off x="134142"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latinLnBrk="0">
              <a:lnSpc>
                <a:spcPct val="150000"/>
              </a:lnSpc>
            </a:pPr>
            <a:r>
              <a:rPr lang="en-US" altLang="ko-KR" sz="1800" b="1" kern="1000" dirty="0">
                <a:latin typeface="Times New Roman" panose="02020603050405020304" pitchFamily="18" charset="0"/>
                <a:ea typeface="나눔고딕" panose="020D0604000000000000" pitchFamily="50" charset="-127"/>
              </a:rPr>
              <a:t>Prior studies typically remove or replace missing values using statistical approaches, such as average imputation (Popovich 2025).</a:t>
            </a:r>
            <a:endParaRPr lang="en-US" altLang="ko-KR" sz="1600" kern="1000" dirty="0">
              <a:latin typeface="Times New Roman" panose="02020603050405020304" pitchFamily="18" charset="0"/>
              <a:ea typeface="나눔고딕" panose="020D0604000000000000" pitchFamily="50" charset="-127"/>
            </a:endParaRPr>
          </a:p>
          <a:p>
            <a:pPr lvl="1" algn="just" latinLnBrk="0">
              <a:lnSpc>
                <a:spcPct val="150000"/>
              </a:lnSpc>
              <a:buFont typeface="나눔고딕" panose="020D0604000000000000" pitchFamily="50" charset="-127"/>
              <a:buChar char="‐"/>
            </a:pPr>
            <a:r>
              <a:rPr lang="ko-KR" altLang="en-US" sz="1600" kern="1000" dirty="0">
                <a:latin typeface="Times New Roman" panose="02020603050405020304" pitchFamily="18" charset="0"/>
                <a:ea typeface="나눔고딕" panose="020D0604000000000000" pitchFamily="50" charset="-127"/>
              </a:rPr>
              <a:t>﻿</a:t>
            </a:r>
            <a:r>
              <a:rPr lang="en-US" altLang="ko-KR" sz="1600" kern="1000" dirty="0">
                <a:latin typeface="Times New Roman" panose="02020603050405020304" pitchFamily="18" charset="0"/>
                <a:ea typeface="나눔고딕" panose="020D0604000000000000" pitchFamily="50" charset="-127"/>
              </a:rPr>
              <a:t>Existing approaches mainly focus on </a:t>
            </a:r>
            <a:r>
              <a:rPr lang="en-US" altLang="ko-KR" sz="1600" b="1" kern="1000" dirty="0">
                <a:latin typeface="Times New Roman" panose="02020603050405020304" pitchFamily="18" charset="0"/>
                <a:ea typeface="나눔고딕" panose="020D0604000000000000" pitchFamily="50" charset="-127"/>
              </a:rPr>
              <a:t>learning from the given input data, making it difficult to </a:t>
            </a:r>
            <a:r>
              <a:rPr lang="en-US" altLang="ko-KR" sz="1600" b="1" u="sng" kern="1000" dirty="0">
                <a:latin typeface="Times New Roman" panose="02020603050405020304" pitchFamily="18" charset="0"/>
                <a:ea typeface="나눔고딕" panose="020D0604000000000000" pitchFamily="50" charset="-127"/>
              </a:rPr>
              <a:t>fundamentally resolve </a:t>
            </a:r>
            <a:r>
              <a:rPr lang="en-US" altLang="ko-KR" sz="1600" b="1" u="sng" kern="1000" dirty="0">
                <a:solidFill>
                  <a:srgbClr val="AD1D19"/>
                </a:solidFill>
                <a:latin typeface="Times New Roman" panose="02020603050405020304" pitchFamily="18" charset="0"/>
                <a:ea typeface="나눔고딕" panose="020D0604000000000000" pitchFamily="50" charset="-127"/>
              </a:rPr>
              <a:t>data incompleteness</a:t>
            </a:r>
            <a:r>
              <a:rPr lang="en-US" altLang="ko-KR" sz="1600" b="1" kern="1000" dirty="0">
                <a:solidFill>
                  <a:srgbClr val="AD1D19"/>
                </a:solidFill>
                <a:latin typeface="Times New Roman" panose="02020603050405020304" pitchFamily="18" charset="0"/>
                <a:ea typeface="나눔고딕" panose="020D0604000000000000" pitchFamily="50" charset="-127"/>
              </a:rPr>
              <a:t> </a:t>
            </a:r>
            <a:r>
              <a:rPr lang="en-US" altLang="ko-KR" sz="1600" kern="1000" dirty="0">
                <a:latin typeface="Times New Roman" panose="02020603050405020304" pitchFamily="18" charset="0"/>
                <a:ea typeface="나눔고딕" panose="020D0604000000000000" pitchFamily="50" charset="-127"/>
              </a:rPr>
              <a:t>(Wani 2024).</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Therefore, there is an increasing need for approaches that can semantically understand and represent heterogeneous data.</a:t>
            </a:r>
            <a:endParaRPr lang="en-US" altLang="ko-KR" sz="500" kern="1000" dirty="0">
              <a:latin typeface="Times New Roman" panose="02020603050405020304" pitchFamily="18" charset="0"/>
              <a:ea typeface="나눔고딕" panose="020D0604000000000000" pitchFamily="50" charset="-127"/>
            </a:endParaRPr>
          </a:p>
          <a:p>
            <a:pPr marL="285750" indent="-285750" algn="just" latinLnBrk="0">
              <a:lnSpc>
                <a:spcPct val="150000"/>
              </a:lnSpc>
            </a:pPr>
            <a:endParaRPr lang="en-US" altLang="ko-KR" sz="1600" dirty="0">
              <a:latin typeface="Times New Roman" panose="02020603050405020304" pitchFamily="18" charset="0"/>
              <a:ea typeface="나눔고딕" panose="020D0604000000000000" pitchFamily="50" charset="-127"/>
            </a:endParaRPr>
          </a:p>
        </p:txBody>
      </p:sp>
      <p:sp>
        <p:nvSpPr>
          <p:cNvPr id="11" name="부제목 2">
            <a:extLst>
              <a:ext uri="{FF2B5EF4-FFF2-40B4-BE49-F238E27FC236}">
                <a16:creationId xmlns:a16="http://schemas.microsoft.com/office/drawing/2014/main" id="{B9D6C460-44CE-8C7B-EDD7-FF6DA8F66C6B}"/>
              </a:ext>
            </a:extLst>
          </p:cNvPr>
          <p:cNvSpPr txBox="1">
            <a:spLocks/>
          </p:cNvSpPr>
          <p:nvPr/>
        </p:nvSpPr>
        <p:spPr>
          <a:xfrm>
            <a:off x="184848" y="171375"/>
            <a:ext cx="2325881" cy="392058"/>
          </a:xfrm>
          <a:prstGeom prst="rect">
            <a:avLst/>
          </a:prstGeom>
        </p:spPr>
        <p:txBody>
          <a:bodyPr vert="horz" lIns="91440" tIns="45720" rIns="91440" bIns="45720" rtlCol="0" anchor="ctr">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1. Introduction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graphicFrame>
        <p:nvGraphicFramePr>
          <p:cNvPr id="3" name="표 2">
            <a:extLst>
              <a:ext uri="{FF2B5EF4-FFF2-40B4-BE49-F238E27FC236}">
                <a16:creationId xmlns:a16="http://schemas.microsoft.com/office/drawing/2014/main" id="{BB1BEC44-2EA9-ABB1-F291-09D4F67A5372}"/>
              </a:ext>
            </a:extLst>
          </p:cNvPr>
          <p:cNvGraphicFramePr>
            <a:graphicFrameLocks noGrp="1"/>
          </p:cNvGraphicFramePr>
          <p:nvPr>
            <p:extLst>
              <p:ext uri="{D42A27DB-BD31-4B8C-83A1-F6EECF244321}">
                <p14:modId xmlns:p14="http://schemas.microsoft.com/office/powerpoint/2010/main" val="1721824456"/>
              </p:ext>
            </p:extLst>
          </p:nvPr>
        </p:nvGraphicFramePr>
        <p:xfrm>
          <a:off x="453511" y="3339327"/>
          <a:ext cx="11275146" cy="1873099"/>
        </p:xfrm>
        <a:graphic>
          <a:graphicData uri="http://schemas.openxmlformats.org/drawingml/2006/table">
            <a:tbl>
              <a:tblPr firstRow="1" bandRow="1">
                <a:tableStyleId>{5C22544A-7EE6-4342-B048-85BDC9FD1C3A}</a:tableStyleId>
              </a:tblPr>
              <a:tblGrid>
                <a:gridCol w="1252794">
                  <a:extLst>
                    <a:ext uri="{9D8B030D-6E8A-4147-A177-3AD203B41FA5}">
                      <a16:colId xmlns:a16="http://schemas.microsoft.com/office/drawing/2014/main" val="1909896052"/>
                    </a:ext>
                  </a:extLst>
                </a:gridCol>
                <a:gridCol w="1252794">
                  <a:extLst>
                    <a:ext uri="{9D8B030D-6E8A-4147-A177-3AD203B41FA5}">
                      <a16:colId xmlns:a16="http://schemas.microsoft.com/office/drawing/2014/main" val="1091939760"/>
                    </a:ext>
                  </a:extLst>
                </a:gridCol>
                <a:gridCol w="1252794">
                  <a:extLst>
                    <a:ext uri="{9D8B030D-6E8A-4147-A177-3AD203B41FA5}">
                      <a16:colId xmlns:a16="http://schemas.microsoft.com/office/drawing/2014/main" val="3977993908"/>
                    </a:ext>
                  </a:extLst>
                </a:gridCol>
                <a:gridCol w="1252794">
                  <a:extLst>
                    <a:ext uri="{9D8B030D-6E8A-4147-A177-3AD203B41FA5}">
                      <a16:colId xmlns:a16="http://schemas.microsoft.com/office/drawing/2014/main" val="2790708379"/>
                    </a:ext>
                  </a:extLst>
                </a:gridCol>
                <a:gridCol w="1252794">
                  <a:extLst>
                    <a:ext uri="{9D8B030D-6E8A-4147-A177-3AD203B41FA5}">
                      <a16:colId xmlns:a16="http://schemas.microsoft.com/office/drawing/2014/main" val="2293862492"/>
                    </a:ext>
                  </a:extLst>
                </a:gridCol>
                <a:gridCol w="1252794">
                  <a:extLst>
                    <a:ext uri="{9D8B030D-6E8A-4147-A177-3AD203B41FA5}">
                      <a16:colId xmlns:a16="http://schemas.microsoft.com/office/drawing/2014/main" val="3958150951"/>
                    </a:ext>
                  </a:extLst>
                </a:gridCol>
                <a:gridCol w="1252794">
                  <a:extLst>
                    <a:ext uri="{9D8B030D-6E8A-4147-A177-3AD203B41FA5}">
                      <a16:colId xmlns:a16="http://schemas.microsoft.com/office/drawing/2014/main" val="1143124752"/>
                    </a:ext>
                  </a:extLst>
                </a:gridCol>
                <a:gridCol w="1252794">
                  <a:extLst>
                    <a:ext uri="{9D8B030D-6E8A-4147-A177-3AD203B41FA5}">
                      <a16:colId xmlns:a16="http://schemas.microsoft.com/office/drawing/2014/main" val="3146872699"/>
                    </a:ext>
                  </a:extLst>
                </a:gridCol>
                <a:gridCol w="1252794">
                  <a:extLst>
                    <a:ext uri="{9D8B030D-6E8A-4147-A177-3AD203B41FA5}">
                      <a16:colId xmlns:a16="http://schemas.microsoft.com/office/drawing/2014/main" val="1557950956"/>
                    </a:ext>
                  </a:extLst>
                </a:gridCol>
              </a:tblGrid>
              <a:tr h="258697">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Title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Average_rating</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Rating_number</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Features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Description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Price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Store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Details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font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Parent_asin</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2292436187"/>
                  </a:ext>
                </a:extLst>
              </a:tr>
              <a:tr h="426201">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Dash 8-300</a:t>
                      </a: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5.0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[Features Dash...</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[The Dash 8-300 Professional...</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None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AAA8"/>
                    </a:solidFill>
                  </a:tcPr>
                </a:tc>
                <a:tc>
                  <a:txBody>
                    <a:bodyPr/>
                    <a:lstStyle/>
                    <a:p>
                      <a:pPr 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Aerosoft</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{'Pricing': 'The strikethrough ...</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900" kern="1200" dirty="0">
                          <a:solidFill>
                            <a:schemeClr val="tx1"/>
                          </a:solidFill>
                          <a:effectLst/>
                          <a:latin typeface="Times New Roman" panose="02020603050405020304" pitchFamily="18" charset="0"/>
                          <a:ea typeface="+mn-ea"/>
                          <a:cs typeface="Times New Roman" panose="02020603050405020304" pitchFamily="18" charset="0"/>
                        </a:rPr>
                        <a:t>B000FH0MHO</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extLst>
                  <a:ext uri="{0D108BD9-81ED-4DB2-BD59-A6C34878D82A}">
                    <a16:rowId xmlns:a16="http://schemas.microsoft.com/office/drawing/2014/main" val="2216575431"/>
                  </a:ext>
                </a:extLst>
              </a:tr>
              <a:tr h="304429">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Phantasmagoria</a:t>
                      </a: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4.1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altLang="ko-KR" sz="1000" kern="1200">
                          <a:solidFill>
                            <a:schemeClr val="tx1"/>
                          </a:solidFill>
                          <a:effectLst/>
                          <a:latin typeface="Times New Roman" panose="02020603050405020304" pitchFamily="18" charset="0"/>
                          <a:ea typeface="+mn-ea"/>
                          <a:cs typeface="Times New Roman" panose="02020603050405020304" pitchFamily="18" charset="0"/>
                        </a:rPr>
                        <a:t>18</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[Windows 95]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AAA8"/>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None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AAA8"/>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Sierra</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{'Best Sellers Rank': {'Video Games...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900" kern="1200" dirty="0">
                          <a:solidFill>
                            <a:schemeClr val="tx1"/>
                          </a:solidFill>
                          <a:effectLst/>
                          <a:latin typeface="Times New Roman" panose="02020603050405020304" pitchFamily="18" charset="0"/>
                          <a:ea typeface="+mn-ea"/>
                          <a:cs typeface="Times New Roman" panose="02020603050405020304" pitchFamily="18" charset="0"/>
                        </a:rPr>
                        <a:t>B00069EVOG</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extLst>
                  <a:ext uri="{0D108BD9-81ED-4DB2-BD59-A6C34878D82A}">
                    <a16:rowId xmlns:a16="http://schemas.microsoft.com/office/drawing/2014/main" val="265563996"/>
                  </a:ext>
                </a:extLst>
              </a:tr>
              <a:tr h="316709">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NBA 2K17</a:t>
                      </a: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4.3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223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[The #1 rated...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[Following the record-breaking...</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58.0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2K</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{'Release date': 'September 16, 2016...</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kern="1200" dirty="0">
                          <a:solidFill>
                            <a:schemeClr val="tx1"/>
                          </a:solidFill>
                          <a:effectLst/>
                          <a:latin typeface="Times New Roman" panose="02020603050405020304" pitchFamily="18" charset="0"/>
                          <a:ea typeface="+mn-ea"/>
                          <a:cs typeface="Times New Roman" panose="02020603050405020304" pitchFamily="18" charset="0"/>
                        </a:rPr>
                        <a:t>B00Z9TLVK0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115303"/>
                  </a:ext>
                </a:extLst>
              </a:tr>
              <a:tr h="426201">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Nintendo Selects</a:t>
                      </a: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4.9</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22</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[Authentic Nintendo...</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AAA8"/>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37.42</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Amazon Renewed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{'Best Sellers Rank': ...</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tc>
                  <a:txBody>
                    <a:bodyPr/>
                    <a:lstStyle/>
                    <a:p>
                      <a:pPr algn="ctr"/>
                      <a:r>
                        <a:rPr lang="en-US" sz="900" kern="1200" dirty="0">
                          <a:solidFill>
                            <a:schemeClr val="tx1"/>
                          </a:solidFill>
                          <a:effectLst/>
                          <a:latin typeface="Times New Roman" panose="02020603050405020304" pitchFamily="18" charset="0"/>
                          <a:ea typeface="+mn-ea"/>
                          <a:cs typeface="Times New Roman" panose="02020603050405020304" pitchFamily="18" charset="0"/>
                        </a:rPr>
                        <a:t>B07SZJZV88</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8D7"/>
                    </a:solidFill>
                  </a:tcPr>
                </a:tc>
                <a:extLst>
                  <a:ext uri="{0D108BD9-81ED-4DB2-BD59-A6C34878D82A}">
                    <a16:rowId xmlns:a16="http://schemas.microsoft.com/office/drawing/2014/main" val="3661249613"/>
                  </a:ext>
                </a:extLst>
              </a:tr>
            </a:tbl>
          </a:graphicData>
        </a:graphic>
      </p:graphicFrame>
      <p:sp>
        <p:nvSpPr>
          <p:cNvPr id="7" name="화살표: 아래쪽 6">
            <a:extLst>
              <a:ext uri="{FF2B5EF4-FFF2-40B4-BE49-F238E27FC236}">
                <a16:creationId xmlns:a16="http://schemas.microsoft.com/office/drawing/2014/main" id="{479B082C-9507-4D7A-24CD-FF0B2A4AC204}"/>
              </a:ext>
            </a:extLst>
          </p:cNvPr>
          <p:cNvSpPr/>
          <p:nvPr/>
        </p:nvSpPr>
        <p:spPr>
          <a:xfrm>
            <a:off x="5895521" y="5255457"/>
            <a:ext cx="345259" cy="262413"/>
          </a:xfrm>
          <a:prstGeom prst="downArrow">
            <a:avLst>
              <a:gd name="adj1" fmla="val 42169"/>
              <a:gd name="adj2" fmla="val 41206"/>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8" name="표 7">
            <a:extLst>
              <a:ext uri="{FF2B5EF4-FFF2-40B4-BE49-F238E27FC236}">
                <a16:creationId xmlns:a16="http://schemas.microsoft.com/office/drawing/2014/main" id="{A8E00D3A-DA0A-3217-8A5F-D3F51C990E88}"/>
              </a:ext>
            </a:extLst>
          </p:cNvPr>
          <p:cNvGraphicFramePr>
            <a:graphicFrameLocks noGrp="1"/>
          </p:cNvGraphicFramePr>
          <p:nvPr>
            <p:extLst>
              <p:ext uri="{D42A27DB-BD31-4B8C-83A1-F6EECF244321}">
                <p14:modId xmlns:p14="http://schemas.microsoft.com/office/powerpoint/2010/main" val="602106403"/>
              </p:ext>
            </p:extLst>
          </p:nvPr>
        </p:nvGraphicFramePr>
        <p:xfrm>
          <a:off x="453511" y="5612899"/>
          <a:ext cx="11275146" cy="639697"/>
        </p:xfrm>
        <a:graphic>
          <a:graphicData uri="http://schemas.openxmlformats.org/drawingml/2006/table">
            <a:tbl>
              <a:tblPr firstRow="1" bandRow="1">
                <a:tableStyleId>{5C22544A-7EE6-4342-B048-85BDC9FD1C3A}</a:tableStyleId>
              </a:tblPr>
              <a:tblGrid>
                <a:gridCol w="1252794">
                  <a:extLst>
                    <a:ext uri="{9D8B030D-6E8A-4147-A177-3AD203B41FA5}">
                      <a16:colId xmlns:a16="http://schemas.microsoft.com/office/drawing/2014/main" val="1909896052"/>
                    </a:ext>
                  </a:extLst>
                </a:gridCol>
                <a:gridCol w="1252794">
                  <a:extLst>
                    <a:ext uri="{9D8B030D-6E8A-4147-A177-3AD203B41FA5}">
                      <a16:colId xmlns:a16="http://schemas.microsoft.com/office/drawing/2014/main" val="1091939760"/>
                    </a:ext>
                  </a:extLst>
                </a:gridCol>
                <a:gridCol w="1252794">
                  <a:extLst>
                    <a:ext uri="{9D8B030D-6E8A-4147-A177-3AD203B41FA5}">
                      <a16:colId xmlns:a16="http://schemas.microsoft.com/office/drawing/2014/main" val="3977993908"/>
                    </a:ext>
                  </a:extLst>
                </a:gridCol>
                <a:gridCol w="1252794">
                  <a:extLst>
                    <a:ext uri="{9D8B030D-6E8A-4147-A177-3AD203B41FA5}">
                      <a16:colId xmlns:a16="http://schemas.microsoft.com/office/drawing/2014/main" val="2790708379"/>
                    </a:ext>
                  </a:extLst>
                </a:gridCol>
                <a:gridCol w="1252794">
                  <a:extLst>
                    <a:ext uri="{9D8B030D-6E8A-4147-A177-3AD203B41FA5}">
                      <a16:colId xmlns:a16="http://schemas.microsoft.com/office/drawing/2014/main" val="2293862492"/>
                    </a:ext>
                  </a:extLst>
                </a:gridCol>
                <a:gridCol w="1252794">
                  <a:extLst>
                    <a:ext uri="{9D8B030D-6E8A-4147-A177-3AD203B41FA5}">
                      <a16:colId xmlns:a16="http://schemas.microsoft.com/office/drawing/2014/main" val="3958150951"/>
                    </a:ext>
                  </a:extLst>
                </a:gridCol>
                <a:gridCol w="1252794">
                  <a:extLst>
                    <a:ext uri="{9D8B030D-6E8A-4147-A177-3AD203B41FA5}">
                      <a16:colId xmlns:a16="http://schemas.microsoft.com/office/drawing/2014/main" val="1143124752"/>
                    </a:ext>
                  </a:extLst>
                </a:gridCol>
                <a:gridCol w="1252794">
                  <a:extLst>
                    <a:ext uri="{9D8B030D-6E8A-4147-A177-3AD203B41FA5}">
                      <a16:colId xmlns:a16="http://schemas.microsoft.com/office/drawing/2014/main" val="3146872699"/>
                    </a:ext>
                  </a:extLst>
                </a:gridCol>
                <a:gridCol w="1252794">
                  <a:extLst>
                    <a:ext uri="{9D8B030D-6E8A-4147-A177-3AD203B41FA5}">
                      <a16:colId xmlns:a16="http://schemas.microsoft.com/office/drawing/2014/main" val="1557950956"/>
                    </a:ext>
                  </a:extLst>
                </a:gridCol>
              </a:tblGrid>
              <a:tr h="258697">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Title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Average_rating</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Rating_number</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Features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Description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Price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Store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Details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font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Parent_asin</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2292436187"/>
                  </a:ext>
                </a:extLst>
              </a:tr>
              <a:tr h="316709">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NBA 2K17</a:t>
                      </a: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4.3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a:solidFill>
                            <a:schemeClr val="tx1"/>
                          </a:solidFill>
                          <a:effectLst/>
                          <a:latin typeface="Times New Roman" panose="02020603050405020304" pitchFamily="18" charset="0"/>
                          <a:ea typeface="+mn-ea"/>
                          <a:cs typeface="Times New Roman" panose="02020603050405020304" pitchFamily="18" charset="0"/>
                        </a:rPr>
                        <a:t>223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[The #1 rated...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[Following the record-breaking...</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58.0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2K</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{'Release date': 'September 16, 2016...</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kern="1200" dirty="0">
                          <a:solidFill>
                            <a:schemeClr val="tx1"/>
                          </a:solidFill>
                          <a:effectLst/>
                          <a:latin typeface="Times New Roman" panose="02020603050405020304" pitchFamily="18" charset="0"/>
                          <a:ea typeface="+mn-ea"/>
                          <a:cs typeface="Times New Roman" panose="02020603050405020304" pitchFamily="18" charset="0"/>
                        </a:rPr>
                        <a:t>B00Z9TLVK0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115303"/>
                  </a:ext>
                </a:extLst>
              </a:tr>
            </a:tbl>
          </a:graphicData>
        </a:graphic>
      </p:graphicFrame>
      <p:sp>
        <p:nvSpPr>
          <p:cNvPr id="9" name="TextBox 8">
            <a:extLst>
              <a:ext uri="{FF2B5EF4-FFF2-40B4-BE49-F238E27FC236}">
                <a16:creationId xmlns:a16="http://schemas.microsoft.com/office/drawing/2014/main" id="{29BB6023-6B33-9DCD-615E-64090DA9FA38}"/>
              </a:ext>
            </a:extLst>
          </p:cNvPr>
          <p:cNvSpPr txBox="1"/>
          <p:nvPr/>
        </p:nvSpPr>
        <p:spPr>
          <a:xfrm>
            <a:off x="3082300" y="2951340"/>
            <a:ext cx="5971699"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Table 1. Comparison of Datasets Before and After Missing Value Processing</a:t>
            </a:r>
            <a:endParaRPr lang="ko-KR" altLang="en-US" sz="1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058F919-9C21-BDC9-AB70-9DEEFFA752CC}"/>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2670931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3A70-2C69-D844-8148-805758C71865}"/>
            </a:ext>
          </a:extLst>
        </p:cNvPr>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B5539681-3D48-E5FA-6405-4DBCFB0F679B}"/>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62EE9F62-3AEC-16ED-7153-FBC21E5B4D2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7</a:t>
            </a:fld>
            <a:endParaRPr lang="ko-KR" altLang="en-US" dirty="0"/>
          </a:p>
        </p:txBody>
      </p:sp>
      <p:pic>
        <p:nvPicPr>
          <p:cNvPr id="2" name="Picture 2" descr="경희대학교">
            <a:extLst>
              <a:ext uri="{FF2B5EF4-FFF2-40B4-BE49-F238E27FC236}">
                <a16:creationId xmlns:a16="http://schemas.microsoft.com/office/drawing/2014/main" id="{0B21829F-F6A5-AF72-D1F4-211F81E82B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ADB6C961-6275-47D0-ED1C-BE43A544C6FD}"/>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6" name="부제목 2">
            <a:extLst>
              <a:ext uri="{FF2B5EF4-FFF2-40B4-BE49-F238E27FC236}">
                <a16:creationId xmlns:a16="http://schemas.microsoft.com/office/drawing/2014/main" id="{F5E93E29-B8DA-75AA-EE0B-CCD3EC117970}"/>
              </a:ext>
            </a:extLst>
          </p:cNvPr>
          <p:cNvSpPr txBox="1">
            <a:spLocks/>
          </p:cNvSpPr>
          <p:nvPr/>
        </p:nvSpPr>
        <p:spPr>
          <a:xfrm>
            <a:off x="134142"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latinLnBrk="0">
              <a:lnSpc>
                <a:spcPct val="150000"/>
              </a:lnSpc>
            </a:pPr>
            <a:r>
              <a:rPr lang="en-US" altLang="ko-KR" sz="1800" b="1" kern="1000" dirty="0">
                <a:latin typeface="Times New Roman" panose="02020603050405020304" pitchFamily="18" charset="0"/>
                <a:ea typeface="나눔고딕" panose="020D0604000000000000" pitchFamily="50" charset="-127"/>
              </a:rPr>
              <a:t>In this context, Large Language Models(LLMs), which can contextually understand and represent diverse data types, have emerged as an effective solution (Lin et al., 2025).</a:t>
            </a:r>
          </a:p>
          <a:p>
            <a:pPr lvl="1" algn="just" latinLnBrk="0">
              <a:lnSpc>
                <a:spcPct val="150000"/>
              </a:lnSpc>
              <a:buFont typeface="나눔고딕" panose="020D0604000000000000" pitchFamily="50" charset="-127"/>
              <a:buChar char="‐"/>
            </a:pPr>
            <a:r>
              <a:rPr lang="ko-KR" altLang="en-US" sz="1600" kern="1000" dirty="0">
                <a:latin typeface="Times New Roman" panose="02020603050405020304" pitchFamily="18" charset="0"/>
                <a:ea typeface="나눔고딕" panose="020D0604000000000000" pitchFamily="50" charset="-127"/>
              </a:rPr>
              <a:t>﻿</a:t>
            </a:r>
            <a:r>
              <a:rPr lang="en-US" altLang="ko-KR" sz="1600" kern="1000" dirty="0">
                <a:latin typeface="Times New Roman" panose="02020603050405020304" pitchFamily="18" charset="0"/>
                <a:ea typeface="나눔고딕" panose="020D0604000000000000" pitchFamily="50" charset="-127"/>
              </a:rPr>
              <a:t>Transformer-based self-attention mechanisms enable LLMs to </a:t>
            </a:r>
            <a:r>
              <a:rPr lang="en-US" altLang="ko-KR" sz="1600" b="1" kern="1000" dirty="0">
                <a:latin typeface="Times New Roman" panose="02020603050405020304" pitchFamily="18" charset="0"/>
                <a:ea typeface="나눔고딕" panose="020D0604000000000000" pitchFamily="50" charset="-127"/>
              </a:rPr>
              <a:t>model relationships among input components by considering the entire input context.</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LLMs also internalize conceptual knowledge through large-scale pretraining (</a:t>
            </a:r>
            <a:r>
              <a:rPr lang="en-US" altLang="ko-KR" sz="1600" kern="1000" dirty="0" err="1">
                <a:latin typeface="Times New Roman" panose="02020603050405020304" pitchFamily="18" charset="0"/>
                <a:ea typeface="나눔고딕" panose="020D0604000000000000" pitchFamily="50" charset="-127"/>
              </a:rPr>
              <a:t>Minaee</a:t>
            </a:r>
            <a:r>
              <a:rPr lang="en-US" altLang="ko-KR" sz="1600" kern="1000" dirty="0">
                <a:latin typeface="Times New Roman" panose="02020603050405020304" pitchFamily="18" charset="0"/>
                <a:ea typeface="나눔고딕" panose="020D0604000000000000" pitchFamily="50" charset="-127"/>
              </a:rPr>
              <a:t> et al., 2024).</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Unlike independent feature-wise processing approaches, </a:t>
            </a:r>
            <a:r>
              <a:rPr lang="en-US" altLang="ko-KR" sz="1600" b="1" kern="1000" dirty="0">
                <a:latin typeface="Times New Roman" panose="02020603050405020304" pitchFamily="18" charset="0"/>
                <a:ea typeface="나눔고딕" panose="020D0604000000000000" pitchFamily="50" charset="-127"/>
              </a:rPr>
              <a:t>these characteristics enable heterogeneous attributes to be interpreted within </a:t>
            </a:r>
            <a:r>
              <a:rPr lang="en-US" altLang="ko-KR" sz="1600" b="1" kern="1000" dirty="0">
                <a:solidFill>
                  <a:srgbClr val="AD1D19"/>
                </a:solidFill>
                <a:latin typeface="Times New Roman" panose="02020603050405020304" pitchFamily="18" charset="0"/>
                <a:ea typeface="나눔고딕" panose="020D0604000000000000" pitchFamily="50" charset="-127"/>
              </a:rPr>
              <a:t>a unified semantic context </a:t>
            </a:r>
            <a:r>
              <a:rPr lang="en-US" altLang="ko-KR" sz="1600" kern="1000" dirty="0">
                <a:latin typeface="Times New Roman" panose="02020603050405020304" pitchFamily="18" charset="0"/>
                <a:ea typeface="나눔고딕" panose="020D0604000000000000" pitchFamily="50" charset="-127"/>
              </a:rPr>
              <a:t>(Yadav et al., 2024).</a:t>
            </a:r>
          </a:p>
          <a:p>
            <a:pPr lvl="1" algn="just" latinLnBrk="0">
              <a:lnSpc>
                <a:spcPct val="150000"/>
              </a:lnSpc>
              <a:buFont typeface="나눔고딕" panose="020D0604000000000000" pitchFamily="50" charset="-127"/>
              <a:buChar char="‐"/>
            </a:pPr>
            <a:endParaRPr lang="en-US" altLang="ko-KR" sz="500" kern="1000" dirty="0">
              <a:latin typeface="Times New Roman" panose="02020603050405020304" pitchFamily="18" charset="0"/>
              <a:ea typeface="나눔고딕" panose="020D0604000000000000" pitchFamily="50" charset="-127"/>
            </a:endParaRPr>
          </a:p>
          <a:p>
            <a:pPr marL="285750" indent="-285750" algn="just" latinLnBrk="0">
              <a:lnSpc>
                <a:spcPct val="150000"/>
              </a:lnSpc>
            </a:pPr>
            <a:r>
              <a:rPr lang="en-US" altLang="ko-KR" sz="1800" b="1" kern="1000" dirty="0">
                <a:latin typeface="Times New Roman" panose="02020603050405020304" pitchFamily="18" charset="0"/>
                <a:ea typeface="나눔고딕" panose="020D0604000000000000" pitchFamily="50" charset="-127"/>
              </a:rPr>
              <a:t>In particular, LLM-based serialization approaches have recently attracted attention as a method for </a:t>
            </a:r>
            <a:r>
              <a:rPr lang="en-US" altLang="ko-KR" sz="1800" b="1" kern="1000" dirty="0">
                <a:solidFill>
                  <a:srgbClr val="AD1D19"/>
                </a:solidFill>
                <a:latin typeface="Times New Roman" panose="02020603050405020304" pitchFamily="18" charset="0"/>
                <a:ea typeface="나눔고딕" panose="020D0604000000000000" pitchFamily="50" charset="-127"/>
              </a:rPr>
              <a:t>representing attribute values as semantic units </a:t>
            </a:r>
            <a:r>
              <a:rPr lang="en-US" altLang="ko-KR" sz="1800" b="1" kern="1000" dirty="0">
                <a:latin typeface="Times New Roman" panose="02020603050405020304" pitchFamily="18" charset="0"/>
                <a:ea typeface="나눔고딕" panose="020D0604000000000000" pitchFamily="50" charset="-127"/>
              </a:rPr>
              <a:t>rather than simple numerical or categorical values (Sui et al., 2024).</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Serialization refers to the </a:t>
            </a:r>
            <a:r>
              <a:rPr lang="en-US" altLang="ko-KR" sz="1600" b="1" u="sng" kern="1000" dirty="0">
                <a:latin typeface="Times New Roman" panose="02020603050405020304" pitchFamily="18" charset="0"/>
                <a:ea typeface="나눔고딕" panose="020D0604000000000000" pitchFamily="50" charset="-127"/>
              </a:rPr>
              <a:t>process of converting structured tabular data into semantic units</a:t>
            </a:r>
            <a:r>
              <a:rPr lang="en-US" altLang="ko-KR" sz="1600" b="1" kern="1000" dirty="0">
                <a:latin typeface="Times New Roman" panose="02020603050405020304" pitchFamily="18" charset="0"/>
                <a:ea typeface="나눔고딕" panose="020D0604000000000000" pitchFamily="50" charset="-127"/>
              </a:rPr>
              <a:t>.</a:t>
            </a:r>
          </a:p>
          <a:p>
            <a:pPr lvl="1" algn="just" latinLnBrk="0">
              <a:lnSpc>
                <a:spcPct val="150000"/>
              </a:lnSpc>
              <a:buFont typeface="나눔고딕" panose="020D0604000000000000" pitchFamily="50" charset="-127"/>
              <a:buChar char="‐"/>
            </a:pPr>
            <a:r>
              <a:rPr lang="ko-KR" altLang="en-US" sz="1600" kern="1000" dirty="0">
                <a:latin typeface="Times New Roman" panose="02020603050405020304" pitchFamily="18" charset="0"/>
                <a:ea typeface="나눔고딕" panose="020D0604000000000000" pitchFamily="50" charset="-127"/>
              </a:rPr>
              <a:t>﻿</a:t>
            </a:r>
            <a:r>
              <a:rPr lang="en-US" altLang="ko-KR" sz="1600" kern="1000" dirty="0">
                <a:latin typeface="Times New Roman" panose="02020603050405020304" pitchFamily="18" charset="0"/>
                <a:ea typeface="나눔고딕" panose="020D0604000000000000" pitchFamily="50" charset="-127"/>
              </a:rPr>
              <a:t>Serialized representations can </a:t>
            </a:r>
            <a:r>
              <a:rPr lang="en-US" altLang="ko-KR" sz="1600" b="1" kern="1000" dirty="0">
                <a:latin typeface="Times New Roman" panose="02020603050405020304" pitchFamily="18" charset="0"/>
                <a:ea typeface="나눔고딕" panose="020D0604000000000000" pitchFamily="50" charset="-127"/>
              </a:rPr>
              <a:t>contextually connect relationships among different attributes </a:t>
            </a:r>
            <a:r>
              <a:rPr lang="en-US" altLang="ko-KR" sz="1600" kern="1000" dirty="0">
                <a:latin typeface="Times New Roman" panose="02020603050405020304" pitchFamily="18" charset="0"/>
                <a:ea typeface="나눔고딕" panose="020D0604000000000000" pitchFamily="50" charset="-127"/>
              </a:rPr>
              <a:t>and provide richer representations of user-item interactions (Azime et al., 2025).</a:t>
            </a:r>
          </a:p>
        </p:txBody>
      </p:sp>
      <p:sp>
        <p:nvSpPr>
          <p:cNvPr id="11" name="부제목 2">
            <a:extLst>
              <a:ext uri="{FF2B5EF4-FFF2-40B4-BE49-F238E27FC236}">
                <a16:creationId xmlns:a16="http://schemas.microsoft.com/office/drawing/2014/main" id="{AF83E4F3-FD55-3075-CEB0-8F413AA70BC0}"/>
              </a:ext>
            </a:extLst>
          </p:cNvPr>
          <p:cNvSpPr txBox="1">
            <a:spLocks/>
          </p:cNvSpPr>
          <p:nvPr/>
        </p:nvSpPr>
        <p:spPr>
          <a:xfrm>
            <a:off x="184848" y="171375"/>
            <a:ext cx="2325881" cy="392058"/>
          </a:xfrm>
          <a:prstGeom prst="rect">
            <a:avLst/>
          </a:prstGeom>
        </p:spPr>
        <p:txBody>
          <a:bodyPr vert="horz" lIns="91440" tIns="45720" rIns="91440" bIns="45720" rtlCol="0" anchor="ctr">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1. Introduction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sp>
        <p:nvSpPr>
          <p:cNvPr id="3" name="TextBox 2">
            <a:extLst>
              <a:ext uri="{FF2B5EF4-FFF2-40B4-BE49-F238E27FC236}">
                <a16:creationId xmlns:a16="http://schemas.microsoft.com/office/drawing/2014/main" id="{824C9F61-17EB-24AB-B18D-F1819165C741}"/>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347941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C3272-39AB-5831-58AD-E8C0B085CBE5}"/>
            </a:ext>
          </a:extLst>
        </p:cNvPr>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FDEDDA98-88D8-06AA-7E85-E15B88E62B27}"/>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79F7E784-C756-C1E2-09AB-A38874122606}"/>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8</a:t>
            </a:fld>
            <a:endParaRPr lang="ko-KR" altLang="en-US" dirty="0"/>
          </a:p>
        </p:txBody>
      </p:sp>
      <p:pic>
        <p:nvPicPr>
          <p:cNvPr id="2" name="Picture 2" descr="경희대학교">
            <a:extLst>
              <a:ext uri="{FF2B5EF4-FFF2-40B4-BE49-F238E27FC236}">
                <a16:creationId xmlns:a16="http://schemas.microsoft.com/office/drawing/2014/main" id="{98B87BA8-A3D7-4A3A-CC52-A64271D32A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3F61F601-8F12-A6DE-862F-01F413E50020}"/>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6" name="부제목 2">
            <a:extLst>
              <a:ext uri="{FF2B5EF4-FFF2-40B4-BE49-F238E27FC236}">
                <a16:creationId xmlns:a16="http://schemas.microsoft.com/office/drawing/2014/main" id="{229B70D3-A4AB-9ECC-1850-FA2A43431A79}"/>
              </a:ext>
            </a:extLst>
          </p:cNvPr>
          <p:cNvSpPr txBox="1">
            <a:spLocks/>
          </p:cNvSpPr>
          <p:nvPr/>
        </p:nvSpPr>
        <p:spPr>
          <a:xfrm>
            <a:off x="134142"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latinLnBrk="0">
              <a:lnSpc>
                <a:spcPct val="150000"/>
              </a:lnSpc>
            </a:pPr>
            <a:r>
              <a:rPr lang="ko-KR" altLang="en-US" sz="1800" b="1" kern="1000" dirty="0">
                <a:latin typeface="Times New Roman" panose="02020603050405020304" pitchFamily="18" charset="0"/>
                <a:ea typeface="나눔고딕" panose="020D0604000000000000" pitchFamily="50" charset="-127"/>
              </a:rPr>
              <a:t>﻿﻿</a:t>
            </a:r>
            <a:r>
              <a:rPr lang="en-US" altLang="ko-KR" sz="1800" b="1" kern="1000" dirty="0">
                <a:latin typeface="Times New Roman" panose="02020603050405020304" pitchFamily="18" charset="0"/>
                <a:ea typeface="나눔고딕" panose="020D0604000000000000" pitchFamily="50" charset="-127"/>
              </a:rPr>
              <a:t>Despite LLMs capabilities in turning heterogeneous data into semantic units, existing recommendation studies are utilizing them only in limited ways.</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Most studies focus on simple review summarization, feature extraction and prompting of interaction histories and item attributes (Wei et al., 2024; Wu et al., 2024).</a:t>
            </a:r>
          </a:p>
          <a:p>
            <a:pPr lvl="1" algn="just" latinLnBrk="0">
              <a:lnSpc>
                <a:spcPct val="150000"/>
              </a:lnSpc>
              <a:buFont typeface="나눔고딕" panose="020D0604000000000000" pitchFamily="50" charset="-127"/>
              <a:buChar char="‐"/>
            </a:pPr>
            <a:r>
              <a:rPr lang="en-US" altLang="ko-KR" sz="1600" b="1" kern="1000" dirty="0">
                <a:latin typeface="Times New Roman" panose="02020603050405020304" pitchFamily="18" charset="0"/>
                <a:ea typeface="나눔고딕" panose="020D0604000000000000" pitchFamily="50" charset="-127"/>
              </a:rPr>
              <a:t>The problem of </a:t>
            </a:r>
            <a:r>
              <a:rPr lang="en-US" altLang="ko-KR" sz="1600" b="1" u="sng" kern="1000" dirty="0">
                <a:solidFill>
                  <a:srgbClr val="AD1D19"/>
                </a:solidFill>
                <a:latin typeface="Times New Roman" panose="02020603050405020304" pitchFamily="18" charset="0"/>
                <a:ea typeface="나눔고딕" panose="020D0604000000000000" pitchFamily="50" charset="-127"/>
              </a:rPr>
              <a:t>semantically reconstructing heterogeneous data </a:t>
            </a:r>
            <a:r>
              <a:rPr lang="en-US" altLang="ko-KR" sz="1600" b="1" u="sng" kern="1000" dirty="0">
                <a:latin typeface="Times New Roman" panose="02020603050405020304" pitchFamily="18" charset="0"/>
                <a:ea typeface="나눔고딕" panose="020D0604000000000000" pitchFamily="50" charset="-127"/>
              </a:rPr>
              <a:t>into </a:t>
            </a:r>
            <a:r>
              <a:rPr lang="en-US" altLang="ko-KR" sz="1600" b="1" u="sng" kern="1000" dirty="0">
                <a:solidFill>
                  <a:srgbClr val="AD1D19"/>
                </a:solidFill>
                <a:latin typeface="Times New Roman" panose="02020603050405020304" pitchFamily="18" charset="0"/>
                <a:ea typeface="나눔고딕" panose="020D0604000000000000" pitchFamily="50" charset="-127"/>
              </a:rPr>
              <a:t>a unified representation </a:t>
            </a:r>
            <a:r>
              <a:rPr lang="en-US" altLang="ko-KR" sz="1600" b="1" u="sng" kern="1000" dirty="0">
                <a:latin typeface="Times New Roman" panose="02020603050405020304" pitchFamily="18" charset="0"/>
                <a:ea typeface="나눔고딕" panose="020D0604000000000000" pitchFamily="50" charset="-127"/>
              </a:rPr>
              <a:t>space</a:t>
            </a:r>
            <a:r>
              <a:rPr lang="en-US" altLang="ko-KR" sz="1600" kern="1000" dirty="0">
                <a:latin typeface="Times New Roman" panose="02020603050405020304" pitchFamily="18" charset="0"/>
                <a:ea typeface="나눔고딕" panose="020D0604000000000000" pitchFamily="50" charset="-127"/>
              </a:rPr>
              <a:t> has still not been explored sufficiently.</a:t>
            </a:r>
          </a:p>
          <a:p>
            <a:pPr lvl="1" algn="just" latinLnBrk="0">
              <a:lnSpc>
                <a:spcPct val="150000"/>
              </a:lnSpc>
              <a:buFont typeface="나눔고딕" panose="020D0604000000000000" pitchFamily="50" charset="-127"/>
              <a:buChar char="‐"/>
            </a:pPr>
            <a:endParaRPr lang="en-US" altLang="ko-KR" sz="500" kern="1000" dirty="0">
              <a:latin typeface="Times New Roman" panose="02020603050405020304" pitchFamily="18" charset="0"/>
              <a:ea typeface="나눔고딕" panose="020D0604000000000000" pitchFamily="50" charset="-127"/>
            </a:endParaRPr>
          </a:p>
          <a:p>
            <a:pPr marL="285750" indent="-285750" algn="just" latinLnBrk="0">
              <a:lnSpc>
                <a:spcPct val="150000"/>
              </a:lnSpc>
            </a:pPr>
            <a:r>
              <a:rPr lang="ko-KR" altLang="en-US" sz="1800" b="1" kern="1000" dirty="0">
                <a:latin typeface="Times New Roman" panose="02020603050405020304" pitchFamily="18" charset="0"/>
                <a:ea typeface="나눔고딕" panose="020D0604000000000000" pitchFamily="50" charset="-127"/>
              </a:rPr>
              <a:t>﻿</a:t>
            </a:r>
            <a:r>
              <a:rPr lang="en-US" altLang="ko-KR" sz="1800" b="1" kern="1000" dirty="0">
                <a:latin typeface="Times New Roman" panose="02020603050405020304" pitchFamily="18" charset="0"/>
                <a:ea typeface="나눔고딕" panose="020D0604000000000000" pitchFamily="50" charset="-127"/>
              </a:rPr>
              <a:t>Therefore, this study proposes: </a:t>
            </a:r>
            <a:r>
              <a:rPr lang="en-US" altLang="ko-KR" sz="1800" b="1" kern="1000" dirty="0">
                <a:solidFill>
                  <a:srgbClr val="AD1D19"/>
                </a:solidFill>
                <a:latin typeface="Times New Roman" panose="02020603050405020304" pitchFamily="18" charset="0"/>
                <a:ea typeface="나눔고딕" panose="020D0604000000000000" pitchFamily="50" charset="-127"/>
              </a:rPr>
              <a:t>LCSR</a:t>
            </a:r>
            <a:r>
              <a:rPr lang="en-US" altLang="ko-KR" sz="1800" b="1" kern="1000" dirty="0">
                <a:latin typeface="Times New Roman" panose="02020603050405020304" pitchFamily="18" charset="0"/>
                <a:ea typeface="나눔고딕" panose="020D0604000000000000" pitchFamily="50" charset="-127"/>
              </a:rPr>
              <a:t> (LLM-based Content Serialization for Recommendation).</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LCSR is a representation learning framework that reconstructs heterogeneous and incomplete data into semantically consistent representations for more accurate user preference modeling.</a:t>
            </a:r>
          </a:p>
          <a:p>
            <a:pPr lvl="1" algn="just"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This study is based on the assumption that semantic reconstruction of input data significantly influences embedding quality and recommendation performance.</a:t>
            </a:r>
          </a:p>
          <a:p>
            <a:pPr lvl="1" algn="just" latinLnBrk="0">
              <a:lnSpc>
                <a:spcPct val="150000"/>
              </a:lnSpc>
              <a:buFont typeface="나눔고딕" panose="020D0604000000000000" pitchFamily="50" charset="-127"/>
              <a:buChar char="‐"/>
            </a:pPr>
            <a:endParaRPr lang="en-US" altLang="ko-KR" sz="1600" dirty="0">
              <a:latin typeface="Times New Roman" panose="02020603050405020304" pitchFamily="18" charset="0"/>
              <a:ea typeface="나눔고딕" panose="020D0604000000000000" pitchFamily="50" charset="-127"/>
            </a:endParaRPr>
          </a:p>
        </p:txBody>
      </p:sp>
      <p:sp>
        <p:nvSpPr>
          <p:cNvPr id="11" name="부제목 2">
            <a:extLst>
              <a:ext uri="{FF2B5EF4-FFF2-40B4-BE49-F238E27FC236}">
                <a16:creationId xmlns:a16="http://schemas.microsoft.com/office/drawing/2014/main" id="{B9D6C460-44CE-8C7B-EDD7-FF6DA8F66C6B}"/>
              </a:ext>
            </a:extLst>
          </p:cNvPr>
          <p:cNvSpPr txBox="1">
            <a:spLocks/>
          </p:cNvSpPr>
          <p:nvPr/>
        </p:nvSpPr>
        <p:spPr>
          <a:xfrm>
            <a:off x="184848" y="171375"/>
            <a:ext cx="2325881" cy="392058"/>
          </a:xfrm>
          <a:prstGeom prst="rect">
            <a:avLst/>
          </a:prstGeom>
        </p:spPr>
        <p:txBody>
          <a:bodyPr vert="horz" lIns="91440" tIns="45720" rIns="91440" bIns="45720" rtlCol="0" anchor="ctr">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1. Introduction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sp>
        <p:nvSpPr>
          <p:cNvPr id="3" name="TextBox 2">
            <a:extLst>
              <a:ext uri="{FF2B5EF4-FFF2-40B4-BE49-F238E27FC236}">
                <a16:creationId xmlns:a16="http://schemas.microsoft.com/office/drawing/2014/main" id="{F7D8324A-5C12-B0CC-5C93-CA5A535C50FC}"/>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3887341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816A8-6B77-6546-DEF8-6E6307F10F64}"/>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E0D0626C-DDF8-5EAE-8278-DDDB96862033}"/>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2. Framework</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44AAD425-D0C3-DACF-93A4-4EB4860CD15E}"/>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6B5CA9DA-39A4-95B9-7CBD-CE15EBEC54AD}"/>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9</a:t>
            </a:fld>
            <a:endParaRPr lang="ko-KR" altLang="en-US" dirty="0"/>
          </a:p>
        </p:txBody>
      </p:sp>
      <p:pic>
        <p:nvPicPr>
          <p:cNvPr id="2" name="Picture 2" descr="경희대학교">
            <a:extLst>
              <a:ext uri="{FF2B5EF4-FFF2-40B4-BE49-F238E27FC236}">
                <a16:creationId xmlns:a16="http://schemas.microsoft.com/office/drawing/2014/main" id="{02750ED4-A62A-9EEB-8094-8699F09BED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A73C80A7-0357-1B95-DA87-1CBE894E234C}"/>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F5405A65-23A1-A21A-8B0A-E39AEB2292C5}"/>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altLang="ko-KR" sz="1600" dirty="0">
              <a:latin typeface="Times New Roman" panose="02020603050405020304" pitchFamily="18" charset="0"/>
              <a:ea typeface="나눔고딕" panose="020D0604000000000000" pitchFamily="50" charset="-127"/>
            </a:endParaRPr>
          </a:p>
        </p:txBody>
      </p:sp>
      <p:sp>
        <p:nvSpPr>
          <p:cNvPr id="9" name="TextBox 8">
            <a:extLst>
              <a:ext uri="{FF2B5EF4-FFF2-40B4-BE49-F238E27FC236}">
                <a16:creationId xmlns:a16="http://schemas.microsoft.com/office/drawing/2014/main" id="{2BB5199A-7BC1-E560-FB48-0421810DE509}"/>
              </a:ext>
            </a:extLst>
          </p:cNvPr>
          <p:cNvSpPr txBox="1"/>
          <p:nvPr/>
        </p:nvSpPr>
        <p:spPr>
          <a:xfrm>
            <a:off x="4782745" y="5827544"/>
            <a:ext cx="3135667"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Figure 2. Proposed LCSR Framework</a:t>
            </a:r>
            <a:endParaRPr lang="ko-KR" altLang="en-US" sz="1400" b="1" dirty="0">
              <a:latin typeface="Times New Roman" panose="02020603050405020304" pitchFamily="18" charset="0"/>
              <a:cs typeface="Times New Roman" panose="02020603050405020304" pitchFamily="18" charset="0"/>
            </a:endParaRPr>
          </a:p>
        </p:txBody>
      </p:sp>
      <p:pic>
        <p:nvPicPr>
          <p:cNvPr id="8" name="그림 7">
            <a:extLst>
              <a:ext uri="{FF2B5EF4-FFF2-40B4-BE49-F238E27FC236}">
                <a16:creationId xmlns:a16="http://schemas.microsoft.com/office/drawing/2014/main" id="{18360288-8093-60D9-05A0-9ECFC8A76487}"/>
              </a:ext>
            </a:extLst>
          </p:cNvPr>
          <p:cNvPicPr>
            <a:picLocks noChangeAspect="1"/>
          </p:cNvPicPr>
          <p:nvPr/>
        </p:nvPicPr>
        <p:blipFill>
          <a:blip r:embed="rId4"/>
          <a:srcRect t="7229" b="5859"/>
          <a:stretch>
            <a:fillRect/>
          </a:stretch>
        </p:blipFill>
        <p:spPr>
          <a:xfrm>
            <a:off x="594970" y="878009"/>
            <a:ext cx="11325331" cy="4942958"/>
          </a:xfrm>
          <a:prstGeom prst="rect">
            <a:avLst/>
          </a:prstGeom>
        </p:spPr>
      </p:pic>
      <p:sp>
        <p:nvSpPr>
          <p:cNvPr id="6" name="TextBox 5">
            <a:extLst>
              <a:ext uri="{FF2B5EF4-FFF2-40B4-BE49-F238E27FC236}">
                <a16:creationId xmlns:a16="http://schemas.microsoft.com/office/drawing/2014/main" id="{CB885555-738B-2875-5ED1-8909810C579A}"/>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1129160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3. Experiments</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10</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Datasets </a:t>
            </a:r>
            <a:r>
              <a:rPr lang="en-US" altLang="ko-KR" sz="1400" kern="1000" spc="-10" dirty="0">
                <a:latin typeface="Times New Roman" panose="02020603050405020304" pitchFamily="18" charset="0"/>
                <a:ea typeface="나눔고딕" panose="020D0604000000000000" pitchFamily="50" charset="-127"/>
              </a:rPr>
              <a:t>(Details in Appendix A, B)</a:t>
            </a:r>
            <a:endParaRPr lang="en-US" altLang="ko-KR" sz="1600" kern="1000" spc="-10" dirty="0">
              <a:latin typeface="Times New Roman" panose="02020603050405020304" pitchFamily="18" charset="0"/>
              <a:ea typeface="나눔고딕" panose="020D0604000000000000" pitchFamily="50" charset="-127"/>
            </a:endParaRP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Amazon Review datasets released by UCSD </a:t>
            </a:r>
            <a:r>
              <a:rPr lang="en-US" altLang="ko-KR" sz="1400" kern="1000" dirty="0">
                <a:latin typeface="Times New Roman" panose="02020603050405020304" pitchFamily="18" charset="0"/>
                <a:ea typeface="나눔고딕" panose="020D0604000000000000" pitchFamily="50" charset="-127"/>
              </a:rPr>
              <a:t>(https://amazon-reviews-2023.github.io/)</a:t>
            </a: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Widely used benchmark datasets in recommender system research.</a:t>
            </a:r>
          </a:p>
          <a:p>
            <a:pPr lvl="1">
              <a:lnSpc>
                <a:spcPct val="150000"/>
              </a:lnSpc>
              <a:buFont typeface="나눔고딕" panose="020D0604000000000000" pitchFamily="50" charset="-127"/>
              <a:buChar char="‐"/>
            </a:pPr>
            <a:r>
              <a:rPr lang="en-US" altLang="ko-KR" sz="1600" b="1" kern="1000" dirty="0">
                <a:latin typeface="Times New Roman" panose="02020603050405020304" pitchFamily="18" charset="0"/>
                <a:ea typeface="나눔고딕" panose="020D0604000000000000" pitchFamily="50" charset="-127"/>
              </a:rPr>
              <a:t>Video Games, Musical Instruments</a:t>
            </a:r>
            <a:r>
              <a:rPr lang="en-US" altLang="ko-KR" sz="1600" kern="1000" dirty="0">
                <a:latin typeface="Times New Roman" panose="02020603050405020304" pitchFamily="18" charset="0"/>
                <a:ea typeface="나눔고딕" panose="020D0604000000000000" pitchFamily="50" charset="-127"/>
              </a:rPr>
              <a:t> (Chiang et al., 2023; Wang et al., 2025)</a:t>
            </a:r>
          </a:p>
          <a:p>
            <a:pPr marL="285750" indent="-285750">
              <a:lnSpc>
                <a:spcPct val="150000"/>
              </a:lnSpc>
            </a:pPr>
            <a:r>
              <a:rPr lang="en-US" altLang="ko-KR" sz="1800" b="1" kern="1000" dirty="0">
                <a:latin typeface="Times New Roman" panose="02020603050405020304" pitchFamily="18" charset="0"/>
                <a:ea typeface="나눔고딕" panose="020D0604000000000000" pitchFamily="50" charset="-127"/>
              </a:rPr>
              <a:t>Data Preprocessing</a:t>
            </a:r>
          </a:p>
          <a:p>
            <a:pPr lvl="1">
              <a:lnSpc>
                <a:spcPct val="150000"/>
              </a:lnSpc>
              <a:buFont typeface="나눔고딕" panose="020D0604000000000000" pitchFamily="50" charset="-127"/>
              <a:buChar char="‐"/>
            </a:pPr>
            <a:r>
              <a:rPr lang="en-US" altLang="ko-KR" sz="1600" dirty="0">
                <a:latin typeface="Times New Roman" panose="02020603050405020304" pitchFamily="18" charset="0"/>
                <a:ea typeface="나눔고딕" panose="020D0604000000000000" pitchFamily="50" charset="-127"/>
              </a:rPr>
              <a:t>Reviews written </a:t>
            </a:r>
            <a:r>
              <a:rPr lang="en-US" altLang="ko-KR" sz="1600" b="1" u="sng" dirty="0">
                <a:latin typeface="Times New Roman" panose="02020603050405020304" pitchFamily="18" charset="0"/>
                <a:ea typeface="나눔고딕" panose="020D0604000000000000" pitchFamily="50" charset="-127"/>
              </a:rPr>
              <a:t>by unverified purchasers were removed</a:t>
            </a:r>
            <a:r>
              <a:rPr lang="en-US" altLang="ko-KR" sz="1600" b="1" dirty="0">
                <a:latin typeface="Times New Roman" panose="02020603050405020304" pitchFamily="18" charset="0"/>
                <a:ea typeface="나눔고딕" panose="020D0604000000000000" pitchFamily="50" charset="-127"/>
              </a:rPr>
              <a:t> </a:t>
            </a:r>
            <a:r>
              <a:rPr lang="en-US" altLang="ko-KR" sz="1600" dirty="0">
                <a:latin typeface="Times New Roman" panose="02020603050405020304" pitchFamily="18" charset="0"/>
                <a:ea typeface="나눔고딕" panose="020D0604000000000000" pitchFamily="50" charset="-127"/>
              </a:rPr>
              <a:t>to improve data reliability. </a:t>
            </a:r>
          </a:p>
          <a:p>
            <a:pPr lvl="1">
              <a:lnSpc>
                <a:spcPct val="150000"/>
              </a:lnSpc>
              <a:buFont typeface="나눔고딕" panose="020D0604000000000000" pitchFamily="50" charset="-127"/>
              <a:buChar char="‐"/>
            </a:pPr>
            <a:r>
              <a:rPr lang="en-US" altLang="ko-KR" sz="1600" b="1" u="sng" dirty="0">
                <a:latin typeface="Times New Roman" panose="02020603050405020304" pitchFamily="18" charset="0"/>
                <a:ea typeface="나눔고딕" panose="020D0604000000000000" pitchFamily="50" charset="-127"/>
              </a:rPr>
              <a:t>Minimal textual preprocessing</a:t>
            </a:r>
            <a:r>
              <a:rPr lang="en-US" altLang="ko-KR" sz="1600" b="1" dirty="0">
                <a:latin typeface="Times New Roman" panose="02020603050405020304" pitchFamily="18" charset="0"/>
                <a:ea typeface="나눔고딕" panose="020D0604000000000000" pitchFamily="50" charset="-127"/>
              </a:rPr>
              <a:t> </a:t>
            </a:r>
            <a:r>
              <a:rPr lang="en-US" altLang="ko-KR" sz="1600" dirty="0">
                <a:latin typeface="Times New Roman" panose="02020603050405020304" pitchFamily="18" charset="0"/>
                <a:ea typeface="나눔고딕" panose="020D0604000000000000" pitchFamily="50" charset="-127"/>
              </a:rPr>
              <a:t>was applied, including HTML/URL removal and whitespace normalization.</a:t>
            </a:r>
          </a:p>
          <a:p>
            <a:pPr lvl="1">
              <a:lnSpc>
                <a:spcPct val="150000"/>
              </a:lnSpc>
              <a:buFont typeface="나눔고딕" panose="020D0604000000000000" pitchFamily="50" charset="-127"/>
              <a:buChar char="‐"/>
            </a:pPr>
            <a:r>
              <a:rPr lang="en-US" altLang="ko-KR" sz="1600" dirty="0">
                <a:latin typeface="Times New Roman" panose="02020603050405020304" pitchFamily="18" charset="0"/>
                <a:ea typeface="나눔고딕" panose="020D0604000000000000" pitchFamily="50" charset="-127"/>
              </a:rPr>
              <a:t>For LLM input construction, five reviews per user were randomly aggregated into a </a:t>
            </a:r>
            <a:r>
              <a:rPr lang="en-US" altLang="ko-KR" sz="1600" b="1" u="sng" dirty="0">
                <a:latin typeface="Times New Roman" panose="02020603050405020304" pitchFamily="18" charset="0"/>
                <a:ea typeface="나눔고딕" panose="020D0604000000000000" pitchFamily="50" charset="-127"/>
              </a:rPr>
              <a:t>review document</a:t>
            </a:r>
            <a:r>
              <a:rPr lang="en-US" altLang="ko-KR" sz="1600" dirty="0">
                <a:latin typeface="Times New Roman" panose="02020603050405020304" pitchFamily="18" charset="0"/>
                <a:ea typeface="나눔고딕" panose="020D0604000000000000" pitchFamily="50" charset="-127"/>
              </a:rPr>
              <a:t>.</a:t>
            </a:r>
          </a:p>
          <a:p>
            <a:pPr lvl="1">
              <a:lnSpc>
                <a:spcPct val="150000"/>
              </a:lnSpc>
              <a:buFont typeface="나눔고딕" panose="020D0604000000000000" pitchFamily="50" charset="-127"/>
              <a:buChar char="‐"/>
            </a:pPr>
            <a:endParaRPr lang="en-US" altLang="ko-KR" sz="1600" b="1" kern="1000" dirty="0">
              <a:highlight>
                <a:srgbClr val="FFFF00"/>
              </a:highlight>
              <a:latin typeface="Times New Roman" panose="02020603050405020304" pitchFamily="18" charset="0"/>
              <a:ea typeface="나눔고딕" panose="020D0604000000000000" pitchFamily="50" charset="-127"/>
            </a:endParaRPr>
          </a:p>
          <a:p>
            <a:pPr marL="0" indent="0">
              <a:lnSpc>
                <a:spcPct val="150000"/>
              </a:lnSpc>
              <a:buNone/>
            </a:pPr>
            <a:endParaRPr lang="en-US" altLang="ko-KR" sz="1600" dirty="0">
              <a:latin typeface="Times New Roman" panose="02020603050405020304" pitchFamily="18" charset="0"/>
              <a:ea typeface="나눔고딕" panose="020D0604000000000000" pitchFamily="50" charset="-127"/>
            </a:endParaRPr>
          </a:p>
        </p:txBody>
      </p:sp>
      <p:graphicFrame>
        <p:nvGraphicFramePr>
          <p:cNvPr id="13" name="표 12">
            <a:extLst>
              <a:ext uri="{FF2B5EF4-FFF2-40B4-BE49-F238E27FC236}">
                <a16:creationId xmlns:a16="http://schemas.microsoft.com/office/drawing/2014/main" id="{C21BABFD-4997-F729-3510-61949B26E2B2}"/>
              </a:ext>
            </a:extLst>
          </p:cNvPr>
          <p:cNvGraphicFramePr>
            <a:graphicFrameLocks noGrp="1"/>
          </p:cNvGraphicFramePr>
          <p:nvPr>
            <p:extLst>
              <p:ext uri="{D42A27DB-BD31-4B8C-83A1-F6EECF244321}">
                <p14:modId xmlns:p14="http://schemas.microsoft.com/office/powerpoint/2010/main" val="1948480941"/>
              </p:ext>
            </p:extLst>
          </p:nvPr>
        </p:nvGraphicFramePr>
        <p:xfrm>
          <a:off x="291566" y="4781233"/>
          <a:ext cx="11599040" cy="1315227"/>
        </p:xfrm>
        <a:graphic>
          <a:graphicData uri="http://schemas.openxmlformats.org/drawingml/2006/table">
            <a:tbl>
              <a:tblPr firstRow="1" bandRow="1">
                <a:tableStyleId>{5C22544A-7EE6-4342-B048-85BDC9FD1C3A}</a:tableStyleId>
              </a:tblPr>
              <a:tblGrid>
                <a:gridCol w="2319808">
                  <a:extLst>
                    <a:ext uri="{9D8B030D-6E8A-4147-A177-3AD203B41FA5}">
                      <a16:colId xmlns:a16="http://schemas.microsoft.com/office/drawing/2014/main" val="4203772715"/>
                    </a:ext>
                  </a:extLst>
                </a:gridCol>
                <a:gridCol w="2319808">
                  <a:extLst>
                    <a:ext uri="{9D8B030D-6E8A-4147-A177-3AD203B41FA5}">
                      <a16:colId xmlns:a16="http://schemas.microsoft.com/office/drawing/2014/main" val="2295465168"/>
                    </a:ext>
                  </a:extLst>
                </a:gridCol>
                <a:gridCol w="2319808">
                  <a:extLst>
                    <a:ext uri="{9D8B030D-6E8A-4147-A177-3AD203B41FA5}">
                      <a16:colId xmlns:a16="http://schemas.microsoft.com/office/drawing/2014/main" val="3146872699"/>
                    </a:ext>
                  </a:extLst>
                </a:gridCol>
                <a:gridCol w="2319808">
                  <a:extLst>
                    <a:ext uri="{9D8B030D-6E8A-4147-A177-3AD203B41FA5}">
                      <a16:colId xmlns:a16="http://schemas.microsoft.com/office/drawing/2014/main" val="1557950956"/>
                    </a:ext>
                  </a:extLst>
                </a:gridCol>
                <a:gridCol w="2319808">
                  <a:extLst>
                    <a:ext uri="{9D8B030D-6E8A-4147-A177-3AD203B41FA5}">
                      <a16:colId xmlns:a16="http://schemas.microsoft.com/office/drawing/2014/main" val="45200224"/>
                    </a:ext>
                  </a:extLst>
                </a:gridCol>
              </a:tblGrid>
              <a:tr h="385797">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Category</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Number of Reviews</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Number of Users</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Number of Items</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Missing Valued data</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292436187"/>
                  </a:ext>
                </a:extLst>
              </a:tr>
              <a:tr h="46471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600" kern="1000" baseline="0" dirty="0">
                          <a:latin typeface="Times New Roman" panose="02020603050405020304" pitchFamily="18" charset="0"/>
                          <a:ea typeface="나눔고딕" panose="020D0604000000000000" pitchFamily="50" charset="-127"/>
                        </a:rPr>
                        <a:t>Musical Instruments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449,244</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51,582</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21,112</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600" dirty="0">
                          <a:solidFill>
                            <a:schemeClr val="tx1"/>
                          </a:solidFill>
                          <a:latin typeface="Times New Roman" panose="02020603050405020304" pitchFamily="18" charset="0"/>
                          <a:cs typeface="Times New Roman" panose="02020603050405020304" pitchFamily="18" charset="0"/>
                        </a:rPr>
                        <a:t>120,832</a:t>
                      </a:r>
                      <a:endParaRPr lang="ko-KR" altLang="en-US" sz="16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575431"/>
                  </a:ext>
                </a:extLst>
              </a:tr>
              <a:tr h="46471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600" kern="1000" baseline="0" dirty="0">
                          <a:latin typeface="Times New Roman" panose="02020603050405020304" pitchFamily="18" charset="0"/>
                          <a:ea typeface="나눔고딕" panose="020D0604000000000000" pitchFamily="50" charset="-127"/>
                        </a:rPr>
                        <a:t>Video Games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577,070</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71,697</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19,186</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600" dirty="0">
                          <a:solidFill>
                            <a:schemeClr val="tx1"/>
                          </a:solidFill>
                          <a:latin typeface="Times New Roman" panose="02020603050405020304" pitchFamily="18" charset="0"/>
                          <a:cs typeface="Times New Roman" panose="02020603050405020304" pitchFamily="18" charset="0"/>
                        </a:rPr>
                        <a:t>131,229</a:t>
                      </a:r>
                      <a:endParaRPr lang="ko-KR" altLang="en-US" sz="16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63880673"/>
                  </a:ext>
                </a:extLst>
              </a:tr>
            </a:tbl>
          </a:graphicData>
        </a:graphic>
      </p:graphicFrame>
      <p:sp>
        <p:nvSpPr>
          <p:cNvPr id="14" name="TextBox 13">
            <a:extLst>
              <a:ext uri="{FF2B5EF4-FFF2-40B4-BE49-F238E27FC236}">
                <a16:creationId xmlns:a16="http://schemas.microsoft.com/office/drawing/2014/main" id="{412F2A3D-9B3B-AEFE-FBC5-846AA78A949E}"/>
              </a:ext>
            </a:extLst>
          </p:cNvPr>
          <p:cNvSpPr txBox="1"/>
          <p:nvPr/>
        </p:nvSpPr>
        <p:spPr>
          <a:xfrm>
            <a:off x="4798328" y="4473456"/>
            <a:ext cx="2585516"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Table 2. Final Dataset Statistics</a:t>
            </a:r>
            <a:endParaRPr lang="ko-KR" altLang="en-US" sz="14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4BA3127-68D0-3E07-0EB1-568B8EF24790}"/>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780275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770C9-6925-8385-2AA9-344FE94145B8}"/>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6C3CFA44-00A8-054A-C261-6D9CD254906E}"/>
              </a:ext>
            </a:extLst>
          </p:cNvPr>
          <p:cNvSpPr>
            <a:spLocks noGrp="1"/>
          </p:cNvSpPr>
          <p:nvPr>
            <p:ph type="subTitle" idx="1"/>
          </p:nvPr>
        </p:nvSpPr>
        <p:spPr>
          <a:xfrm>
            <a:off x="184848" y="171375"/>
            <a:ext cx="2325881" cy="392058"/>
          </a:xfrm>
        </p:spPr>
        <p:txBody>
          <a:bodyPr anchor="ctr">
            <a:norm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3. Experiments</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D46E3DD6-8AF3-1DDF-87F3-F8389D8C2941}"/>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C72AF92B-3D54-EB17-AE11-718DE30E6C53}"/>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11</a:t>
            </a:fld>
            <a:endParaRPr lang="ko-KR" altLang="en-US" dirty="0"/>
          </a:p>
        </p:txBody>
      </p:sp>
      <p:pic>
        <p:nvPicPr>
          <p:cNvPr id="2" name="Picture 2" descr="경희대학교">
            <a:extLst>
              <a:ext uri="{FF2B5EF4-FFF2-40B4-BE49-F238E27FC236}">
                <a16:creationId xmlns:a16="http://schemas.microsoft.com/office/drawing/2014/main" id="{956B830A-84E2-3323-4308-A1D75F25BC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90E88B9D-EE2F-4038-E3D0-0B72C21E5AB7}"/>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6CD5AB49-52A4-0897-F60A-EE43E79C11C2}"/>
              </a:ext>
            </a:extLst>
          </p:cNvPr>
          <p:cNvSpPr txBox="1">
            <a:spLocks/>
          </p:cNvSpPr>
          <p:nvPr/>
        </p:nvSpPr>
        <p:spPr>
          <a:xfrm>
            <a:off x="134142"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latinLnBrk="0">
              <a:lnSpc>
                <a:spcPct val="150000"/>
              </a:lnSpc>
            </a:pPr>
            <a:r>
              <a:rPr lang="en-US" altLang="ko-KR" sz="1800" b="1" kern="1000" spc="-10" dirty="0">
                <a:latin typeface="Times New Roman" panose="02020603050405020304" pitchFamily="18" charset="0"/>
                <a:ea typeface="나눔고딕" panose="020D0604000000000000" pitchFamily="50" charset="-127"/>
              </a:rPr>
              <a:t>Evaluation Metrics</a:t>
            </a:r>
          </a:p>
          <a:p>
            <a:pPr lvl="1"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MAE (Mean Absolute Error)</a:t>
            </a:r>
          </a:p>
          <a:p>
            <a:pPr lvl="1" latinLnBrk="0">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RMSE (Root</a:t>
            </a:r>
            <a:r>
              <a:rPr lang="ko-KR" altLang="en-US" sz="1600" kern="1000" dirty="0">
                <a:latin typeface="Times New Roman" panose="02020603050405020304" pitchFamily="18" charset="0"/>
                <a:ea typeface="나눔고딕" panose="020D0604000000000000" pitchFamily="50" charset="-127"/>
              </a:rPr>
              <a:t> </a:t>
            </a:r>
            <a:r>
              <a:rPr lang="en-US" altLang="ko-KR" sz="1600" kern="1000" dirty="0">
                <a:latin typeface="Times New Roman" panose="02020603050405020304" pitchFamily="18" charset="0"/>
                <a:ea typeface="나눔고딕" panose="020D0604000000000000" pitchFamily="50" charset="-127"/>
              </a:rPr>
              <a:t>Mean</a:t>
            </a:r>
            <a:r>
              <a:rPr lang="ko-KR" altLang="en-US" sz="1600" kern="1000" dirty="0">
                <a:latin typeface="Times New Roman" panose="02020603050405020304" pitchFamily="18" charset="0"/>
                <a:ea typeface="나눔고딕" panose="020D0604000000000000" pitchFamily="50" charset="-127"/>
              </a:rPr>
              <a:t> </a:t>
            </a:r>
            <a:r>
              <a:rPr lang="en-US" altLang="ko-KR" sz="1600" kern="1000" dirty="0">
                <a:latin typeface="Times New Roman" panose="02020603050405020304" pitchFamily="18" charset="0"/>
                <a:ea typeface="나눔고딕" panose="020D0604000000000000" pitchFamily="50" charset="-127"/>
              </a:rPr>
              <a:t>Squared Error)</a:t>
            </a:r>
            <a:endParaRPr lang="en-US" altLang="ko-KR" sz="1800" b="1" kern="1000" dirty="0">
              <a:latin typeface="Times New Roman" panose="02020603050405020304" pitchFamily="18" charset="0"/>
              <a:ea typeface="나눔고딕" panose="020D0604000000000000" pitchFamily="50" charset="-127"/>
            </a:endParaRPr>
          </a:p>
          <a:p>
            <a:pPr marL="285750" indent="-285750">
              <a:lnSpc>
                <a:spcPct val="150000"/>
              </a:lnSpc>
            </a:pPr>
            <a:r>
              <a:rPr lang="en-US" altLang="ko-KR" sz="1800" b="1" kern="1000" dirty="0">
                <a:latin typeface="Times New Roman" panose="02020603050405020304" pitchFamily="18" charset="0"/>
                <a:ea typeface="나눔고딕" panose="020D0604000000000000" pitchFamily="50" charset="-127"/>
              </a:rPr>
              <a:t>Baseline Model Selection</a:t>
            </a:r>
          </a:p>
        </p:txBody>
      </p:sp>
      <p:graphicFrame>
        <p:nvGraphicFramePr>
          <p:cNvPr id="6" name="표 5">
            <a:extLst>
              <a:ext uri="{FF2B5EF4-FFF2-40B4-BE49-F238E27FC236}">
                <a16:creationId xmlns:a16="http://schemas.microsoft.com/office/drawing/2014/main" id="{E07CFDB4-E720-A0E8-56AF-252AE8D36FA3}"/>
              </a:ext>
            </a:extLst>
          </p:cNvPr>
          <p:cNvGraphicFramePr>
            <a:graphicFrameLocks noGrp="1"/>
          </p:cNvGraphicFramePr>
          <p:nvPr>
            <p:extLst>
              <p:ext uri="{D42A27DB-BD31-4B8C-83A1-F6EECF244321}">
                <p14:modId xmlns:p14="http://schemas.microsoft.com/office/powerpoint/2010/main" val="1034246853"/>
              </p:ext>
            </p:extLst>
          </p:nvPr>
        </p:nvGraphicFramePr>
        <p:xfrm>
          <a:off x="250703" y="2855447"/>
          <a:ext cx="11465686" cy="3457652"/>
        </p:xfrm>
        <a:graphic>
          <a:graphicData uri="http://schemas.openxmlformats.org/drawingml/2006/table">
            <a:tbl>
              <a:tblPr firstRow="1" bandRow="1">
                <a:tableStyleId>{5C22544A-7EE6-4342-B048-85BDC9FD1C3A}</a:tableStyleId>
              </a:tblPr>
              <a:tblGrid>
                <a:gridCol w="1025705">
                  <a:extLst>
                    <a:ext uri="{9D8B030D-6E8A-4147-A177-3AD203B41FA5}">
                      <a16:colId xmlns:a16="http://schemas.microsoft.com/office/drawing/2014/main" val="1301711951"/>
                    </a:ext>
                  </a:extLst>
                </a:gridCol>
                <a:gridCol w="1469502">
                  <a:extLst>
                    <a:ext uri="{9D8B030D-6E8A-4147-A177-3AD203B41FA5}">
                      <a16:colId xmlns:a16="http://schemas.microsoft.com/office/drawing/2014/main" val="124450913"/>
                    </a:ext>
                  </a:extLst>
                </a:gridCol>
                <a:gridCol w="7424530">
                  <a:extLst>
                    <a:ext uri="{9D8B030D-6E8A-4147-A177-3AD203B41FA5}">
                      <a16:colId xmlns:a16="http://schemas.microsoft.com/office/drawing/2014/main" val="3808002867"/>
                    </a:ext>
                  </a:extLst>
                </a:gridCol>
                <a:gridCol w="1545949">
                  <a:extLst>
                    <a:ext uri="{9D8B030D-6E8A-4147-A177-3AD203B41FA5}">
                      <a16:colId xmlns:a16="http://schemas.microsoft.com/office/drawing/2014/main" val="497010838"/>
                    </a:ext>
                  </a:extLst>
                </a:gridCol>
              </a:tblGrid>
              <a:tr h="474267">
                <a:tc>
                  <a:txBody>
                    <a:bodyPr/>
                    <a:lstStyle/>
                    <a:p>
                      <a:pPr algn="ctr" latinLnBrk="1"/>
                      <a:r>
                        <a:rPr lang="en-US" altLang="ko-KR" sz="1600" dirty="0">
                          <a:solidFill>
                            <a:schemeClr val="tx1"/>
                          </a:solidFill>
                          <a:latin typeface="Times New Roman" panose="02020603050405020304" pitchFamily="18" charset="0"/>
                          <a:cs typeface="Times New Roman" panose="02020603050405020304" pitchFamily="18" charset="0"/>
                        </a:rPr>
                        <a:t>Category</a:t>
                      </a:r>
                      <a:endParaRPr lang="ko-KR" altLang="en-US" sz="16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latinLnBrk="1"/>
                      <a:r>
                        <a:rPr lang="en-US" altLang="ko-KR" sz="1600" dirty="0">
                          <a:solidFill>
                            <a:schemeClr val="tx1"/>
                          </a:solidFill>
                          <a:latin typeface="Times New Roman" panose="02020603050405020304" pitchFamily="18" charset="0"/>
                          <a:cs typeface="Times New Roman" panose="02020603050405020304" pitchFamily="18" charset="0"/>
                        </a:rPr>
                        <a:t>Models</a:t>
                      </a:r>
                      <a:endParaRPr lang="ko-KR" altLang="en-US" sz="16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latinLnBrk="1"/>
                      <a:r>
                        <a:rPr lang="en-US" altLang="ko-KR" sz="1600" dirty="0">
                          <a:solidFill>
                            <a:schemeClr val="tx1"/>
                          </a:solidFill>
                          <a:latin typeface="Times New Roman" panose="02020603050405020304" pitchFamily="18" charset="0"/>
                          <a:cs typeface="Times New Roman" panose="02020603050405020304" pitchFamily="18" charset="0"/>
                        </a:rPr>
                        <a:t>Description</a:t>
                      </a:r>
                      <a:endParaRPr lang="ko-KR" altLang="en-US" sz="16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latinLnBrk="1"/>
                      <a:r>
                        <a:rPr lang="en-US" altLang="ko-KR" sz="1600" dirty="0">
                          <a:solidFill>
                            <a:schemeClr val="tx1"/>
                          </a:solidFill>
                          <a:latin typeface="Times New Roman" panose="02020603050405020304" pitchFamily="18" charset="0"/>
                          <a:cs typeface="Times New Roman" panose="02020603050405020304" pitchFamily="18" charset="0"/>
                        </a:rPr>
                        <a:t>Author</a:t>
                      </a:r>
                      <a:endParaRPr lang="ko-KR" altLang="en-US" sz="16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1070683759"/>
                  </a:ext>
                </a:extLst>
              </a:tr>
              <a:tr h="480853">
                <a:tc>
                  <a:txBody>
                    <a:bodyPr/>
                    <a:lstStyle/>
                    <a:p>
                      <a:pPr algn="ctr" latinLnBrk="1"/>
                      <a:r>
                        <a:rPr lang="en-US" altLang="ko-KR" sz="1600" b="1" dirty="0">
                          <a:solidFill>
                            <a:schemeClr val="tx1"/>
                          </a:solidFill>
                          <a:latin typeface="Times New Roman" panose="02020603050405020304" pitchFamily="18" charset="0"/>
                          <a:cs typeface="Times New Roman" panose="02020603050405020304" pitchFamily="18" charset="0"/>
                        </a:rPr>
                        <a:t>Rating-based</a:t>
                      </a:r>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600" b="1" dirty="0" err="1">
                          <a:solidFill>
                            <a:schemeClr val="tx1"/>
                          </a:solidFill>
                          <a:latin typeface="Times New Roman" panose="02020603050405020304" pitchFamily="18" charset="0"/>
                          <a:cs typeface="Times New Roman" panose="02020603050405020304" pitchFamily="18" charset="0"/>
                        </a:rPr>
                        <a:t>NeuMF</a:t>
                      </a:r>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dirty="0">
                          <a:solidFill>
                            <a:schemeClr val="tx1"/>
                          </a:solidFill>
                          <a:latin typeface="Times New Roman" panose="02020603050405020304" pitchFamily="18" charset="0"/>
                          <a:cs typeface="Times New Roman" panose="02020603050405020304" pitchFamily="18" charset="0"/>
                        </a:rPr>
                        <a:t>Models user-item interactions using neural network architectures</a:t>
                      </a:r>
                      <a:endParaRPr lang="ko-KR" altLang="en-US" sz="1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b="0" i="0" u="none" baseline="0" dirty="0">
                          <a:solidFill>
                            <a:schemeClr val="tx1"/>
                          </a:solidFill>
                          <a:latin typeface="Times New Roman" panose="02020603050405020304" pitchFamily="18" charset="0"/>
                          <a:cs typeface="Times New Roman" panose="02020603050405020304" pitchFamily="18" charset="0"/>
                        </a:rPr>
                        <a:t>He et al., (2017)</a:t>
                      </a:r>
                      <a:endParaRPr lang="ko-KR" altLang="en-US" sz="1400" b="0" i="0" u="none" baseline="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5555374"/>
                  </a:ext>
                </a:extLst>
              </a:tr>
              <a:tr h="480853">
                <a:tc rowSpan="5">
                  <a:txBody>
                    <a:bodyPr/>
                    <a:lstStyle/>
                    <a:p>
                      <a:pPr algn="ctr" latinLnBrk="1"/>
                      <a:r>
                        <a:rPr lang="en-US" altLang="ko-KR" sz="1600" b="1" dirty="0">
                          <a:solidFill>
                            <a:schemeClr val="tx1"/>
                          </a:solidFill>
                          <a:latin typeface="Times New Roman" panose="02020603050405020304" pitchFamily="18" charset="0"/>
                          <a:cs typeface="Times New Roman" panose="02020603050405020304" pitchFamily="18" charset="0"/>
                        </a:rPr>
                        <a:t>Review-based</a:t>
                      </a:r>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600" b="1" dirty="0" err="1">
                          <a:solidFill>
                            <a:schemeClr val="tx1"/>
                          </a:solidFill>
                          <a:latin typeface="Times New Roman" panose="02020603050405020304" pitchFamily="18" charset="0"/>
                          <a:cs typeface="Times New Roman" panose="02020603050405020304" pitchFamily="18" charset="0"/>
                        </a:rPr>
                        <a:t>DeepCoNN</a:t>
                      </a:r>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dirty="0">
                          <a:solidFill>
                            <a:schemeClr val="tx1"/>
                          </a:solidFill>
                          <a:latin typeface="Times New Roman" panose="02020603050405020304" pitchFamily="18" charset="0"/>
                          <a:cs typeface="Times New Roman" panose="02020603050405020304" pitchFamily="18" charset="0"/>
                        </a:rPr>
                        <a:t>Learns semantic user-item interactions through parallel CNN-based review encoding</a:t>
                      </a:r>
                      <a:endParaRPr lang="ko-KR" altLang="en-US" sz="1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b="0" i="0" u="none" baseline="0" dirty="0">
                          <a:solidFill>
                            <a:schemeClr val="tx1"/>
                          </a:solidFill>
                          <a:latin typeface="Times New Roman" panose="02020603050405020304" pitchFamily="18" charset="0"/>
                          <a:cs typeface="Times New Roman" panose="02020603050405020304" pitchFamily="18" charset="0"/>
                        </a:rPr>
                        <a:t>Zheng et al., (2017)</a:t>
                      </a:r>
                      <a:endParaRPr lang="ko-KR" altLang="en-US" sz="1400" b="0" i="0" u="none" baseline="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7648303"/>
                  </a:ext>
                </a:extLst>
              </a:tr>
              <a:tr h="480853">
                <a:tc vMerge="1">
                  <a:txBody>
                    <a:bodyPr/>
                    <a:lstStyle/>
                    <a:p>
                      <a:pPr algn="ctr" latinLnBrk="1"/>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600" b="1" dirty="0">
                          <a:solidFill>
                            <a:schemeClr val="tx1"/>
                          </a:solidFill>
                          <a:latin typeface="Times New Roman" panose="02020603050405020304" pitchFamily="18" charset="0"/>
                          <a:cs typeface="Times New Roman" panose="02020603050405020304" pitchFamily="18" charset="0"/>
                        </a:rPr>
                        <a:t>NARRE</a:t>
                      </a:r>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dirty="0">
                          <a:solidFill>
                            <a:schemeClr val="tx1"/>
                          </a:solidFill>
                          <a:latin typeface="Times New Roman" panose="02020603050405020304" pitchFamily="18" charset="0"/>
                          <a:cs typeface="Times New Roman" panose="02020603050405020304" pitchFamily="18" charset="0"/>
                        </a:rPr>
                        <a:t>Assigns higher attention weights to informative reviews using review-level attention</a:t>
                      </a:r>
                      <a:endParaRPr lang="ko-KR" altLang="en-US" sz="1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b="0" i="0" u="none" baseline="0" dirty="0">
                          <a:solidFill>
                            <a:schemeClr val="tx1"/>
                          </a:solidFill>
                          <a:latin typeface="Times New Roman" panose="02020603050405020304" pitchFamily="18" charset="0"/>
                          <a:cs typeface="Times New Roman" panose="02020603050405020304" pitchFamily="18" charset="0"/>
                        </a:rPr>
                        <a:t>Chen et al., (2018)</a:t>
                      </a:r>
                      <a:endParaRPr lang="ko-KR" altLang="en-US" sz="1400" b="0" i="0" u="none" baseline="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2641472"/>
                  </a:ext>
                </a:extLst>
              </a:tr>
              <a:tr h="480853">
                <a:tc vMerge="1">
                  <a:txBody>
                    <a:bodyPr/>
                    <a:lstStyle/>
                    <a:p>
                      <a:pPr algn="ctr" latinLnBrk="1"/>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600" b="1" dirty="0">
                          <a:solidFill>
                            <a:schemeClr val="tx1"/>
                          </a:solidFill>
                          <a:latin typeface="Times New Roman" panose="02020603050405020304" pitchFamily="18" charset="0"/>
                          <a:cs typeface="Times New Roman" panose="02020603050405020304" pitchFamily="18" charset="0"/>
                        </a:rPr>
                        <a:t>AENAR</a:t>
                      </a:r>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dirty="0">
                          <a:solidFill>
                            <a:schemeClr val="tx1"/>
                          </a:solidFill>
                          <a:latin typeface="Times New Roman" panose="02020603050405020304" pitchFamily="18" charset="0"/>
                          <a:cs typeface="Times New Roman" panose="02020603050405020304" pitchFamily="18" charset="0"/>
                        </a:rPr>
                        <a:t> Identifies informative aspects using CNNs and aspect-level attention mechanisms</a:t>
                      </a:r>
                      <a:endParaRPr lang="ko-KR" altLang="en-US" sz="1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b="0" i="0" u="none" baseline="0" dirty="0">
                          <a:solidFill>
                            <a:schemeClr val="tx1"/>
                          </a:solidFill>
                          <a:latin typeface="Times New Roman" panose="02020603050405020304" pitchFamily="18" charset="0"/>
                          <a:cs typeface="Times New Roman" panose="02020603050405020304" pitchFamily="18" charset="0"/>
                        </a:rPr>
                        <a:t>Zhang et al., (2022)</a:t>
                      </a:r>
                      <a:endParaRPr lang="ko-KR" altLang="en-US" sz="1400" b="0" i="0" u="none" baseline="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4886730"/>
                  </a:ext>
                </a:extLst>
              </a:tr>
              <a:tr h="480853">
                <a:tc vMerge="1">
                  <a:txBody>
                    <a:bodyPr/>
                    <a:lstStyle/>
                    <a:p>
                      <a:pPr latinLnBrk="1"/>
                      <a:endParaRPr lang="ko-KR" altLang="en-US"/>
                    </a:p>
                  </a:txBody>
                  <a:tcPr/>
                </a:tc>
                <a:tc>
                  <a:txBody>
                    <a:bodyPr/>
                    <a:lstStyle/>
                    <a:p>
                      <a:pPr algn="ctr" latinLnBrk="1"/>
                      <a:r>
                        <a:rPr lang="en-US" altLang="ko-KR" sz="1600" b="1" dirty="0">
                          <a:solidFill>
                            <a:schemeClr val="tx1"/>
                          </a:solidFill>
                          <a:latin typeface="Times New Roman" panose="02020603050405020304" pitchFamily="18" charset="0"/>
                          <a:cs typeface="Times New Roman" panose="02020603050405020304" pitchFamily="18" charset="0"/>
                        </a:rPr>
                        <a:t>MFNR</a:t>
                      </a:r>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200" dirty="0">
                          <a:solidFill>
                            <a:schemeClr val="tx1"/>
                          </a:solidFill>
                          <a:latin typeface="Times New Roman" panose="02020603050405020304" pitchFamily="18" charset="0"/>
                          <a:cs typeface="Times New Roman" panose="02020603050405020304" pitchFamily="18" charset="0"/>
                        </a:rPr>
                        <a:t>Captures feature dependencies and relative importance within reviews using CNNs and self-attention</a:t>
                      </a:r>
                      <a:endParaRPr lang="ko-KR" altLang="en-US" sz="1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400" b="0" i="0" u="none" baseline="0" dirty="0">
                          <a:solidFill>
                            <a:schemeClr val="tx1"/>
                          </a:solidFill>
                          <a:latin typeface="Times New Roman" panose="02020603050405020304" pitchFamily="18" charset="0"/>
                          <a:cs typeface="Times New Roman" panose="02020603050405020304" pitchFamily="18" charset="0"/>
                        </a:rPr>
                        <a:t>Lim et al., (2025)</a:t>
                      </a:r>
                      <a:endParaRPr lang="ko-KR" altLang="en-US" sz="1400" b="0" i="0" u="none" baseline="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4538787"/>
                  </a:ext>
                </a:extLst>
              </a:tr>
              <a:tr h="480853">
                <a:tc vMerge="1">
                  <a:txBody>
                    <a:bodyPr/>
                    <a:lstStyle/>
                    <a:p>
                      <a:pPr algn="ctr" latinLnBrk="1"/>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latinLnBrk="1"/>
                      <a:r>
                        <a:rPr lang="en-US" altLang="ko-KR" sz="1600" b="1" dirty="0">
                          <a:solidFill>
                            <a:schemeClr val="tx1"/>
                          </a:solidFill>
                          <a:latin typeface="Times New Roman" panose="02020603050405020304" pitchFamily="18" charset="0"/>
                          <a:cs typeface="Times New Roman" panose="02020603050405020304" pitchFamily="18" charset="0"/>
                        </a:rPr>
                        <a:t>LCSR</a:t>
                      </a:r>
                      <a:endParaRPr lang="ko-KR" altLang="en-US" sz="16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latinLnBrk="1"/>
                      <a:r>
                        <a:rPr lang="en-US" altLang="ko-KR" sz="1200" dirty="0">
                          <a:solidFill>
                            <a:schemeClr val="tx1"/>
                          </a:solidFill>
                          <a:latin typeface="Times New Roman" panose="02020603050405020304" pitchFamily="18" charset="0"/>
                          <a:cs typeface="Times New Roman" panose="02020603050405020304" pitchFamily="18" charset="0"/>
                        </a:rPr>
                        <a:t>Utilizes LLMs to serialize metadata and reviews for preference extraction</a:t>
                      </a:r>
                      <a:endParaRPr lang="ko-KR" altLang="en-US" sz="1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latinLnBrk="1"/>
                      <a:r>
                        <a:rPr lang="en-US" altLang="ko-KR" sz="1400" dirty="0">
                          <a:solidFill>
                            <a:schemeClr val="tx1"/>
                          </a:solidFill>
                          <a:latin typeface="Times New Roman" panose="02020603050405020304" pitchFamily="18" charset="0"/>
                          <a:cs typeface="Times New Roman" panose="02020603050405020304" pitchFamily="18" charset="0"/>
                        </a:rPr>
                        <a:t>Ours</a:t>
                      </a:r>
                      <a:endParaRPr lang="ko-KR" altLang="en-US" sz="1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53136547"/>
                  </a:ext>
                </a:extLst>
              </a:tr>
            </a:tbl>
          </a:graphicData>
        </a:graphic>
      </p:graphicFrame>
      <p:sp>
        <p:nvSpPr>
          <p:cNvPr id="9" name="TextBox 8">
            <a:extLst>
              <a:ext uri="{FF2B5EF4-FFF2-40B4-BE49-F238E27FC236}">
                <a16:creationId xmlns:a16="http://schemas.microsoft.com/office/drawing/2014/main" id="{62136D6A-207A-4424-ABE4-7D532CA9FA89}"/>
              </a:ext>
            </a:extLst>
          </p:cNvPr>
          <p:cNvSpPr txBox="1"/>
          <p:nvPr/>
        </p:nvSpPr>
        <p:spPr>
          <a:xfrm>
            <a:off x="4444866" y="2519018"/>
            <a:ext cx="3202672"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Table 3. Description of Baseline Models</a:t>
            </a:r>
            <a:endParaRPr lang="ko-KR" altLang="en-US" sz="1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F0DBBEA-F008-D891-01A7-035BCBFC5F34}"/>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3780553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542C9-5080-4F91-2C64-9CC9D5B1BE53}"/>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95BD4090-10D3-EB99-68E6-D8EE47C611C7}"/>
              </a:ext>
            </a:extLst>
          </p:cNvPr>
          <p:cNvSpPr>
            <a:spLocks noGrp="1"/>
          </p:cNvSpPr>
          <p:nvPr>
            <p:ph type="subTitle" idx="1"/>
          </p:nvPr>
        </p:nvSpPr>
        <p:spPr>
          <a:xfrm>
            <a:off x="184848" y="152415"/>
            <a:ext cx="4981512" cy="411018"/>
          </a:xfrm>
        </p:spPr>
        <p:txBody>
          <a:bodyPr anchor="ctr">
            <a:norm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3. Experiments</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1109DC27-6DFB-7693-6868-B0B079EC865D}"/>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5F3CE63-3ABD-6159-6445-B35D477A6B6A}"/>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12</a:t>
            </a:fld>
            <a:endParaRPr lang="ko-KR" altLang="en-US" dirty="0"/>
          </a:p>
        </p:txBody>
      </p:sp>
      <p:pic>
        <p:nvPicPr>
          <p:cNvPr id="2" name="Picture 2" descr="경희대학교">
            <a:extLst>
              <a:ext uri="{FF2B5EF4-FFF2-40B4-BE49-F238E27FC236}">
                <a16:creationId xmlns:a16="http://schemas.microsoft.com/office/drawing/2014/main" id="{8DF6BD3F-48C3-1630-AF5A-695BCE6074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CDBF7685-4BE1-12B7-AAA7-069CD06BDDD6}"/>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3E7BE81B-DC4D-1BDE-76C1-BD2BE2C53875}"/>
              </a:ext>
            </a:extLst>
          </p:cNvPr>
          <p:cNvSpPr txBox="1">
            <a:spLocks/>
          </p:cNvSpPr>
          <p:nvPr/>
        </p:nvSpPr>
        <p:spPr>
          <a:xfrm>
            <a:off x="134142" y="761540"/>
            <a:ext cx="11698809" cy="5635439"/>
          </a:xfrm>
          <a:prstGeom prst="rect">
            <a:avLst/>
          </a:prstGeom>
        </p:spPr>
        <p:txBody>
          <a:bodyPr vert="horz" lIns="91440" tIns="45720" rIns="91440" bIns="45720" rtlCol="0">
            <a:normAutofit lnSpcReduction="10000"/>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AutoNum type="arabicPeriod"/>
            </a:pPr>
            <a:r>
              <a:rPr lang="en-US" altLang="ko-KR" sz="1800" b="1" kern="1000" spc="-10" dirty="0">
                <a:latin typeface="Times New Roman" panose="02020603050405020304" pitchFamily="18" charset="0"/>
                <a:ea typeface="나눔고딕" panose="020D0604000000000000" pitchFamily="50" charset="-127"/>
              </a:rPr>
              <a:t>Validation of Recommendation Performance</a:t>
            </a:r>
            <a:r>
              <a:rPr lang="ko-KR" altLang="en-US" sz="1800" b="1" kern="1000" spc="-10" dirty="0">
                <a:latin typeface="Times New Roman" panose="02020603050405020304" pitchFamily="18" charset="0"/>
                <a:ea typeface="나눔고딕" panose="020D0604000000000000" pitchFamily="50" charset="-127"/>
              </a:rPr>
              <a:t> </a:t>
            </a:r>
            <a:endParaRPr lang="en-US" altLang="ko-KR" sz="1800" b="1" kern="1000" spc="-10" dirty="0">
              <a:latin typeface="Times New Roman" panose="02020603050405020304" pitchFamily="18" charset="0"/>
              <a:ea typeface="나눔고딕" panose="020D0604000000000000" pitchFamily="50" charset="-127"/>
            </a:endParaRP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Compare the rating prediction performance between representative recommendation models and the proposed framework.</a:t>
            </a: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Verify the impact of the proposed LCSR framework on recommendation performance.</a:t>
            </a:r>
            <a:endParaRPr lang="en-US" altLang="ko-KR" sz="1800" b="1" kern="1000" spc="-10" dirty="0">
              <a:latin typeface="Times New Roman" panose="02020603050405020304" pitchFamily="18" charset="0"/>
              <a:ea typeface="나눔고딕" panose="020D0604000000000000" pitchFamily="50" charset="-127"/>
            </a:endParaRPr>
          </a:p>
          <a:p>
            <a:pPr>
              <a:lnSpc>
                <a:spcPct val="150000"/>
              </a:lnSpc>
              <a:buAutoNum type="arabicPeriod"/>
            </a:pPr>
            <a:r>
              <a:rPr lang="en-US" altLang="ko-KR" sz="1800" b="1" kern="1000" spc="-10" dirty="0">
                <a:latin typeface="Times New Roman" panose="02020603050405020304" pitchFamily="18" charset="0"/>
                <a:ea typeface="나눔고딕" panose="020D0604000000000000" pitchFamily="50" charset="-127"/>
              </a:rPr>
              <a:t>Validation of Serialization Effectiveness</a:t>
            </a: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Compare the proposed serialization approach with traditional review preprocessing and aggregation approaches.</a:t>
            </a: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Analyze the effect of serialized data on recommendation performance.</a:t>
            </a:r>
            <a:endParaRPr lang="en-US" altLang="ko-KR" sz="400" kern="1000" dirty="0">
              <a:latin typeface="Times New Roman" panose="02020603050405020304" pitchFamily="18" charset="0"/>
              <a:ea typeface="나눔고딕" panose="020D0604000000000000" pitchFamily="50" charset="-127"/>
            </a:endParaRPr>
          </a:p>
          <a:p>
            <a:pPr>
              <a:lnSpc>
                <a:spcPct val="150000"/>
              </a:lnSpc>
              <a:buAutoNum type="arabicPeriod"/>
            </a:pPr>
            <a:r>
              <a:rPr lang="en-US" altLang="ko-KR" sz="1800" b="1" kern="1000" spc="-10" dirty="0">
                <a:latin typeface="Times New Roman" panose="02020603050405020304" pitchFamily="18" charset="0"/>
                <a:ea typeface="나눔고딕" panose="020D0604000000000000" pitchFamily="50" charset="-127"/>
              </a:rPr>
              <a:t>Comparison of Serialization Strategies</a:t>
            </a: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Compare the proposed serialization prompt with existing serialization approaches such as: Attribute-value listing, Plain text conversion</a:t>
            </a: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Analyze differences in serialization quality and performance according to serialization strategies.</a:t>
            </a:r>
            <a:endParaRPr lang="en-US" altLang="ko-KR" sz="400" kern="1000" dirty="0">
              <a:latin typeface="Times New Roman" panose="02020603050405020304" pitchFamily="18" charset="0"/>
              <a:ea typeface="나눔고딕" panose="020D0604000000000000" pitchFamily="50" charset="-127"/>
            </a:endParaRPr>
          </a:p>
          <a:p>
            <a:pPr>
              <a:lnSpc>
                <a:spcPct val="150000"/>
              </a:lnSpc>
              <a:buAutoNum type="arabicPeriod"/>
            </a:pPr>
            <a:r>
              <a:rPr lang="en-US" altLang="ko-KR" sz="1800" b="1" kern="1000" spc="-10" dirty="0">
                <a:latin typeface="Times New Roman" panose="02020603050405020304" pitchFamily="18" charset="0"/>
                <a:ea typeface="나눔고딕" panose="020D0604000000000000" pitchFamily="50" charset="-127"/>
              </a:rPr>
              <a:t>Ablation Study</a:t>
            </a: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Compare model performance using: Non-serialized raw data, Review-only serialized data, Metadata-only serialized data</a:t>
            </a: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Investigate the influence of serialization strategies under the same recommendation architecture.</a:t>
            </a:r>
          </a:p>
        </p:txBody>
      </p:sp>
      <p:sp>
        <p:nvSpPr>
          <p:cNvPr id="6" name="TextBox 5">
            <a:extLst>
              <a:ext uri="{FF2B5EF4-FFF2-40B4-BE49-F238E27FC236}">
                <a16:creationId xmlns:a16="http://schemas.microsoft.com/office/drawing/2014/main" id="{6A97947C-92B7-BAA1-77B6-102F8A902D31}"/>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3680160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4. Prompt Design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13</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Previous LLM-based serialization studies demonstrated that reconstructing tabular data into textual formats is effective for improving semantic understanding</a:t>
            </a:r>
            <a:r>
              <a:rPr lang="en-US" altLang="ko-KR" sz="1600" b="1" kern="1000" spc="-10" dirty="0">
                <a:latin typeface="Times New Roman" panose="02020603050405020304" pitchFamily="18" charset="0"/>
                <a:ea typeface="나눔고딕" panose="020D0604000000000000" pitchFamily="50" charset="-127"/>
              </a:rPr>
              <a:t>.</a:t>
            </a:r>
            <a:endParaRPr lang="en-US" altLang="ko-KR" sz="1600" kern="1000" dirty="0">
              <a:latin typeface="Times New Roman" panose="02020603050405020304" pitchFamily="18" charset="0"/>
              <a:ea typeface="나눔고딕" panose="020D0604000000000000" pitchFamily="50" charset="-127"/>
            </a:endParaRPr>
          </a:p>
        </p:txBody>
      </p:sp>
      <p:graphicFrame>
        <p:nvGraphicFramePr>
          <p:cNvPr id="6" name="표 5">
            <a:extLst>
              <a:ext uri="{FF2B5EF4-FFF2-40B4-BE49-F238E27FC236}">
                <a16:creationId xmlns:a16="http://schemas.microsoft.com/office/drawing/2014/main" id="{B972B09E-45ED-6458-EAAE-2B95C09621D2}"/>
              </a:ext>
            </a:extLst>
          </p:cNvPr>
          <p:cNvGraphicFramePr>
            <a:graphicFrameLocks noGrp="1"/>
          </p:cNvGraphicFramePr>
          <p:nvPr>
            <p:extLst>
              <p:ext uri="{D42A27DB-BD31-4B8C-83A1-F6EECF244321}">
                <p14:modId xmlns:p14="http://schemas.microsoft.com/office/powerpoint/2010/main" val="2848664320"/>
              </p:ext>
            </p:extLst>
          </p:nvPr>
        </p:nvGraphicFramePr>
        <p:xfrm>
          <a:off x="444502" y="2182597"/>
          <a:ext cx="11302997" cy="4099947"/>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4203772715"/>
                    </a:ext>
                  </a:extLst>
                </a:gridCol>
                <a:gridCol w="1662543">
                  <a:extLst>
                    <a:ext uri="{9D8B030D-6E8A-4147-A177-3AD203B41FA5}">
                      <a16:colId xmlns:a16="http://schemas.microsoft.com/office/drawing/2014/main" val="2295465168"/>
                    </a:ext>
                  </a:extLst>
                </a:gridCol>
                <a:gridCol w="2998357">
                  <a:extLst>
                    <a:ext uri="{9D8B030D-6E8A-4147-A177-3AD203B41FA5}">
                      <a16:colId xmlns:a16="http://schemas.microsoft.com/office/drawing/2014/main" val="1273138521"/>
                    </a:ext>
                  </a:extLst>
                </a:gridCol>
                <a:gridCol w="4444997">
                  <a:extLst>
                    <a:ext uri="{9D8B030D-6E8A-4147-A177-3AD203B41FA5}">
                      <a16:colId xmlns:a16="http://schemas.microsoft.com/office/drawing/2014/main" val="3724495907"/>
                    </a:ext>
                  </a:extLst>
                </a:gridCol>
              </a:tblGrid>
              <a:tr h="0">
                <a:tc>
                  <a:txBody>
                    <a:bodyPr/>
                    <a:lstStyle/>
                    <a:p>
                      <a:pPr algn="ctr" latinLnBrk="1">
                        <a:lnSpc>
                          <a:spcPts val="2000"/>
                        </a:lnSpc>
                      </a:pPr>
                      <a:r>
                        <a:rPr lang="en-US" altLang="ko-KR" sz="1600" baseline="0" dirty="0">
                          <a:solidFill>
                            <a:schemeClr val="tx1"/>
                          </a:solidFill>
                          <a:latin typeface="Times New Roman" panose="02020603050405020304" pitchFamily="18" charset="0"/>
                          <a:ea typeface="나눔고딕" panose="020D0604000000000000" pitchFamily="50" charset="-127"/>
                        </a:rPr>
                        <a:t>References</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latinLnBrk="1">
                        <a:lnSpc>
                          <a:spcPts val="2000"/>
                        </a:lnSpc>
                      </a:pPr>
                      <a:r>
                        <a:rPr lang="en-US" altLang="ko-KR" sz="1600" baseline="0" dirty="0">
                          <a:solidFill>
                            <a:schemeClr val="tx1"/>
                          </a:solidFill>
                          <a:latin typeface="Times New Roman" panose="02020603050405020304" pitchFamily="18" charset="0"/>
                          <a:ea typeface="나눔고딕" panose="020D0604000000000000" pitchFamily="50" charset="-127"/>
                        </a:rPr>
                        <a:t>Research</a:t>
                      </a:r>
                      <a:r>
                        <a:rPr lang="ko-KR" altLang="en-US" sz="1600" baseline="0" dirty="0">
                          <a:solidFill>
                            <a:schemeClr val="tx1"/>
                          </a:solidFill>
                          <a:latin typeface="Times New Roman" panose="02020603050405020304" pitchFamily="18" charset="0"/>
                          <a:ea typeface="나눔고딕" panose="020D0604000000000000" pitchFamily="50" charset="-127"/>
                        </a:rPr>
                        <a:t> </a:t>
                      </a:r>
                      <a:r>
                        <a:rPr lang="en-US" altLang="ko-KR" sz="1600" baseline="0" dirty="0">
                          <a:solidFill>
                            <a:schemeClr val="tx1"/>
                          </a:solidFill>
                          <a:latin typeface="Times New Roman" panose="02020603050405020304" pitchFamily="18" charset="0"/>
                          <a:ea typeface="나눔고딕" panose="020D0604000000000000" pitchFamily="50" charset="-127"/>
                        </a:rPr>
                        <a:t>Topics</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latinLnBrk="1">
                        <a:lnSpc>
                          <a:spcPts val="2000"/>
                        </a:lnSpc>
                      </a:pPr>
                      <a:r>
                        <a:rPr lang="en-US" altLang="ko-KR" sz="1600" baseline="0" dirty="0">
                          <a:solidFill>
                            <a:schemeClr val="tx1"/>
                          </a:solidFill>
                          <a:latin typeface="Times New Roman" panose="02020603050405020304" pitchFamily="18" charset="0"/>
                          <a:ea typeface="나눔고딕" panose="020D0604000000000000" pitchFamily="50" charset="-127"/>
                        </a:rPr>
                        <a:t>Prompt Strategies</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latinLnBrk="1">
                        <a:lnSpc>
                          <a:spcPts val="2000"/>
                        </a:lnSpc>
                      </a:pPr>
                      <a:r>
                        <a:rPr lang="en-US" altLang="ko-KR" sz="1600" baseline="0" dirty="0">
                          <a:solidFill>
                            <a:schemeClr val="tx1"/>
                          </a:solidFill>
                          <a:latin typeface="Times New Roman" panose="02020603050405020304" pitchFamily="18" charset="0"/>
                          <a:ea typeface="나눔고딕" panose="020D0604000000000000" pitchFamily="50" charset="-127"/>
                        </a:rPr>
                        <a:t>Results</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2292436187"/>
                  </a:ext>
                </a:extLst>
              </a:tr>
              <a:tr h="374082">
                <a:tc>
                  <a:txBody>
                    <a:bodyPr/>
                    <a:lstStyle/>
                    <a:p>
                      <a:pPr marL="0" marR="0" lvl="0" indent="0" algn="ctr" defTabSz="914400" rtl="0" eaLnBrk="1" fontAlgn="auto" latinLnBrk="1" hangingPunct="1">
                        <a:lnSpc>
                          <a:spcPts val="2000"/>
                        </a:lnSpc>
                        <a:spcBef>
                          <a:spcPts val="0"/>
                        </a:spcBef>
                        <a:spcAft>
                          <a:spcPts val="0"/>
                        </a:spcAft>
                        <a:buClrTx/>
                        <a:buSzTx/>
                        <a:buFontTx/>
                        <a:buNone/>
                        <a:tabLst/>
                        <a:defRPr/>
                      </a:pPr>
                      <a:r>
                        <a:rPr lang="en-US" altLang="ko-KR" sz="1400" kern="1000" baseline="0" dirty="0" err="1">
                          <a:latin typeface="Times New Roman" panose="02020603050405020304" pitchFamily="18" charset="0"/>
                          <a:ea typeface="나눔고딕" panose="020D0604000000000000" pitchFamily="50" charset="-127"/>
                        </a:rPr>
                        <a:t>Hegselmann</a:t>
                      </a:r>
                      <a:r>
                        <a:rPr lang="en-US" altLang="ko-KR" sz="1400" kern="1000" baseline="0" dirty="0">
                          <a:latin typeface="Times New Roman" panose="02020603050405020304" pitchFamily="18" charset="0"/>
                          <a:ea typeface="나눔고딕" panose="020D0604000000000000" pitchFamily="50" charset="-127"/>
                        </a:rPr>
                        <a:t> et al. (2023)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latinLnBrk="1">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Tabular Data Classification</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latinLnBrk="0">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Serialize Tabular Row into Natural Language </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latinLnBrk="0">
                        <a:lnSpc>
                          <a:spcPts val="2000"/>
                        </a:lnSpc>
                      </a:pPr>
                      <a:r>
                        <a:rPr lang="en-US" altLang="ko-KR" sz="1400" b="1" baseline="0" dirty="0">
                          <a:solidFill>
                            <a:schemeClr val="tx1"/>
                          </a:solidFill>
                          <a:latin typeface="Times New Roman" panose="02020603050405020304" pitchFamily="18" charset="0"/>
                          <a:ea typeface="나눔고딕" panose="020D0604000000000000" pitchFamily="50" charset="-127"/>
                        </a:rPr>
                        <a:t>Natural language serialization </a:t>
                      </a:r>
                      <a:r>
                        <a:rPr lang="en-US" altLang="ko-KR" sz="1400" b="0" baseline="0" dirty="0">
                          <a:solidFill>
                            <a:schemeClr val="tx1"/>
                          </a:solidFill>
                          <a:latin typeface="Times New Roman" panose="02020603050405020304" pitchFamily="18" charset="0"/>
                          <a:ea typeface="나눔고딕" panose="020D0604000000000000" pitchFamily="50" charset="-127"/>
                        </a:rPr>
                        <a:t>prompts are more effective for tabular data classification.</a:t>
                      </a:r>
                      <a:endParaRPr lang="ko-KR" altLang="en-US" sz="1400" b="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575431"/>
                  </a:ext>
                </a:extLst>
              </a:tr>
              <a:tr h="322102">
                <a:tc>
                  <a:txBody>
                    <a:bodyPr/>
                    <a:lstStyle/>
                    <a:p>
                      <a:pPr marL="0" marR="0" lvl="0" indent="0" algn="ctr" defTabSz="914400" rtl="0" eaLnBrk="1" fontAlgn="auto" latinLnBrk="1" hangingPunct="1">
                        <a:lnSpc>
                          <a:spcPts val="2000"/>
                        </a:lnSpc>
                        <a:spcBef>
                          <a:spcPts val="0"/>
                        </a:spcBef>
                        <a:spcAft>
                          <a:spcPts val="0"/>
                        </a:spcAft>
                        <a:buClrTx/>
                        <a:buSzTx/>
                        <a:buFontTx/>
                        <a:buNone/>
                        <a:tabLst/>
                        <a:defRPr/>
                      </a:pPr>
                      <a:r>
                        <a:rPr lang="en-US" altLang="ko-KR" sz="1400" b="0" i="0" u="none" kern="1000" baseline="0" dirty="0">
                          <a:latin typeface="Times New Roman" panose="02020603050405020304" pitchFamily="18" charset="0"/>
                          <a:ea typeface="나눔고딕" panose="020D0604000000000000" pitchFamily="50" charset="-127"/>
                        </a:rPr>
                        <a:t>Azime et al. (2025)</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latinLnBrk="1">
                        <a:lnSpc>
                          <a:spcPts val="2000"/>
                        </a:lnSpc>
                      </a:pP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latinLnBrk="0">
                        <a:lnSpc>
                          <a:spcPts val="2000"/>
                        </a:lnSpc>
                      </a:pPr>
                      <a:endParaRPr lang="ko-KR" altLang="en-US" sz="1400" kern="1200" baseline="0" dirty="0">
                        <a:solidFill>
                          <a:schemeClr val="tx1"/>
                        </a:solidFill>
                        <a:latin typeface="Times New Roman" panose="02020603050405020304" pitchFamily="18" charset="0"/>
                        <a:ea typeface="나눔고딕" panose="020D0604000000000000" pitchFamily="50" charset="-127"/>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latinLnBrk="0">
                        <a:lnSpc>
                          <a:spcPts val="2000"/>
                        </a:lnSpc>
                      </a:pPr>
                      <a:endParaRPr lang="en-US" altLang="ko-KR"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63880673"/>
                  </a:ext>
                </a:extLst>
              </a:tr>
              <a:tr h="524418">
                <a:tc>
                  <a:txBody>
                    <a:bodyPr/>
                    <a:lstStyle/>
                    <a:p>
                      <a:pPr marL="0" marR="0" lvl="0" indent="0" algn="ctr" defTabSz="914400" rtl="0" eaLnBrk="1" fontAlgn="auto" latinLnBrk="1" hangingPunct="1">
                        <a:lnSpc>
                          <a:spcPts val="2000"/>
                        </a:lnSpc>
                        <a:spcBef>
                          <a:spcPts val="0"/>
                        </a:spcBef>
                        <a:spcAft>
                          <a:spcPts val="0"/>
                        </a:spcAft>
                        <a:buClrTx/>
                        <a:buSzTx/>
                        <a:buFontTx/>
                        <a:buNone/>
                        <a:tabLst/>
                        <a:defRPr/>
                      </a:pPr>
                      <a:r>
                        <a:rPr lang="en-US" altLang="ko-KR" sz="1400" kern="1000" baseline="0" dirty="0">
                          <a:latin typeface="Times New Roman" panose="02020603050405020304" pitchFamily="18" charset="0"/>
                          <a:ea typeface="나눔고딕" panose="020D0604000000000000" pitchFamily="50" charset="-127"/>
                        </a:rPr>
                        <a:t>Sui et al. (2024)</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Understanding Table</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a:lnSpc>
                          <a:spcPts val="2000"/>
                        </a:lnSpc>
                      </a:pPr>
                      <a:r>
                        <a:rPr lang="en-US" altLang="ko-KR" sz="1400" kern="1200" baseline="0" dirty="0">
                          <a:solidFill>
                            <a:schemeClr val="tx1"/>
                          </a:solidFill>
                          <a:latin typeface="Times New Roman" panose="02020603050405020304" pitchFamily="18" charset="0"/>
                          <a:ea typeface="나눔고딕" panose="020D0604000000000000" pitchFamily="50" charset="-127"/>
                          <a:cs typeface="+mn-cs"/>
                        </a:rPr>
                        <a:t>A two-stage prompting approach that generates intermediate structured knowledge for the target task</a:t>
                      </a:r>
                      <a:endParaRPr lang="ko-KR" altLang="en-US" sz="1400" kern="1200" baseline="0" dirty="0">
                        <a:solidFill>
                          <a:schemeClr val="tx1"/>
                        </a:solidFill>
                        <a:latin typeface="Times New Roman" panose="02020603050405020304" pitchFamily="18" charset="0"/>
                        <a:ea typeface="나눔고딕" panose="020D0604000000000000" pitchFamily="50" charset="-127"/>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Incorporating intermediate structured knowledge improves downstream task performance.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4595290"/>
                  </a:ext>
                </a:extLst>
              </a:tr>
              <a:tr h="0">
                <a:tc>
                  <a:txBody>
                    <a:bodyPr/>
                    <a:lstStyle/>
                    <a:p>
                      <a:pPr marL="0" marR="0" lvl="0" indent="0" algn="ctr" defTabSz="914400" rtl="0" eaLnBrk="1" fontAlgn="auto" latinLnBrk="1" hangingPunct="1">
                        <a:lnSpc>
                          <a:spcPts val="2000"/>
                        </a:lnSpc>
                        <a:spcBef>
                          <a:spcPts val="0"/>
                        </a:spcBef>
                        <a:spcAft>
                          <a:spcPts val="0"/>
                        </a:spcAft>
                        <a:buClrTx/>
                        <a:buSzTx/>
                        <a:buFontTx/>
                        <a:buNone/>
                        <a:tabLst/>
                        <a:defRPr/>
                      </a:pPr>
                      <a:r>
                        <a:rPr lang="en-US" altLang="ko-KR" sz="1400" kern="1000" baseline="0" dirty="0">
                          <a:latin typeface="Times New Roman" panose="02020603050405020304" pitchFamily="18" charset="0"/>
                          <a:ea typeface="나눔고딕" panose="020D0604000000000000" pitchFamily="50" charset="-127"/>
                        </a:rPr>
                        <a:t>Bajaj &amp; </a:t>
                      </a:r>
                      <a:r>
                        <a:rPr lang="en-US" altLang="ko-KR" sz="1400" kern="1000" baseline="0" dirty="0" err="1">
                          <a:latin typeface="Times New Roman" panose="02020603050405020304" pitchFamily="18" charset="0"/>
                          <a:ea typeface="나눔고딕" panose="020D0604000000000000" pitchFamily="50" charset="-127"/>
                        </a:rPr>
                        <a:t>Borhan</a:t>
                      </a:r>
                      <a:r>
                        <a:rPr lang="en-US" altLang="ko-KR" sz="1400" kern="1000" baseline="0" dirty="0">
                          <a:latin typeface="Times New Roman" panose="02020603050405020304" pitchFamily="18" charset="0"/>
                          <a:ea typeface="나눔고딕" panose="020D0604000000000000" pitchFamily="50" charset="-127"/>
                        </a:rPr>
                        <a:t> (2024) </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Text</a:t>
                      </a:r>
                      <a:r>
                        <a:rPr lang="ko-KR" altLang="en-US" sz="1400" baseline="0" dirty="0">
                          <a:solidFill>
                            <a:schemeClr val="tx1"/>
                          </a:solidFill>
                          <a:latin typeface="Times New Roman" panose="02020603050405020304" pitchFamily="18" charset="0"/>
                          <a:ea typeface="나눔고딕" panose="020D0604000000000000" pitchFamily="50" charset="-127"/>
                        </a:rPr>
                        <a:t> </a:t>
                      </a:r>
                      <a:r>
                        <a:rPr lang="en-US" altLang="ko-KR" sz="1400" baseline="0" dirty="0">
                          <a:solidFill>
                            <a:schemeClr val="tx1"/>
                          </a:solidFill>
                          <a:latin typeface="Times New Roman" panose="02020603050405020304" pitchFamily="18" charset="0"/>
                          <a:ea typeface="나눔고딕" panose="020D0604000000000000" pitchFamily="50" charset="-127"/>
                        </a:rPr>
                        <a:t>Summarization</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Zero-shot vs Roleplay style</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hangingPunct="1">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The </a:t>
                      </a:r>
                      <a:r>
                        <a:rPr lang="en-US" altLang="ko-KR" sz="1400" b="1" baseline="0" dirty="0">
                          <a:solidFill>
                            <a:schemeClr val="tx1"/>
                          </a:solidFill>
                          <a:latin typeface="Times New Roman" panose="02020603050405020304" pitchFamily="18" charset="0"/>
                          <a:ea typeface="나눔고딕" panose="020D0604000000000000" pitchFamily="50" charset="-127"/>
                        </a:rPr>
                        <a:t>structure</a:t>
                      </a:r>
                      <a:r>
                        <a:rPr lang="en-US" altLang="ko-KR" sz="1400" baseline="0" dirty="0">
                          <a:solidFill>
                            <a:schemeClr val="tx1"/>
                          </a:solidFill>
                          <a:latin typeface="Times New Roman" panose="02020603050405020304" pitchFamily="18" charset="0"/>
                          <a:ea typeface="나눔고딕" panose="020D0604000000000000" pitchFamily="50" charset="-127"/>
                        </a:rPr>
                        <a:t> of prompts has a greater impact than individual prompt </a:t>
                      </a:r>
                      <a:r>
                        <a:rPr lang="en-US" altLang="ko-KR" sz="1400" b="1" baseline="0" dirty="0">
                          <a:solidFill>
                            <a:schemeClr val="tx1"/>
                          </a:solidFill>
                          <a:latin typeface="Times New Roman" panose="02020603050405020304" pitchFamily="18" charset="0"/>
                          <a:ea typeface="나눔고딕" panose="020D0604000000000000" pitchFamily="50" charset="-127"/>
                        </a:rPr>
                        <a:t>words</a:t>
                      </a:r>
                      <a:r>
                        <a:rPr lang="en-US" altLang="ko-KR" sz="1400" baseline="0" dirty="0">
                          <a:solidFill>
                            <a:schemeClr val="tx1"/>
                          </a:solidFill>
                          <a:latin typeface="Times New Roman" panose="02020603050405020304" pitchFamily="18" charset="0"/>
                          <a:ea typeface="나눔고딕" panose="020D0604000000000000" pitchFamily="50" charset="-127"/>
                        </a:rPr>
                        <a:t> in extracting rich semantic information.</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06201"/>
                  </a:ext>
                </a:extLst>
              </a:tr>
              <a:tr h="0">
                <a:tc>
                  <a:txBody>
                    <a:bodyPr/>
                    <a:lstStyle/>
                    <a:p>
                      <a:pPr marL="0" marR="0" lvl="0" indent="0" algn="ctr" defTabSz="914400" rtl="0" eaLnBrk="1" fontAlgn="auto" latinLnBrk="1" hangingPunct="1">
                        <a:lnSpc>
                          <a:spcPts val="2000"/>
                        </a:lnSpc>
                        <a:spcBef>
                          <a:spcPts val="0"/>
                        </a:spcBef>
                        <a:spcAft>
                          <a:spcPts val="0"/>
                        </a:spcAft>
                        <a:buClrTx/>
                        <a:buSzTx/>
                        <a:buFontTx/>
                        <a:buNone/>
                        <a:tabLst/>
                        <a:defRPr/>
                      </a:pPr>
                      <a:r>
                        <a:rPr lang="en-US" altLang="ko-KR" sz="1400" kern="1000" baseline="0" dirty="0">
                          <a:latin typeface="Times New Roman" panose="02020603050405020304" pitchFamily="18" charset="0"/>
                          <a:ea typeface="나눔고딕" panose="020D0604000000000000" pitchFamily="50" charset="-127"/>
                        </a:rPr>
                        <a:t>Tang et al. (2024) </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Review</a:t>
                      </a:r>
                      <a:r>
                        <a:rPr lang="ko-KR" altLang="en-US" sz="1400" baseline="0" dirty="0">
                          <a:solidFill>
                            <a:schemeClr val="tx1"/>
                          </a:solidFill>
                          <a:latin typeface="Times New Roman" panose="02020603050405020304" pitchFamily="18" charset="0"/>
                          <a:ea typeface="나눔고딕" panose="020D0604000000000000" pitchFamily="50" charset="-127"/>
                        </a:rPr>
                        <a:t> </a:t>
                      </a:r>
                      <a:r>
                        <a:rPr lang="en-US" altLang="ko-KR" sz="1400" baseline="0" dirty="0">
                          <a:solidFill>
                            <a:schemeClr val="tx1"/>
                          </a:solidFill>
                          <a:latin typeface="Times New Roman" panose="02020603050405020304" pitchFamily="18" charset="0"/>
                          <a:ea typeface="나눔고딕" panose="020D0604000000000000" pitchFamily="50" charset="-127"/>
                        </a:rPr>
                        <a:t>Summarization</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hangingPunct="1">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Task definition, format specification, and role/instruction-based prompting</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More structured prompts enable clearer </a:t>
                      </a:r>
                      <a:r>
                        <a:rPr lang="en-US" altLang="ko-KR" sz="1400" b="1" baseline="0" dirty="0">
                          <a:solidFill>
                            <a:schemeClr val="tx1"/>
                          </a:solidFill>
                          <a:latin typeface="Times New Roman" panose="02020603050405020304" pitchFamily="18" charset="0"/>
                          <a:ea typeface="나눔고딕" panose="020D0604000000000000" pitchFamily="50" charset="-127"/>
                        </a:rPr>
                        <a:t>aspect extraction and sentiment classification</a:t>
                      </a:r>
                      <a:r>
                        <a:rPr lang="en-US" altLang="ko-KR" sz="1400" baseline="0" dirty="0">
                          <a:solidFill>
                            <a:schemeClr val="tx1"/>
                          </a:solidFill>
                          <a:latin typeface="Times New Roman" panose="02020603050405020304" pitchFamily="18" charset="0"/>
                          <a:ea typeface="나눔고딕" panose="020D0604000000000000" pitchFamily="50" charset="-127"/>
                        </a:rPr>
                        <a:t>.</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0758865"/>
                  </a:ext>
                </a:extLst>
              </a:tr>
              <a:tr h="0">
                <a:tc>
                  <a:txBody>
                    <a:bodyPr/>
                    <a:lstStyle/>
                    <a:p>
                      <a:pPr marL="0" marR="0" lvl="0" indent="0" algn="ctr" defTabSz="914400" rtl="0" eaLnBrk="1" fontAlgn="auto" latinLnBrk="1" hangingPunct="1">
                        <a:lnSpc>
                          <a:spcPts val="2000"/>
                        </a:lnSpc>
                        <a:spcBef>
                          <a:spcPts val="0"/>
                        </a:spcBef>
                        <a:spcAft>
                          <a:spcPts val="0"/>
                        </a:spcAft>
                        <a:buClrTx/>
                        <a:buSzTx/>
                        <a:buFontTx/>
                        <a:buNone/>
                        <a:tabLst/>
                        <a:defRPr/>
                      </a:pPr>
                      <a:r>
                        <a:rPr lang="en-US" altLang="ko-KR" sz="1400" kern="1000" baseline="0" dirty="0">
                          <a:latin typeface="Times New Roman" panose="02020603050405020304" pitchFamily="18" charset="0"/>
                          <a:ea typeface="나눔고딕" panose="020D0604000000000000" pitchFamily="50" charset="-127"/>
                        </a:rPr>
                        <a:t>Mufti et al. (2025)</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Ranking</a:t>
                      </a:r>
                      <a:r>
                        <a:rPr lang="ko-KR" altLang="en-US" sz="1400" baseline="0" dirty="0">
                          <a:solidFill>
                            <a:schemeClr val="tx1"/>
                          </a:solidFill>
                          <a:latin typeface="Times New Roman" panose="02020603050405020304" pitchFamily="18" charset="0"/>
                          <a:ea typeface="나눔고딕" panose="020D0604000000000000" pitchFamily="50" charset="-127"/>
                        </a:rPr>
                        <a:t> </a:t>
                      </a:r>
                      <a:r>
                        <a:rPr lang="en-US" altLang="ko-KR" sz="1400" baseline="0" dirty="0">
                          <a:solidFill>
                            <a:schemeClr val="tx1"/>
                          </a:solidFill>
                          <a:latin typeface="Times New Roman" panose="02020603050405020304" pitchFamily="18" charset="0"/>
                          <a:ea typeface="나눔고딕" panose="020D0604000000000000" pitchFamily="50" charset="-127"/>
                        </a:rPr>
                        <a:t>Reviews</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Extracting user preferences through ABSA and incorporating them into prompts</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a:lnSpc>
                          <a:spcPts val="2000"/>
                        </a:lnSpc>
                      </a:pPr>
                      <a:r>
                        <a:rPr lang="en-US" altLang="ko-KR" sz="1400" baseline="0" dirty="0">
                          <a:solidFill>
                            <a:schemeClr val="tx1"/>
                          </a:solidFill>
                          <a:latin typeface="Times New Roman" panose="02020603050405020304" pitchFamily="18" charset="0"/>
                          <a:ea typeface="나눔고딕" panose="020D0604000000000000" pitchFamily="50" charset="-127"/>
                        </a:rPr>
                        <a:t>Preference-aware prompts can improve the </a:t>
                      </a:r>
                      <a:r>
                        <a:rPr lang="en-US" altLang="ko-KR" sz="1400" b="1" baseline="0" dirty="0">
                          <a:solidFill>
                            <a:schemeClr val="tx1"/>
                          </a:solidFill>
                          <a:latin typeface="Times New Roman" panose="02020603050405020304" pitchFamily="18" charset="0"/>
                          <a:ea typeface="나눔고딕" panose="020D0604000000000000" pitchFamily="50" charset="-127"/>
                        </a:rPr>
                        <a:t>quality of personalized summarization</a:t>
                      </a:r>
                      <a:r>
                        <a:rPr lang="en-US" altLang="ko-KR" sz="1400" baseline="0" dirty="0">
                          <a:solidFill>
                            <a:schemeClr val="tx1"/>
                          </a:solidFill>
                          <a:latin typeface="Times New Roman" panose="02020603050405020304" pitchFamily="18" charset="0"/>
                          <a:ea typeface="나눔고딕" panose="020D0604000000000000" pitchFamily="50" charset="-127"/>
                        </a:rPr>
                        <a:t>.</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53610040"/>
                  </a:ext>
                </a:extLst>
              </a:tr>
            </a:tbl>
          </a:graphicData>
        </a:graphic>
      </p:graphicFrame>
      <p:sp>
        <p:nvSpPr>
          <p:cNvPr id="8" name="TextBox 7">
            <a:extLst>
              <a:ext uri="{FF2B5EF4-FFF2-40B4-BE49-F238E27FC236}">
                <a16:creationId xmlns:a16="http://schemas.microsoft.com/office/drawing/2014/main" id="{95EAB2F2-077E-42E4-890E-494F7CD2E4EC}"/>
              </a:ext>
            </a:extLst>
          </p:cNvPr>
          <p:cNvSpPr txBox="1"/>
          <p:nvPr/>
        </p:nvSpPr>
        <p:spPr>
          <a:xfrm>
            <a:off x="4487451" y="1824018"/>
            <a:ext cx="4653325"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Table 4. Prior Studies on LLM-based Data Reconstruction</a:t>
            </a:r>
            <a:endParaRPr lang="ko-KR" altLang="en-US"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D8A8F83-70D9-3683-9FCD-EDA106ECC65A}"/>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641635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4. Prompt Design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14</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Prompt Component Design</a:t>
            </a:r>
          </a:p>
          <a:p>
            <a:pPr lvl="1">
              <a:lnSpc>
                <a:spcPct val="150000"/>
              </a:lnSpc>
              <a:buFont typeface="나눔고딕" panose="020D0604000000000000" pitchFamily="50" charset="-127"/>
              <a:buChar char="‐"/>
            </a:pPr>
            <a:r>
              <a:rPr lang="en-US" altLang="ko-KR" sz="1600" kern="1000" dirty="0">
                <a:latin typeface="Times New Roman" panose="02020603050405020304" pitchFamily="18" charset="0"/>
                <a:ea typeface="나눔고딕" panose="020D0604000000000000" pitchFamily="50" charset="-127"/>
              </a:rPr>
              <a:t>Based on prior studies, we defined three core prompt components.</a:t>
            </a:r>
          </a:p>
          <a:p>
            <a:pPr lvl="1">
              <a:lnSpc>
                <a:spcPct val="150000"/>
              </a:lnSpc>
              <a:buFont typeface="나눔고딕" panose="020D0604000000000000" pitchFamily="50" charset="-127"/>
              <a:buChar char="‐"/>
            </a:pPr>
            <a:endParaRPr lang="en-US" altLang="ko-KR" sz="1600" kern="1000" dirty="0">
              <a:latin typeface="Times New Roman" panose="02020603050405020304" pitchFamily="18" charset="0"/>
              <a:ea typeface="나눔고딕" panose="020D0604000000000000" pitchFamily="50" charset="-127"/>
            </a:endParaRPr>
          </a:p>
          <a:p>
            <a:pPr lvl="1">
              <a:lnSpc>
                <a:spcPct val="150000"/>
              </a:lnSpc>
              <a:buFont typeface="나눔고딕" panose="020D0604000000000000" pitchFamily="50" charset="-127"/>
              <a:buChar char="‐"/>
            </a:pPr>
            <a:endParaRPr lang="en-US" altLang="ko-KR" sz="1600" kern="1000" dirty="0">
              <a:latin typeface="Times New Roman" panose="02020603050405020304" pitchFamily="18" charset="0"/>
              <a:ea typeface="나눔고딕" panose="020D0604000000000000" pitchFamily="50" charset="-127"/>
            </a:endParaRPr>
          </a:p>
          <a:p>
            <a:pPr lvl="1">
              <a:lnSpc>
                <a:spcPct val="150000"/>
              </a:lnSpc>
              <a:buFont typeface="나눔고딕" panose="020D0604000000000000" pitchFamily="50" charset="-127"/>
              <a:buChar char="‐"/>
            </a:pPr>
            <a:endParaRPr lang="en-US" altLang="ko-KR" sz="1600" kern="1000" dirty="0">
              <a:latin typeface="Times New Roman" panose="02020603050405020304" pitchFamily="18" charset="0"/>
              <a:ea typeface="나눔고딕" panose="020D0604000000000000" pitchFamily="50" charset="-127"/>
            </a:endParaRPr>
          </a:p>
          <a:p>
            <a:pPr lvl="1">
              <a:lnSpc>
                <a:spcPct val="150000"/>
              </a:lnSpc>
              <a:buFont typeface="나눔고딕" panose="020D0604000000000000" pitchFamily="50" charset="-127"/>
              <a:buChar char="‐"/>
            </a:pPr>
            <a:endParaRPr lang="en-US" altLang="ko-KR" sz="1600" kern="1000" dirty="0">
              <a:latin typeface="Times New Roman" panose="02020603050405020304" pitchFamily="18" charset="0"/>
              <a:ea typeface="나눔고딕" panose="020D0604000000000000" pitchFamily="50" charset="-127"/>
            </a:endParaRPr>
          </a:p>
          <a:p>
            <a:pPr marL="0" indent="0">
              <a:lnSpc>
                <a:spcPct val="150000"/>
              </a:lnSpc>
              <a:buNone/>
            </a:pPr>
            <a:endParaRPr lang="en-US" altLang="ko-KR" sz="1600" dirty="0">
              <a:latin typeface="Times New Roman" panose="02020603050405020304" pitchFamily="18" charset="0"/>
              <a:ea typeface="나눔고딕" panose="020D0604000000000000" pitchFamily="50" charset="-127"/>
            </a:endParaRPr>
          </a:p>
        </p:txBody>
      </p:sp>
      <p:graphicFrame>
        <p:nvGraphicFramePr>
          <p:cNvPr id="6" name="표 5">
            <a:extLst>
              <a:ext uri="{FF2B5EF4-FFF2-40B4-BE49-F238E27FC236}">
                <a16:creationId xmlns:a16="http://schemas.microsoft.com/office/drawing/2014/main" id="{B972B09E-45ED-6458-EAAE-2B95C09621D2}"/>
              </a:ext>
            </a:extLst>
          </p:cNvPr>
          <p:cNvGraphicFramePr>
            <a:graphicFrameLocks noGrp="1"/>
          </p:cNvGraphicFramePr>
          <p:nvPr>
            <p:extLst>
              <p:ext uri="{D42A27DB-BD31-4B8C-83A1-F6EECF244321}">
                <p14:modId xmlns:p14="http://schemas.microsoft.com/office/powerpoint/2010/main" val="2331345617"/>
              </p:ext>
            </p:extLst>
          </p:nvPr>
        </p:nvGraphicFramePr>
        <p:xfrm>
          <a:off x="740090" y="2608492"/>
          <a:ext cx="10917338" cy="3060765"/>
        </p:xfrm>
        <a:graphic>
          <a:graphicData uri="http://schemas.openxmlformats.org/drawingml/2006/table">
            <a:tbl>
              <a:tblPr firstRow="1" bandRow="1">
                <a:tableStyleId>{5C22544A-7EE6-4342-B048-85BDC9FD1C3A}</a:tableStyleId>
              </a:tblPr>
              <a:tblGrid>
                <a:gridCol w="1641549">
                  <a:extLst>
                    <a:ext uri="{9D8B030D-6E8A-4147-A177-3AD203B41FA5}">
                      <a16:colId xmlns:a16="http://schemas.microsoft.com/office/drawing/2014/main" val="4203772715"/>
                    </a:ext>
                  </a:extLst>
                </a:gridCol>
                <a:gridCol w="9275789">
                  <a:extLst>
                    <a:ext uri="{9D8B030D-6E8A-4147-A177-3AD203B41FA5}">
                      <a16:colId xmlns:a16="http://schemas.microsoft.com/office/drawing/2014/main" val="2295465168"/>
                    </a:ext>
                  </a:extLst>
                </a:gridCol>
              </a:tblGrid>
              <a:tr h="0">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Component</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latinLnBrk="1"/>
                      <a:r>
                        <a:rPr lang="en-US" altLang="ko-KR" sz="1600" baseline="0" dirty="0">
                          <a:solidFill>
                            <a:schemeClr val="tx1"/>
                          </a:solidFill>
                          <a:latin typeface="Times New Roman" panose="02020603050405020304" pitchFamily="18" charset="0"/>
                          <a:ea typeface="나눔고딕" panose="020D0604000000000000" pitchFamily="50" charset="-127"/>
                        </a:rPr>
                        <a:t>Description and Example</a:t>
                      </a:r>
                      <a:endParaRPr lang="ko-KR" altLang="en-US" sz="16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2292436187"/>
                  </a:ext>
                </a:extLst>
              </a:tr>
              <a:tr h="0">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600" kern="1000" baseline="0" dirty="0">
                          <a:latin typeface="Times New Roman" panose="02020603050405020304" pitchFamily="18" charset="0"/>
                          <a:ea typeface="나눔고딕" panose="020D0604000000000000" pitchFamily="50" charset="-127"/>
                        </a:rPr>
                        <a:t>Instruction</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lnSpc>
                          <a:spcPct val="150000"/>
                        </a:lnSpc>
                      </a:pPr>
                      <a:r>
                        <a:rPr lang="en-US" altLang="ko-KR" sz="1600" b="1" baseline="0" dirty="0">
                          <a:solidFill>
                            <a:schemeClr val="tx1"/>
                          </a:solidFill>
                          <a:latin typeface="Times New Roman" panose="02020603050405020304" pitchFamily="18" charset="0"/>
                          <a:ea typeface="나눔고딕" panose="020D0604000000000000" pitchFamily="50" charset="-127"/>
                        </a:rPr>
                        <a:t>Specifies the core task using actionable verbs and detailed requirements.</a:t>
                      </a:r>
                      <a:endParaRPr lang="ko-KR" altLang="en-US" sz="1600" b="1"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06201"/>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1600" kern="1000" baseline="0" dirty="0">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lnSpc>
                          <a:spcPct val="150000"/>
                        </a:lnSpc>
                      </a:pPr>
                      <a:r>
                        <a:rPr lang="en-US" altLang="ko-KR" sz="1400" baseline="0" dirty="0">
                          <a:solidFill>
                            <a:schemeClr val="tx1"/>
                          </a:solidFill>
                          <a:latin typeface="Times New Roman" panose="02020603050405020304" pitchFamily="18" charset="0"/>
                          <a:ea typeface="나눔고딕" panose="020D0604000000000000" pitchFamily="50" charset="-127"/>
                        </a:rPr>
                        <a:t>Ex) “Summarize this article in 200 words or more.”</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73733898"/>
                  </a:ext>
                </a:extLst>
              </a:tr>
              <a:tr h="0">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600" kern="1000" baseline="0" dirty="0">
                          <a:latin typeface="Times New Roman" panose="02020603050405020304" pitchFamily="18" charset="0"/>
                          <a:ea typeface="나눔고딕" panose="020D0604000000000000" pitchFamily="50" charset="-127"/>
                        </a:rPr>
                        <a:t>Constraint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lnSpc>
                          <a:spcPct val="150000"/>
                        </a:lnSpc>
                      </a:pPr>
                      <a:r>
                        <a:rPr lang="en-US" altLang="ko-KR" sz="1600" b="1" baseline="0" dirty="0">
                          <a:solidFill>
                            <a:schemeClr val="tx1"/>
                          </a:solidFill>
                          <a:latin typeface="Times New Roman" panose="02020603050405020304" pitchFamily="18" charset="0"/>
                          <a:ea typeface="나눔고딕" panose="020D0604000000000000" pitchFamily="50" charset="-127"/>
                        </a:rPr>
                        <a:t>Restricts response format, length, and prohibited patterns to reduce hallucination and redundancy.</a:t>
                      </a:r>
                      <a:endParaRPr lang="ko-KR" altLang="en-US" sz="1600" b="1"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53610040"/>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1600" kern="1000" baseline="0" dirty="0">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lnSpc>
                          <a:spcPct val="150000"/>
                        </a:lnSpc>
                      </a:pPr>
                      <a:r>
                        <a:rPr lang="en-US" altLang="ko-KR" sz="1400" baseline="0" dirty="0">
                          <a:solidFill>
                            <a:schemeClr val="tx1"/>
                          </a:solidFill>
                          <a:latin typeface="Times New Roman" panose="02020603050405020304" pitchFamily="18" charset="0"/>
                          <a:ea typeface="나눔고딕" panose="020D0604000000000000" pitchFamily="50" charset="-127"/>
                        </a:rPr>
                        <a:t>Ex) “1. do not say any words or characters before repeating the request.”</a:t>
                      </a:r>
                      <a:endParaRPr lang="ko-KR" altLang="en-US" sz="1400" baseline="0" dirty="0">
                        <a:solidFill>
                          <a:schemeClr val="tx1"/>
                        </a:solidFill>
                        <a:latin typeface="Times New Roman" panose="02020603050405020304" pitchFamily="18" charset="0"/>
                        <a:ea typeface="나눔고딕" panose="020D0604000000000000" pitchFamily="50" charset="-127"/>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717271"/>
                  </a:ext>
                </a:extLst>
              </a:tr>
              <a:tr h="0">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600" kern="1000" baseline="0" dirty="0">
                          <a:latin typeface="Times New Roman" panose="02020603050405020304" pitchFamily="18" charset="0"/>
                          <a:ea typeface="나눔고딕" panose="020D0604000000000000" pitchFamily="50" charset="-127"/>
                        </a:rPr>
                        <a:t>Context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lnSpc>
                          <a:spcPct val="150000"/>
                        </a:lnSpc>
                      </a:pPr>
                      <a:r>
                        <a:rPr lang="en-US" altLang="ko-KR" sz="1600" b="1" baseline="0" dirty="0">
                          <a:solidFill>
                            <a:schemeClr val="tx1"/>
                          </a:solidFill>
                          <a:latin typeface="Times New Roman" panose="02020603050405020304" pitchFamily="18" charset="0"/>
                          <a:ea typeface="나눔고딕" panose="020D0604000000000000" pitchFamily="50" charset="-127"/>
                        </a:rPr>
                        <a:t>Provides task-related background knowledge and input characteristics to improve semantic understanding.</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8056145"/>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1600" kern="1000" baseline="0" dirty="0">
                        <a:latin typeface="Times New Roman" panose="02020603050405020304" pitchFamily="18" charset="0"/>
                        <a:ea typeface="나눔고딕" panose="020D0604000000000000" pitchFamily="50" charset="-127"/>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lnSpc>
                          <a:spcPct val="150000"/>
                        </a:lnSpc>
                      </a:pPr>
                      <a:r>
                        <a:rPr lang="en-US" altLang="ko-KR" sz="1400" baseline="0" dirty="0">
                          <a:solidFill>
                            <a:schemeClr val="tx1"/>
                          </a:solidFill>
                          <a:latin typeface="Times New Roman" panose="02020603050405020304" pitchFamily="18" charset="0"/>
                          <a:ea typeface="나눔고딕" panose="020D0604000000000000" pitchFamily="50" charset="-127"/>
                        </a:rPr>
                        <a:t>Ex) “Below are user reviews, each separated by newline escape.”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2320122"/>
                  </a:ext>
                </a:extLst>
              </a:tr>
            </a:tbl>
          </a:graphicData>
        </a:graphic>
      </p:graphicFrame>
      <p:sp>
        <p:nvSpPr>
          <p:cNvPr id="8" name="TextBox 7">
            <a:extLst>
              <a:ext uri="{FF2B5EF4-FFF2-40B4-BE49-F238E27FC236}">
                <a16:creationId xmlns:a16="http://schemas.microsoft.com/office/drawing/2014/main" id="{95EAB2F2-077E-42E4-890E-494F7CD2E4EC}"/>
              </a:ext>
            </a:extLst>
          </p:cNvPr>
          <p:cNvSpPr txBox="1"/>
          <p:nvPr/>
        </p:nvSpPr>
        <p:spPr>
          <a:xfrm>
            <a:off x="4375167" y="2251188"/>
            <a:ext cx="3431837"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Table 5. Definition of Prompt Components</a:t>
            </a:r>
            <a:endParaRPr lang="ko-KR" altLang="en-US"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A9C4E57-94AB-CE78-0941-FD830C633758}"/>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2325027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4. Prompt Design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15</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dirty="0">
                <a:latin typeface="Times New Roman" panose="02020603050405020304" pitchFamily="18" charset="0"/>
                <a:ea typeface="나눔고딕" panose="020D0604000000000000" pitchFamily="50" charset="-127"/>
              </a:rPr>
              <a:t>Llama3.1-8B-Instruct was used for LLM-based serialization.</a:t>
            </a:r>
          </a:p>
          <a:p>
            <a:pPr lvl="1">
              <a:lnSpc>
                <a:spcPct val="150000"/>
              </a:lnSpc>
              <a:buFont typeface="나눔고딕" panose="020D0604000000000000" pitchFamily="50" charset="-127"/>
              <a:buChar char="‐"/>
            </a:pPr>
            <a:r>
              <a:rPr lang="en-US" altLang="ko-KR" sz="1600" dirty="0">
                <a:latin typeface="Times New Roman" panose="02020603050405020304" pitchFamily="18" charset="0"/>
                <a:ea typeface="나눔고딕" panose="020D0604000000000000" pitchFamily="50" charset="-127"/>
                <a:cs typeface="Times New Roman" panose="02020603050405020304" pitchFamily="18" charset="0"/>
              </a:rPr>
              <a:t>The proposed LCSR framework is not dependent on a specific LLM and can be generalized to various LLM architectures.</a:t>
            </a:r>
          </a:p>
          <a:p>
            <a:pPr lvl="1">
              <a:lnSpc>
                <a:spcPct val="150000"/>
              </a:lnSpc>
              <a:buFont typeface="나눔고딕" panose="020D0604000000000000" pitchFamily="50" charset="-127"/>
              <a:buChar char="‐"/>
            </a:pPr>
            <a:r>
              <a:rPr kumimoji="0" lang="en-US" altLang="ko-KR" sz="1600" b="0" i="0" u="none" strike="noStrike" kern="1000" cap="none" spc="0" normalizeH="0" baseline="0" noProof="0" dirty="0">
                <a:ln>
                  <a:noFill/>
                </a:ln>
                <a:solidFill>
                  <a:prstClr val="black"/>
                </a:solidFill>
                <a:effectLst/>
                <a:uLnTx/>
                <a:uFillTx/>
                <a:latin typeface="Times New Roman" panose="02020603050405020304" pitchFamily="18" charset="0"/>
                <a:ea typeface="나눔고딕" panose="020D0604000000000000" pitchFamily="50" charset="-127"/>
                <a:cs typeface="+mn-cs"/>
              </a:rPr>
              <a:t>Llama was selected because it is one of the representative LLMs widely used </a:t>
            </a:r>
            <a:r>
              <a:rPr kumimoji="0" lang="en-US" altLang="ko-KR" sz="1600" b="0" i="0" u="none" strike="noStrike" kern="1000" cap="none" spc="0" normalizeH="0" baseline="0" noProof="0">
                <a:ln>
                  <a:noFill/>
                </a:ln>
                <a:solidFill>
                  <a:prstClr val="black"/>
                </a:solidFill>
                <a:effectLst/>
                <a:uLnTx/>
                <a:uFillTx/>
                <a:latin typeface="Times New Roman" panose="02020603050405020304" pitchFamily="18" charset="0"/>
                <a:ea typeface="나눔고딕" panose="020D0604000000000000" pitchFamily="50" charset="-127"/>
                <a:cs typeface="+mn-cs"/>
              </a:rPr>
              <a:t>in recommender </a:t>
            </a:r>
            <a:r>
              <a:rPr kumimoji="0" lang="en-US" altLang="ko-KR" sz="1600" b="0" i="0" u="none" strike="noStrike" kern="1000" cap="none" spc="0" normalizeH="0" baseline="0" noProof="0" dirty="0">
                <a:ln>
                  <a:noFill/>
                </a:ln>
                <a:solidFill>
                  <a:prstClr val="black"/>
                </a:solidFill>
                <a:effectLst/>
                <a:uLnTx/>
                <a:uFillTx/>
                <a:latin typeface="Times New Roman" panose="02020603050405020304" pitchFamily="18" charset="0"/>
                <a:ea typeface="나눔고딕" panose="020D0604000000000000" pitchFamily="50" charset="-127"/>
                <a:cs typeface="+mn-cs"/>
              </a:rPr>
              <a:t>system research.</a:t>
            </a: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marL="285750" indent="-285750">
              <a:lnSpc>
                <a:spcPct val="150000"/>
              </a:lnSpc>
            </a:pPr>
            <a:endParaRPr lang="en-US" altLang="ko-KR" sz="1100" b="1" kern="1000" spc="-10" dirty="0">
              <a:latin typeface="Times New Roman" panose="02020603050405020304" pitchFamily="18" charset="0"/>
              <a:ea typeface="나눔고딕" panose="020D0604000000000000" pitchFamily="50" charset="-127"/>
            </a:endParaRP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p:txBody>
      </p:sp>
      <p:graphicFrame>
        <p:nvGraphicFramePr>
          <p:cNvPr id="36" name="표 35">
            <a:extLst>
              <a:ext uri="{FF2B5EF4-FFF2-40B4-BE49-F238E27FC236}">
                <a16:creationId xmlns:a16="http://schemas.microsoft.com/office/drawing/2014/main" id="{463DCE71-B6C7-4AA3-90D4-15E1A2ED7AB6}"/>
              </a:ext>
            </a:extLst>
          </p:cNvPr>
          <p:cNvGraphicFramePr>
            <a:graphicFrameLocks noGrp="1"/>
          </p:cNvGraphicFramePr>
          <p:nvPr>
            <p:extLst>
              <p:ext uri="{D42A27DB-BD31-4B8C-83A1-F6EECF244321}">
                <p14:modId xmlns:p14="http://schemas.microsoft.com/office/powerpoint/2010/main" val="3774336407"/>
              </p:ext>
            </p:extLst>
          </p:nvPr>
        </p:nvGraphicFramePr>
        <p:xfrm>
          <a:off x="663535" y="4669782"/>
          <a:ext cx="10687127" cy="1598517"/>
        </p:xfrm>
        <a:graphic>
          <a:graphicData uri="http://schemas.openxmlformats.org/drawingml/2006/table">
            <a:tbl>
              <a:tblPr firstRow="1" bandRow="1">
                <a:tableStyleId>{5940675A-B579-460E-94D1-54222C63F5DA}</a:tableStyleId>
              </a:tblPr>
              <a:tblGrid>
                <a:gridCol w="2184521">
                  <a:extLst>
                    <a:ext uri="{9D8B030D-6E8A-4147-A177-3AD203B41FA5}">
                      <a16:colId xmlns:a16="http://schemas.microsoft.com/office/drawing/2014/main" val="884034018"/>
                    </a:ext>
                  </a:extLst>
                </a:gridCol>
                <a:gridCol w="6212977">
                  <a:extLst>
                    <a:ext uri="{9D8B030D-6E8A-4147-A177-3AD203B41FA5}">
                      <a16:colId xmlns:a16="http://schemas.microsoft.com/office/drawing/2014/main" val="884907547"/>
                    </a:ext>
                  </a:extLst>
                </a:gridCol>
                <a:gridCol w="2289629">
                  <a:extLst>
                    <a:ext uri="{9D8B030D-6E8A-4147-A177-3AD203B41FA5}">
                      <a16:colId xmlns:a16="http://schemas.microsoft.com/office/drawing/2014/main" val="1669292283"/>
                    </a:ext>
                  </a:extLst>
                </a:gridCol>
              </a:tblGrid>
              <a:tr h="303779">
                <a:tc>
                  <a:txBody>
                    <a:bodyPr/>
                    <a:lstStyle/>
                    <a:p>
                      <a:pPr algn="ctr" latinLnBrk="1">
                        <a:lnSpc>
                          <a:spcPct val="100000"/>
                        </a:lnSpc>
                      </a:pPr>
                      <a:r>
                        <a:rPr lang="en-US" altLang="ko-KR" sz="1600" b="1" baseline="0" dirty="0">
                          <a:latin typeface="Times New Roman" panose="02020603050405020304" pitchFamily="18" charset="0"/>
                          <a:ea typeface="나눔고딕" panose="020D0604000000000000" pitchFamily="50" charset="-127"/>
                        </a:rPr>
                        <a:t>Parameter</a:t>
                      </a:r>
                      <a:endParaRPr lang="ko-KR" altLang="en-US" sz="1600" b="1" baseline="0" dirty="0">
                        <a:latin typeface="Times New Roman" panose="02020603050405020304" pitchFamily="18" charset="0"/>
                        <a:ea typeface="나눔고딕" panose="020D0604000000000000" pitchFamily="50" charset="-127"/>
                      </a:endParaRPr>
                    </a:p>
                  </a:txBody>
                  <a:tcPr marL="0" marR="0" marT="0" marB="0" anchor="ctr">
                    <a:solidFill>
                      <a:srgbClr val="C9C9C9"/>
                    </a:solidFill>
                  </a:tcPr>
                </a:tc>
                <a:tc>
                  <a:txBody>
                    <a:bodyPr/>
                    <a:lstStyle/>
                    <a:p>
                      <a:pPr algn="ctr" latinLnBrk="1">
                        <a:lnSpc>
                          <a:spcPct val="100000"/>
                        </a:lnSpc>
                      </a:pPr>
                      <a:r>
                        <a:rPr lang="en-US" altLang="ko-KR" sz="1600" b="1" baseline="0" dirty="0">
                          <a:latin typeface="Times New Roman" panose="02020603050405020304" pitchFamily="18" charset="0"/>
                          <a:ea typeface="나눔고딕" panose="020D0604000000000000" pitchFamily="50" charset="-127"/>
                        </a:rPr>
                        <a:t>Description</a:t>
                      </a:r>
                      <a:endParaRPr lang="ko-KR" altLang="en-US" sz="1600" b="1" baseline="0" dirty="0">
                        <a:latin typeface="Times New Roman" panose="02020603050405020304" pitchFamily="18" charset="0"/>
                        <a:ea typeface="나눔고딕" panose="020D0604000000000000" pitchFamily="50" charset="-127"/>
                      </a:endParaRPr>
                    </a:p>
                  </a:txBody>
                  <a:tcPr marL="0" marR="0" marT="0" marB="0" anchor="ctr">
                    <a:solidFill>
                      <a:srgbClr val="C9C9C9"/>
                    </a:solidFill>
                  </a:tcPr>
                </a:tc>
                <a:tc>
                  <a:txBody>
                    <a:bodyPr/>
                    <a:lstStyle/>
                    <a:p>
                      <a:pPr algn="ctr" latinLnBrk="1">
                        <a:lnSpc>
                          <a:spcPct val="100000"/>
                        </a:lnSpc>
                      </a:pPr>
                      <a:r>
                        <a:rPr lang="en-US" altLang="ko-KR" sz="1600" b="1" baseline="0" dirty="0">
                          <a:latin typeface="Times New Roman" panose="02020603050405020304" pitchFamily="18" charset="0"/>
                          <a:ea typeface="나눔고딕" panose="020D0604000000000000" pitchFamily="50" charset="-127"/>
                        </a:rPr>
                        <a:t>Values</a:t>
                      </a:r>
                      <a:endParaRPr lang="ko-KR" altLang="en-US" sz="1600" b="1" baseline="0" dirty="0">
                        <a:latin typeface="Times New Roman" panose="02020603050405020304" pitchFamily="18" charset="0"/>
                        <a:ea typeface="나눔고딕" panose="020D0604000000000000" pitchFamily="50" charset="-127"/>
                      </a:endParaRPr>
                    </a:p>
                  </a:txBody>
                  <a:tcPr marL="0" marR="0" marT="0" marB="0" anchor="ctr">
                    <a:solidFill>
                      <a:srgbClr val="C9C9C9"/>
                    </a:solidFill>
                  </a:tcPr>
                </a:tc>
                <a:extLst>
                  <a:ext uri="{0D108BD9-81ED-4DB2-BD59-A6C34878D82A}">
                    <a16:rowId xmlns:a16="http://schemas.microsoft.com/office/drawing/2014/main" val="720086363"/>
                  </a:ext>
                </a:extLst>
              </a:tr>
              <a:tr h="849548">
                <a:tc>
                  <a:txBody>
                    <a:bodyPr/>
                    <a:lstStyle/>
                    <a:p>
                      <a:pPr algn="ctr" latinLnBrk="1">
                        <a:lnSpc>
                          <a:spcPct val="100000"/>
                        </a:lnSpc>
                      </a:pPr>
                      <a:r>
                        <a:rPr lang="en-US" altLang="ko-KR" sz="1600" baseline="0" dirty="0">
                          <a:latin typeface="Times New Roman" panose="02020603050405020304" pitchFamily="18" charset="0"/>
                          <a:ea typeface="나눔고딕" panose="020D0604000000000000" pitchFamily="50" charset="-127"/>
                        </a:rPr>
                        <a:t>Do sample</a:t>
                      </a:r>
                      <a:endParaRPr lang="ko-KR" altLang="en-US" sz="1600" baseline="0" dirty="0">
                        <a:latin typeface="Times New Roman" panose="02020603050405020304" pitchFamily="18" charset="0"/>
                        <a:ea typeface="나눔고딕" panose="020D0604000000000000" pitchFamily="50" charset="-127"/>
                      </a:endParaRPr>
                    </a:p>
                  </a:txBody>
                  <a:tcPr marL="0" marR="0" marT="0" marB="0" anchor="ctr"/>
                </a:tc>
                <a:tc>
                  <a:txBody>
                    <a:bodyPr/>
                    <a:lstStyle/>
                    <a:p>
                      <a:pPr algn="l" latinLnBrk="1">
                        <a:lnSpc>
                          <a:spcPct val="100000"/>
                        </a:lnSpc>
                      </a:pPr>
                      <a:r>
                        <a:rPr lang="ko-KR" altLang="en-US" sz="1600" baseline="0" dirty="0">
                          <a:latin typeface="Times New Roman" panose="02020603050405020304" pitchFamily="18" charset="0"/>
                          <a:ea typeface="나눔고딕" panose="020D0604000000000000" pitchFamily="50" charset="-127"/>
                        </a:rPr>
                        <a:t> </a:t>
                      </a:r>
                      <a:r>
                        <a:rPr lang="en-US" altLang="ko-KR" sz="1600" baseline="0" dirty="0">
                          <a:latin typeface="Times New Roman" panose="02020603050405020304" pitchFamily="18" charset="0"/>
                          <a:ea typeface="나눔고딕" panose="020D0604000000000000" pitchFamily="50" charset="-127"/>
                        </a:rPr>
                        <a:t>Determines whether probabilistic sampling is applied(</a:t>
                      </a:r>
                      <a:r>
                        <a:rPr lang="en-US" altLang="ko-KR" sz="1600" b="1" baseline="0" dirty="0">
                          <a:latin typeface="Times New Roman" panose="02020603050405020304" pitchFamily="18" charset="0"/>
                          <a:ea typeface="나눔고딕" panose="020D0604000000000000" pitchFamily="50" charset="-127"/>
                        </a:rPr>
                        <a:t>True, False</a:t>
                      </a:r>
                      <a:r>
                        <a:rPr lang="en-US" altLang="ko-KR" sz="1600" baseline="0" dirty="0">
                          <a:latin typeface="Times New Roman" panose="02020603050405020304" pitchFamily="18" charset="0"/>
                          <a:ea typeface="나눔고딕" panose="020D0604000000000000" pitchFamily="50" charset="-127"/>
                        </a:rPr>
                        <a:t>).</a:t>
                      </a:r>
                    </a:p>
                    <a:p>
                      <a:pPr algn="l" latinLnBrk="1">
                        <a:lnSpc>
                          <a:spcPct val="150000"/>
                        </a:lnSpc>
                      </a:pPr>
                      <a:r>
                        <a:rPr lang="ko-KR" altLang="en-US" sz="1600" baseline="0" dirty="0">
                          <a:latin typeface="Times New Roman" panose="02020603050405020304" pitchFamily="18" charset="0"/>
                          <a:ea typeface="나눔고딕" panose="020D0604000000000000" pitchFamily="50" charset="-127"/>
                        </a:rPr>
                        <a:t> </a:t>
                      </a:r>
                      <a:r>
                        <a:rPr lang="en-US" altLang="ko-KR" sz="1600" baseline="0" dirty="0">
                          <a:latin typeface="Times New Roman" panose="02020603050405020304" pitchFamily="18" charset="0"/>
                          <a:ea typeface="나눔고딕" panose="020D0604000000000000" pitchFamily="50" charset="-127"/>
                        </a:rPr>
                        <a:t>When disabled (False), the model generates more stable and reproducible outputs.</a:t>
                      </a:r>
                      <a:endParaRPr lang="ko-KR" altLang="en-US" sz="1600" baseline="0" dirty="0">
                        <a:latin typeface="Times New Roman" panose="02020603050405020304" pitchFamily="18" charset="0"/>
                        <a:ea typeface="나눔고딕" panose="020D0604000000000000" pitchFamily="50" charset="-127"/>
                      </a:endParaRPr>
                    </a:p>
                  </a:txBody>
                  <a:tcPr marL="0" marR="0" marT="0" marB="0" anchor="ctr"/>
                </a:tc>
                <a:tc>
                  <a:txBody>
                    <a:bodyPr/>
                    <a:lstStyle/>
                    <a:p>
                      <a:pPr algn="ctr" latinLnBrk="1">
                        <a:lnSpc>
                          <a:spcPct val="100000"/>
                        </a:lnSpc>
                      </a:pPr>
                      <a:r>
                        <a:rPr lang="en-US" altLang="ko-KR" sz="1600" baseline="0" dirty="0">
                          <a:latin typeface="Times New Roman" panose="02020603050405020304" pitchFamily="18" charset="0"/>
                          <a:ea typeface="나눔고딕" panose="020D0604000000000000" pitchFamily="50" charset="-127"/>
                        </a:rPr>
                        <a:t>False</a:t>
                      </a:r>
                      <a:endParaRPr lang="ko-KR" altLang="en-US" sz="1600" baseline="0" dirty="0">
                        <a:latin typeface="Times New Roman" panose="02020603050405020304" pitchFamily="18" charset="0"/>
                        <a:ea typeface="나눔고딕" panose="020D0604000000000000" pitchFamily="50" charset="-127"/>
                      </a:endParaRPr>
                    </a:p>
                  </a:txBody>
                  <a:tcPr marL="0" marR="0" marT="0" marB="0" anchor="ctr"/>
                </a:tc>
                <a:extLst>
                  <a:ext uri="{0D108BD9-81ED-4DB2-BD59-A6C34878D82A}">
                    <a16:rowId xmlns:a16="http://schemas.microsoft.com/office/drawing/2014/main" val="655114822"/>
                  </a:ext>
                </a:extLst>
              </a:tr>
              <a:tr h="363193">
                <a:tc>
                  <a:txBody>
                    <a:bodyPr/>
                    <a:lstStyle/>
                    <a:p>
                      <a:pPr algn="ctr" latinLnBrk="1">
                        <a:lnSpc>
                          <a:spcPct val="100000"/>
                        </a:lnSpc>
                      </a:pPr>
                      <a:r>
                        <a:rPr lang="en-US" altLang="ko-KR" sz="1600" baseline="0" dirty="0">
                          <a:latin typeface="Times New Roman" panose="02020603050405020304" pitchFamily="18" charset="0"/>
                          <a:ea typeface="나눔고딕" panose="020D0604000000000000" pitchFamily="50" charset="-127"/>
                        </a:rPr>
                        <a:t>Max new tokens</a:t>
                      </a:r>
                      <a:endParaRPr lang="ko-KR" altLang="en-US" sz="1600" baseline="0" dirty="0">
                        <a:latin typeface="Times New Roman" panose="02020603050405020304" pitchFamily="18" charset="0"/>
                        <a:ea typeface="나눔고딕" panose="020D0604000000000000" pitchFamily="50" charset="-127"/>
                      </a:endParaRPr>
                    </a:p>
                  </a:txBody>
                  <a:tcPr marL="0" marR="0" marT="0" marB="0" anchor="ctr"/>
                </a:tc>
                <a:tc>
                  <a:txBody>
                    <a:bodyPr/>
                    <a:lstStyle/>
                    <a:p>
                      <a:pPr algn="l" latinLnBrk="1">
                        <a:lnSpc>
                          <a:spcPct val="100000"/>
                        </a:lnSpc>
                      </a:pPr>
                      <a:r>
                        <a:rPr lang="ko-KR" altLang="en-US" sz="1600" baseline="0" dirty="0">
                          <a:latin typeface="Times New Roman" panose="02020603050405020304" pitchFamily="18" charset="0"/>
                          <a:ea typeface="나눔고딕" panose="020D0604000000000000" pitchFamily="50" charset="-127"/>
                        </a:rPr>
                        <a:t> </a:t>
                      </a:r>
                      <a:r>
                        <a:rPr lang="en-US" altLang="ko-KR" sz="1600" baseline="0" dirty="0">
                          <a:latin typeface="Times New Roman" panose="02020603050405020304" pitchFamily="18" charset="0"/>
                          <a:ea typeface="나눔고딕" panose="020D0604000000000000" pitchFamily="50" charset="-127"/>
                        </a:rPr>
                        <a:t>Sets the maximum number of output tokens generated by the model.</a:t>
                      </a:r>
                    </a:p>
                  </a:txBody>
                  <a:tcPr marL="0" marR="0" marT="0" marB="0" anchor="ctr"/>
                </a:tc>
                <a:tc>
                  <a:txBody>
                    <a:bodyPr/>
                    <a:lstStyle/>
                    <a:p>
                      <a:pPr algn="ctr" latinLnBrk="1">
                        <a:lnSpc>
                          <a:spcPct val="100000"/>
                        </a:lnSpc>
                      </a:pPr>
                      <a:r>
                        <a:rPr lang="en-US" altLang="ko-KR" sz="1600" baseline="0" dirty="0">
                          <a:latin typeface="Times New Roman" panose="02020603050405020304" pitchFamily="18" charset="0"/>
                          <a:ea typeface="나눔고딕" panose="020D0604000000000000" pitchFamily="50" charset="-127"/>
                        </a:rPr>
                        <a:t>512</a:t>
                      </a:r>
                      <a:endParaRPr lang="ko-KR" altLang="en-US" sz="1600" baseline="0" dirty="0">
                        <a:latin typeface="Times New Roman" panose="02020603050405020304" pitchFamily="18" charset="0"/>
                        <a:ea typeface="나눔고딕" panose="020D0604000000000000" pitchFamily="50" charset="-127"/>
                      </a:endParaRPr>
                    </a:p>
                  </a:txBody>
                  <a:tcPr marL="0" marR="0" marT="0" marB="0" anchor="ctr"/>
                </a:tc>
                <a:extLst>
                  <a:ext uri="{0D108BD9-81ED-4DB2-BD59-A6C34878D82A}">
                    <a16:rowId xmlns:a16="http://schemas.microsoft.com/office/drawing/2014/main" val="1731555576"/>
                  </a:ext>
                </a:extLst>
              </a:tr>
            </a:tbl>
          </a:graphicData>
        </a:graphic>
      </p:graphicFrame>
      <p:pic>
        <p:nvPicPr>
          <p:cNvPr id="11" name="그림 10">
            <a:extLst>
              <a:ext uri="{FF2B5EF4-FFF2-40B4-BE49-F238E27FC236}">
                <a16:creationId xmlns:a16="http://schemas.microsoft.com/office/drawing/2014/main" id="{0423A67C-088F-4716-D32E-DE32FA9470D2}"/>
              </a:ext>
            </a:extLst>
          </p:cNvPr>
          <p:cNvPicPr>
            <a:picLocks noChangeAspect="1"/>
          </p:cNvPicPr>
          <p:nvPr/>
        </p:nvPicPr>
        <p:blipFill>
          <a:blip r:embed="rId4"/>
          <a:stretch>
            <a:fillRect/>
          </a:stretch>
        </p:blipFill>
        <p:spPr>
          <a:xfrm>
            <a:off x="2771736" y="2179608"/>
            <a:ext cx="6470726" cy="1721204"/>
          </a:xfrm>
          <a:prstGeom prst="rect">
            <a:avLst/>
          </a:prstGeom>
        </p:spPr>
      </p:pic>
      <p:sp>
        <p:nvSpPr>
          <p:cNvPr id="12" name="TextBox 11">
            <a:extLst>
              <a:ext uri="{FF2B5EF4-FFF2-40B4-BE49-F238E27FC236}">
                <a16:creationId xmlns:a16="http://schemas.microsoft.com/office/drawing/2014/main" id="{5B594057-990B-4FC0-AAC9-D40C2A8E3741}"/>
              </a:ext>
            </a:extLst>
          </p:cNvPr>
          <p:cNvSpPr txBox="1"/>
          <p:nvPr/>
        </p:nvSpPr>
        <p:spPr>
          <a:xfrm>
            <a:off x="4474553" y="4318974"/>
            <a:ext cx="3233065"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Table 6. LLM Hyperparameter Settings</a:t>
            </a:r>
            <a:endParaRPr lang="ko-KR" altLang="en-US" sz="1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C47192E-4CB0-4E66-87EF-8B6595EFCF6F}"/>
              </a:ext>
            </a:extLst>
          </p:cNvPr>
          <p:cNvSpPr txBox="1"/>
          <p:nvPr/>
        </p:nvSpPr>
        <p:spPr>
          <a:xfrm>
            <a:off x="4079392" y="3943843"/>
            <a:ext cx="3855414"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Figure 3. Introduction to Llama-3.1-8B-Instruct</a:t>
            </a:r>
            <a:endParaRPr lang="ko-KR" altLang="en-US" sz="1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4B1DC02-70A0-129A-55BC-FD681B9DBA5B}"/>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3398404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4. Prompt Design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16</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Item Metadata Serialization Prompt </a:t>
            </a:r>
            <a:r>
              <a:rPr lang="en-US" altLang="ko-KR" sz="1400" b="1" kern="1000" spc="-10" dirty="0">
                <a:latin typeface="Times New Roman" panose="02020603050405020304" pitchFamily="18" charset="0"/>
                <a:ea typeface="나눔고딕" panose="020D0604000000000000" pitchFamily="50" charset="-127"/>
              </a:rPr>
              <a:t>(Details in Appendix C)</a:t>
            </a:r>
            <a:r>
              <a:rPr lang="ko-KR" altLang="en-US" sz="1400" b="1" kern="1000" spc="-10" dirty="0">
                <a:latin typeface="Times New Roman" panose="02020603050405020304" pitchFamily="18" charset="0"/>
                <a:ea typeface="나눔고딕" panose="020D0604000000000000" pitchFamily="50" charset="-127"/>
              </a:rPr>
              <a:t> </a:t>
            </a:r>
            <a:endParaRPr lang="en-US" altLang="ko-KR" sz="1800" b="1" kern="1000" spc="-10" dirty="0">
              <a:latin typeface="Times New Roman" panose="02020603050405020304" pitchFamily="18" charset="0"/>
              <a:ea typeface="나눔고딕" panose="020D0604000000000000" pitchFamily="50" charset="-127"/>
            </a:endParaRP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User Review Serialization Prompt </a:t>
            </a:r>
            <a:r>
              <a:rPr lang="en-US" altLang="ko-KR" sz="1400" b="1" kern="1000" spc="-10" dirty="0">
                <a:latin typeface="Times New Roman" panose="02020603050405020304" pitchFamily="18" charset="0"/>
                <a:ea typeface="나눔고딕" panose="020D0604000000000000" pitchFamily="50" charset="-127"/>
              </a:rPr>
              <a:t>(Details in Appendix D)</a:t>
            </a:r>
            <a:r>
              <a:rPr lang="ko-KR" altLang="en-US" sz="1400" b="1" kern="1000" spc="-10" dirty="0">
                <a:latin typeface="Times New Roman" panose="02020603050405020304" pitchFamily="18" charset="0"/>
                <a:ea typeface="나눔고딕" panose="020D0604000000000000" pitchFamily="50" charset="-127"/>
              </a:rPr>
              <a:t> </a:t>
            </a:r>
            <a:endParaRPr lang="en-US" altLang="ko-KR" sz="1400" b="1" kern="1000" spc="-10" dirty="0">
              <a:latin typeface="Times New Roman" panose="02020603050405020304" pitchFamily="18" charset="0"/>
              <a:ea typeface="나눔고딕" panose="020D0604000000000000" pitchFamily="50" charset="-127"/>
            </a:endParaRP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lvl="1">
              <a:lnSpc>
                <a:spcPct val="150000"/>
              </a:lnSpc>
              <a:buFont typeface="나눔고딕" panose="020D0604000000000000" pitchFamily="50" charset="-127"/>
              <a:buChar char="‐"/>
            </a:pPr>
            <a:endParaRPr lang="en-US" altLang="ko-KR" sz="1600" kern="1000" dirty="0">
              <a:latin typeface="Times New Roman" panose="02020603050405020304" pitchFamily="18" charset="0"/>
              <a:ea typeface="나눔고딕" panose="020D0604000000000000" pitchFamily="50" charset="-127"/>
            </a:endParaRPr>
          </a:p>
          <a:p>
            <a:pPr lvl="1">
              <a:lnSpc>
                <a:spcPct val="150000"/>
              </a:lnSpc>
              <a:buFont typeface="나눔고딕" panose="020D0604000000000000" pitchFamily="50" charset="-127"/>
              <a:buChar char="‐"/>
            </a:pPr>
            <a:endParaRPr lang="en-US" altLang="ko-KR" sz="1600" kern="1000" dirty="0">
              <a:latin typeface="Times New Roman" panose="02020603050405020304" pitchFamily="18" charset="0"/>
              <a:ea typeface="나눔고딕" panose="020D0604000000000000" pitchFamily="50" charset="-127"/>
            </a:endParaRPr>
          </a:p>
          <a:p>
            <a:pPr marL="0" indent="0">
              <a:lnSpc>
                <a:spcPct val="150000"/>
              </a:lnSpc>
              <a:buNone/>
            </a:pPr>
            <a:endParaRPr lang="en-US" altLang="ko-KR" sz="1600" dirty="0">
              <a:latin typeface="Times New Roman" panose="02020603050405020304" pitchFamily="18" charset="0"/>
              <a:ea typeface="나눔고딕" panose="020D0604000000000000" pitchFamily="50" charset="-127"/>
            </a:endParaRPr>
          </a:p>
        </p:txBody>
      </p:sp>
      <p:graphicFrame>
        <p:nvGraphicFramePr>
          <p:cNvPr id="9" name="표 7">
            <a:extLst>
              <a:ext uri="{FF2B5EF4-FFF2-40B4-BE49-F238E27FC236}">
                <a16:creationId xmlns:a16="http://schemas.microsoft.com/office/drawing/2014/main" id="{3D8A0D59-5487-48F8-8158-90C3FED9B221}"/>
              </a:ext>
            </a:extLst>
          </p:cNvPr>
          <p:cNvGraphicFramePr>
            <a:graphicFrameLocks noGrp="1"/>
          </p:cNvGraphicFramePr>
          <p:nvPr>
            <p:extLst>
              <p:ext uri="{D42A27DB-BD31-4B8C-83A1-F6EECF244321}">
                <p14:modId xmlns:p14="http://schemas.microsoft.com/office/powerpoint/2010/main" val="3436542001"/>
              </p:ext>
            </p:extLst>
          </p:nvPr>
        </p:nvGraphicFramePr>
        <p:xfrm>
          <a:off x="800207" y="1468582"/>
          <a:ext cx="10795097" cy="1576102"/>
        </p:xfrm>
        <a:graphic>
          <a:graphicData uri="http://schemas.openxmlformats.org/drawingml/2006/table">
            <a:tbl>
              <a:tblPr firstRow="1" bandRow="1">
                <a:tableStyleId>{5940675A-B579-460E-94D1-54222C63F5DA}</a:tableStyleId>
              </a:tblPr>
              <a:tblGrid>
                <a:gridCol w="1463009">
                  <a:extLst>
                    <a:ext uri="{9D8B030D-6E8A-4147-A177-3AD203B41FA5}">
                      <a16:colId xmlns:a16="http://schemas.microsoft.com/office/drawing/2014/main" val="2680431844"/>
                    </a:ext>
                  </a:extLst>
                </a:gridCol>
                <a:gridCol w="9332088">
                  <a:extLst>
                    <a:ext uri="{9D8B030D-6E8A-4147-A177-3AD203B41FA5}">
                      <a16:colId xmlns:a16="http://schemas.microsoft.com/office/drawing/2014/main" val="247751996"/>
                    </a:ext>
                  </a:extLst>
                </a:gridCol>
              </a:tblGrid>
              <a:tr h="1122458">
                <a:tc>
                  <a:txBody>
                    <a:bodyPr/>
                    <a:lstStyle/>
                    <a:p>
                      <a:pPr algn="ctr" latinLnBrk="1">
                        <a:lnSpc>
                          <a:spcPct val="150000"/>
                        </a:lnSpc>
                      </a:pPr>
                      <a:r>
                        <a:rPr lang="en-US" altLang="ko-KR" sz="1800" b="1" dirty="0">
                          <a:latin typeface="Times New Roman" panose="02020603050405020304" pitchFamily="18" charset="0"/>
                          <a:cs typeface="Times New Roman" panose="02020603050405020304" pitchFamily="18" charset="0"/>
                        </a:rPr>
                        <a:t>Prompt</a:t>
                      </a:r>
                      <a:endParaRPr lang="ko-KR" altLang="en-US" sz="1800" b="1" dirty="0">
                        <a:latin typeface="Times New Roman" panose="02020603050405020304" pitchFamily="18" charset="0"/>
                        <a:cs typeface="Times New Roman" panose="02020603050405020304" pitchFamily="18" charset="0"/>
                      </a:endParaRPr>
                    </a:p>
                  </a:txBody>
                  <a:tcPr anchor="ctr">
                    <a:solidFill>
                      <a:schemeClr val="bg2">
                        <a:lumMod val="75000"/>
                      </a:schemeClr>
                    </a:solidFill>
                  </a:tcPr>
                </a:tc>
                <a:tc>
                  <a:txBody>
                    <a:bodyPr/>
                    <a:lstStyle/>
                    <a:p>
                      <a:pPr latinLnBrk="1">
                        <a:lnSpc>
                          <a:spcPct val="150000"/>
                        </a:lnSpc>
                      </a:pPr>
                      <a:r>
                        <a:rPr lang="en-US" altLang="ko-KR" sz="1800" dirty="0">
                          <a:latin typeface="Times New Roman" panose="02020603050405020304" pitchFamily="18" charset="0"/>
                          <a:cs typeface="Times New Roman" panose="02020603050405020304" pitchFamily="18" charset="0"/>
                        </a:rPr>
                        <a:t>The following is the metadata for the "{</a:t>
                      </a:r>
                      <a:r>
                        <a:rPr lang="en-US" altLang="ko-KR" sz="1800" dirty="0" err="1">
                          <a:latin typeface="Times New Roman" panose="02020603050405020304" pitchFamily="18" charset="0"/>
                          <a:cs typeface="Times New Roman" panose="02020603050405020304" pitchFamily="18" charset="0"/>
                        </a:rPr>
                        <a:t>item_title</a:t>
                      </a:r>
                      <a:r>
                        <a:rPr lang="en-US" altLang="ko-KR" sz="1800" dirty="0">
                          <a:latin typeface="Times New Roman" panose="02020603050405020304" pitchFamily="18" charset="0"/>
                          <a:cs typeface="Times New Roman" panose="02020603050405020304" pitchFamily="18" charset="0"/>
                        </a:rPr>
                        <a:t>}", provided in the format {{metadata: value}}.</a:t>
                      </a:r>
                    </a:p>
                    <a:p>
                      <a:pPr latinLnBrk="1">
                        <a:lnSpc>
                          <a:spcPct val="150000"/>
                        </a:lnSpc>
                      </a:pPr>
                      <a:r>
                        <a:rPr lang="en-US" altLang="ko-KR" sz="1800" dirty="0">
                          <a:latin typeface="Times New Roman" panose="02020603050405020304" pitchFamily="18" charset="0"/>
                          <a:cs typeface="Times New Roman" panose="02020603050405020304" pitchFamily="18" charset="0"/>
                        </a:rPr>
                        <a:t>Reconstruct the following information to write an objective and descriptive paragraph.</a:t>
                      </a:r>
                    </a:p>
                  </a:txBody>
                  <a:tcPr anchor="ctr"/>
                </a:tc>
                <a:extLst>
                  <a:ext uri="{0D108BD9-81ED-4DB2-BD59-A6C34878D82A}">
                    <a16:rowId xmlns:a16="http://schemas.microsoft.com/office/drawing/2014/main" val="3114183308"/>
                  </a:ext>
                </a:extLst>
              </a:tr>
              <a:tr h="380058">
                <a:tc>
                  <a:txBody>
                    <a:bodyPr/>
                    <a:lstStyle/>
                    <a:p>
                      <a:pPr algn="ctr" latinLnBrk="1">
                        <a:lnSpc>
                          <a:spcPct val="150000"/>
                        </a:lnSpc>
                      </a:pPr>
                      <a:r>
                        <a:rPr lang="en-US" altLang="ko-KR" sz="1800" b="1" dirty="0">
                          <a:latin typeface="Times New Roman" panose="02020603050405020304" pitchFamily="18" charset="0"/>
                          <a:cs typeface="Times New Roman" panose="02020603050405020304" pitchFamily="18" charset="0"/>
                        </a:rPr>
                        <a:t>Input</a:t>
                      </a:r>
                      <a:endParaRPr lang="ko-KR" altLang="en-US" sz="1800" b="1" dirty="0">
                        <a:latin typeface="Times New Roman" panose="02020603050405020304" pitchFamily="18" charset="0"/>
                        <a:cs typeface="Times New Roman" panose="02020603050405020304" pitchFamily="18" charset="0"/>
                      </a:endParaRPr>
                    </a:p>
                  </a:txBody>
                  <a:tcPr anchor="ctr">
                    <a:solidFill>
                      <a:schemeClr val="bg2">
                        <a:lumMod val="7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en-US" altLang="ko-KR" sz="1800" dirty="0">
                          <a:latin typeface="Times New Roman" panose="02020603050405020304" pitchFamily="18" charset="0"/>
                          <a:cs typeface="Times New Roman" panose="02020603050405020304" pitchFamily="18" charset="0"/>
                        </a:rPr>
                        <a:t>metadata: {</a:t>
                      </a:r>
                      <a:r>
                        <a:rPr lang="en-US" altLang="ko-KR" sz="1800" dirty="0">
                          <a:solidFill>
                            <a:srgbClr val="0000FF"/>
                          </a:solidFill>
                          <a:latin typeface="Times New Roman" panose="02020603050405020304" pitchFamily="18" charset="0"/>
                          <a:cs typeface="Times New Roman" panose="02020603050405020304" pitchFamily="18" charset="0"/>
                        </a:rPr>
                        <a:t>title, </a:t>
                      </a:r>
                      <a:r>
                        <a:rPr lang="en-US" altLang="ko-KR" sz="1800" dirty="0" err="1">
                          <a:solidFill>
                            <a:srgbClr val="0000FF"/>
                          </a:solidFill>
                          <a:latin typeface="Times New Roman" panose="02020603050405020304" pitchFamily="18" charset="0"/>
                          <a:cs typeface="Times New Roman" panose="02020603050405020304" pitchFamily="18" charset="0"/>
                        </a:rPr>
                        <a:t>average_rating</a:t>
                      </a:r>
                      <a:r>
                        <a:rPr lang="en-US" altLang="ko-KR" sz="1800" dirty="0">
                          <a:solidFill>
                            <a:srgbClr val="0000FF"/>
                          </a:solidFill>
                          <a:latin typeface="Times New Roman" panose="02020603050405020304" pitchFamily="18" charset="0"/>
                          <a:cs typeface="Times New Roman" panose="02020603050405020304" pitchFamily="18" charset="0"/>
                        </a:rPr>
                        <a:t>, </a:t>
                      </a:r>
                      <a:r>
                        <a:rPr lang="en-US" altLang="ko-KR" sz="1800" dirty="0" err="1">
                          <a:solidFill>
                            <a:srgbClr val="0000FF"/>
                          </a:solidFill>
                          <a:latin typeface="Times New Roman" panose="02020603050405020304" pitchFamily="18" charset="0"/>
                          <a:cs typeface="Times New Roman" panose="02020603050405020304" pitchFamily="18" charset="0"/>
                        </a:rPr>
                        <a:t>rating_number</a:t>
                      </a:r>
                      <a:r>
                        <a:rPr lang="en-US" altLang="ko-KR" sz="1800" dirty="0">
                          <a:solidFill>
                            <a:srgbClr val="0000FF"/>
                          </a:solidFill>
                          <a:latin typeface="Times New Roman" panose="02020603050405020304" pitchFamily="18" charset="0"/>
                          <a:cs typeface="Times New Roman" panose="02020603050405020304" pitchFamily="18" charset="0"/>
                        </a:rPr>
                        <a:t>, …, categories</a:t>
                      </a:r>
                      <a:r>
                        <a:rPr lang="en-US" altLang="ko-KR" sz="18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164829296"/>
                  </a:ext>
                </a:extLst>
              </a:tr>
            </a:tbl>
          </a:graphicData>
        </a:graphic>
      </p:graphicFrame>
      <p:graphicFrame>
        <p:nvGraphicFramePr>
          <p:cNvPr id="6" name="표 7">
            <a:extLst>
              <a:ext uri="{FF2B5EF4-FFF2-40B4-BE49-F238E27FC236}">
                <a16:creationId xmlns:a16="http://schemas.microsoft.com/office/drawing/2014/main" id="{DFEC7721-2F83-717D-32AD-A98FAEB4CEF5}"/>
              </a:ext>
            </a:extLst>
          </p:cNvPr>
          <p:cNvGraphicFramePr>
            <a:graphicFrameLocks noGrp="1"/>
          </p:cNvGraphicFramePr>
          <p:nvPr>
            <p:extLst>
              <p:ext uri="{D42A27DB-BD31-4B8C-83A1-F6EECF244321}">
                <p14:modId xmlns:p14="http://schemas.microsoft.com/office/powerpoint/2010/main" val="3626401424"/>
              </p:ext>
            </p:extLst>
          </p:nvPr>
        </p:nvGraphicFramePr>
        <p:xfrm>
          <a:off x="800207" y="4159865"/>
          <a:ext cx="10795097" cy="1549409"/>
        </p:xfrm>
        <a:graphic>
          <a:graphicData uri="http://schemas.openxmlformats.org/drawingml/2006/table">
            <a:tbl>
              <a:tblPr firstRow="1" bandRow="1">
                <a:tableStyleId>{5940675A-B579-460E-94D1-54222C63F5DA}</a:tableStyleId>
              </a:tblPr>
              <a:tblGrid>
                <a:gridCol w="1463009">
                  <a:extLst>
                    <a:ext uri="{9D8B030D-6E8A-4147-A177-3AD203B41FA5}">
                      <a16:colId xmlns:a16="http://schemas.microsoft.com/office/drawing/2014/main" val="2680431844"/>
                    </a:ext>
                  </a:extLst>
                </a:gridCol>
                <a:gridCol w="9332088">
                  <a:extLst>
                    <a:ext uri="{9D8B030D-6E8A-4147-A177-3AD203B41FA5}">
                      <a16:colId xmlns:a16="http://schemas.microsoft.com/office/drawing/2014/main" val="247751996"/>
                    </a:ext>
                  </a:extLst>
                </a:gridCol>
              </a:tblGrid>
              <a:tr h="1095765">
                <a:tc>
                  <a:txBody>
                    <a:bodyPr/>
                    <a:lstStyle/>
                    <a:p>
                      <a:pPr algn="ctr" latinLnBrk="1">
                        <a:lnSpc>
                          <a:spcPct val="150000"/>
                        </a:lnSpc>
                      </a:pPr>
                      <a:r>
                        <a:rPr lang="en-US" altLang="ko-KR" sz="1800" dirty="0">
                          <a:latin typeface="Times New Roman" panose="02020603050405020304" pitchFamily="18" charset="0"/>
                          <a:cs typeface="Times New Roman" panose="02020603050405020304" pitchFamily="18" charset="0"/>
                        </a:rPr>
                        <a:t>Prompt</a:t>
                      </a:r>
                      <a:endParaRPr lang="ko-KR" altLang="en-US" sz="1800" dirty="0">
                        <a:latin typeface="Times New Roman" panose="02020603050405020304" pitchFamily="18" charset="0"/>
                        <a:cs typeface="Times New Roman" panose="02020603050405020304" pitchFamily="18" charset="0"/>
                      </a:endParaRPr>
                    </a:p>
                  </a:txBody>
                  <a:tcPr anchor="ctr"/>
                </a:tc>
                <a:tc>
                  <a:txBody>
                    <a:bodyPr/>
                    <a:lstStyle/>
                    <a:p>
                      <a:pPr latinLnBrk="1">
                        <a:lnSpc>
                          <a:spcPct val="150000"/>
                        </a:lnSpc>
                      </a:pPr>
                      <a:r>
                        <a:rPr lang="en-US" altLang="ko-KR" sz="1800" dirty="0">
                          <a:latin typeface="Times New Roman" panose="02020603050405020304" pitchFamily="18" charset="0"/>
                          <a:cs typeface="Times New Roman" panose="02020603050405020304" pitchFamily="18" charset="0"/>
                        </a:rPr>
                        <a:t>The following are the reviews written by a user for different items.</a:t>
                      </a:r>
                    </a:p>
                    <a:p>
                      <a:pPr latinLnBrk="1">
                        <a:lnSpc>
                          <a:spcPct val="150000"/>
                        </a:lnSpc>
                      </a:pPr>
                      <a:r>
                        <a:rPr lang="en-US" altLang="ko-KR" sz="1800" dirty="0">
                          <a:latin typeface="Times New Roman" panose="02020603050405020304" pitchFamily="18" charset="0"/>
                          <a:cs typeface="Times New Roman" panose="02020603050405020304" pitchFamily="18" charset="0"/>
                        </a:rPr>
                        <a:t>Write a summary of the following reviews in a paragraph.</a:t>
                      </a:r>
                    </a:p>
                  </a:txBody>
                  <a:tcPr anchor="ctr"/>
                </a:tc>
                <a:extLst>
                  <a:ext uri="{0D108BD9-81ED-4DB2-BD59-A6C34878D82A}">
                    <a16:rowId xmlns:a16="http://schemas.microsoft.com/office/drawing/2014/main" val="3114183308"/>
                  </a:ext>
                </a:extLst>
              </a:tr>
              <a:tr h="351656">
                <a:tc>
                  <a:txBody>
                    <a:bodyPr/>
                    <a:lstStyle/>
                    <a:p>
                      <a:pPr algn="ctr" latinLnBrk="1">
                        <a:lnSpc>
                          <a:spcPct val="150000"/>
                        </a:lnSpc>
                      </a:pPr>
                      <a:r>
                        <a:rPr lang="en-US" altLang="ko-KR" sz="1800" dirty="0">
                          <a:latin typeface="Times New Roman" panose="02020603050405020304" pitchFamily="18" charset="0"/>
                          <a:cs typeface="Times New Roman" panose="02020603050405020304" pitchFamily="18" charset="0"/>
                        </a:rPr>
                        <a:t>Input</a:t>
                      </a:r>
                      <a:endParaRPr lang="ko-KR" alt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en-US" altLang="ko-KR" sz="1800" dirty="0">
                          <a:latin typeface="Times New Roman" panose="02020603050405020304" pitchFamily="18" charset="0"/>
                          <a:cs typeface="Times New Roman" panose="02020603050405020304" pitchFamily="18" charset="0"/>
                        </a:rPr>
                        <a:t>reviews: {</a:t>
                      </a:r>
                      <a:r>
                        <a:rPr lang="en-US" altLang="ko-KR" sz="1800" dirty="0">
                          <a:solidFill>
                            <a:srgbClr val="0000FF"/>
                          </a:solidFill>
                          <a:latin typeface="Times New Roman" panose="02020603050405020304" pitchFamily="18" charset="0"/>
                          <a:cs typeface="Times New Roman" panose="02020603050405020304" pitchFamily="18" charset="0"/>
                        </a:rPr>
                        <a:t>review</a:t>
                      </a:r>
                      <a:r>
                        <a:rPr lang="ko-KR" altLang="en-US" sz="1800" dirty="0">
                          <a:solidFill>
                            <a:srgbClr val="0000FF"/>
                          </a:solidFill>
                          <a:latin typeface="Times New Roman" panose="02020603050405020304" pitchFamily="18" charset="0"/>
                          <a:cs typeface="Times New Roman" panose="02020603050405020304" pitchFamily="18" charset="0"/>
                        </a:rPr>
                        <a:t> </a:t>
                      </a:r>
                      <a:r>
                        <a:rPr lang="en-US" altLang="ko-KR" sz="1800" dirty="0">
                          <a:solidFill>
                            <a:srgbClr val="0000FF"/>
                          </a:solidFill>
                          <a:latin typeface="Times New Roman" panose="02020603050405020304" pitchFamily="18" charset="0"/>
                          <a:cs typeface="Times New Roman" panose="02020603050405020304" pitchFamily="18" charset="0"/>
                        </a:rPr>
                        <a:t>text 1, review</a:t>
                      </a:r>
                      <a:r>
                        <a:rPr lang="ko-KR" altLang="en-US" sz="1800" dirty="0">
                          <a:solidFill>
                            <a:srgbClr val="0000FF"/>
                          </a:solidFill>
                          <a:latin typeface="Times New Roman" panose="02020603050405020304" pitchFamily="18" charset="0"/>
                          <a:cs typeface="Times New Roman" panose="02020603050405020304" pitchFamily="18" charset="0"/>
                        </a:rPr>
                        <a:t> </a:t>
                      </a:r>
                      <a:r>
                        <a:rPr lang="en-US" altLang="ko-KR" sz="1800" dirty="0">
                          <a:solidFill>
                            <a:srgbClr val="0000FF"/>
                          </a:solidFill>
                          <a:latin typeface="Times New Roman" panose="02020603050405020304" pitchFamily="18" charset="0"/>
                          <a:cs typeface="Times New Roman" panose="02020603050405020304" pitchFamily="18" charset="0"/>
                        </a:rPr>
                        <a:t>text 2, review</a:t>
                      </a:r>
                      <a:r>
                        <a:rPr lang="ko-KR" altLang="en-US" sz="1800" dirty="0">
                          <a:solidFill>
                            <a:srgbClr val="0000FF"/>
                          </a:solidFill>
                          <a:latin typeface="Times New Roman" panose="02020603050405020304" pitchFamily="18" charset="0"/>
                          <a:cs typeface="Times New Roman" panose="02020603050405020304" pitchFamily="18" charset="0"/>
                        </a:rPr>
                        <a:t> </a:t>
                      </a:r>
                      <a:r>
                        <a:rPr lang="en-US" altLang="ko-KR" sz="1800" dirty="0">
                          <a:solidFill>
                            <a:srgbClr val="0000FF"/>
                          </a:solidFill>
                          <a:latin typeface="Times New Roman" panose="02020603050405020304" pitchFamily="18" charset="0"/>
                          <a:cs typeface="Times New Roman" panose="02020603050405020304" pitchFamily="18" charset="0"/>
                        </a:rPr>
                        <a:t>text 3, …, review</a:t>
                      </a:r>
                      <a:r>
                        <a:rPr lang="ko-KR" altLang="en-US" sz="1800" dirty="0">
                          <a:solidFill>
                            <a:srgbClr val="0000FF"/>
                          </a:solidFill>
                          <a:latin typeface="Times New Roman" panose="02020603050405020304" pitchFamily="18" charset="0"/>
                          <a:cs typeface="Times New Roman" panose="02020603050405020304" pitchFamily="18" charset="0"/>
                        </a:rPr>
                        <a:t> </a:t>
                      </a:r>
                      <a:r>
                        <a:rPr lang="en-US" altLang="ko-KR" sz="1800" dirty="0">
                          <a:solidFill>
                            <a:srgbClr val="0000FF"/>
                          </a:solidFill>
                          <a:latin typeface="Times New Roman" panose="02020603050405020304" pitchFamily="18" charset="0"/>
                          <a:cs typeface="Times New Roman" panose="02020603050405020304" pitchFamily="18" charset="0"/>
                        </a:rPr>
                        <a:t>text N</a:t>
                      </a:r>
                      <a:r>
                        <a:rPr lang="en-US" altLang="ko-KR" sz="1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164829296"/>
                  </a:ext>
                </a:extLst>
              </a:tr>
            </a:tbl>
          </a:graphicData>
        </a:graphic>
      </p:graphicFrame>
      <p:sp>
        <p:nvSpPr>
          <p:cNvPr id="8" name="TextBox 7">
            <a:extLst>
              <a:ext uri="{FF2B5EF4-FFF2-40B4-BE49-F238E27FC236}">
                <a16:creationId xmlns:a16="http://schemas.microsoft.com/office/drawing/2014/main" id="{780047C0-B4C8-28F7-A8AD-FEB0EF77181F}"/>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3873995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4. Prompt Design</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17</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Serialization Output Examples</a:t>
            </a:r>
            <a:endParaRPr lang="en-US" altLang="ko-KR" sz="1600" kern="1000" dirty="0">
              <a:latin typeface="Times New Roman" panose="02020603050405020304" pitchFamily="18" charset="0"/>
              <a:ea typeface="나눔고딕" panose="020D0604000000000000" pitchFamily="50" charset="-127"/>
            </a:endParaRPr>
          </a:p>
          <a:p>
            <a:pPr marL="0" indent="0">
              <a:lnSpc>
                <a:spcPct val="150000"/>
              </a:lnSpc>
              <a:buNone/>
            </a:pPr>
            <a:endParaRPr lang="en-US" altLang="ko-KR" sz="1600" dirty="0">
              <a:latin typeface="Times New Roman" panose="02020603050405020304" pitchFamily="18" charset="0"/>
              <a:ea typeface="나눔고딕" panose="020D0604000000000000" pitchFamily="50" charset="-127"/>
            </a:endParaRPr>
          </a:p>
        </p:txBody>
      </p:sp>
      <p:graphicFrame>
        <p:nvGraphicFramePr>
          <p:cNvPr id="24" name="표 23">
            <a:extLst>
              <a:ext uri="{FF2B5EF4-FFF2-40B4-BE49-F238E27FC236}">
                <a16:creationId xmlns:a16="http://schemas.microsoft.com/office/drawing/2014/main" id="{DC18A4E3-C5D6-439E-9278-4FD9A1882E7E}"/>
              </a:ext>
            </a:extLst>
          </p:cNvPr>
          <p:cNvGraphicFramePr>
            <a:graphicFrameLocks noGrp="1"/>
          </p:cNvGraphicFramePr>
          <p:nvPr>
            <p:extLst>
              <p:ext uri="{D42A27DB-BD31-4B8C-83A1-F6EECF244321}">
                <p14:modId xmlns:p14="http://schemas.microsoft.com/office/powerpoint/2010/main" val="998546189"/>
              </p:ext>
            </p:extLst>
          </p:nvPr>
        </p:nvGraphicFramePr>
        <p:xfrm>
          <a:off x="1043636" y="1379414"/>
          <a:ext cx="10094899" cy="2651760"/>
        </p:xfrm>
        <a:graphic>
          <a:graphicData uri="http://schemas.openxmlformats.org/drawingml/2006/table">
            <a:tbl>
              <a:tblPr firstRow="1" bandRow="1">
                <a:tableStyleId>{5940675A-B579-460E-94D1-54222C63F5DA}</a:tableStyleId>
              </a:tblPr>
              <a:tblGrid>
                <a:gridCol w="1368114">
                  <a:extLst>
                    <a:ext uri="{9D8B030D-6E8A-4147-A177-3AD203B41FA5}">
                      <a16:colId xmlns:a16="http://schemas.microsoft.com/office/drawing/2014/main" val="2680431844"/>
                    </a:ext>
                  </a:extLst>
                </a:gridCol>
                <a:gridCol w="8726785">
                  <a:extLst>
                    <a:ext uri="{9D8B030D-6E8A-4147-A177-3AD203B41FA5}">
                      <a16:colId xmlns:a16="http://schemas.microsoft.com/office/drawing/2014/main" val="247751996"/>
                    </a:ext>
                  </a:extLst>
                </a:gridCol>
              </a:tblGrid>
              <a:tr h="2260980">
                <a:tc>
                  <a:txBody>
                    <a:bodyPr/>
                    <a:lstStyle/>
                    <a:p>
                      <a:pPr algn="ctr" latinLnBrk="1">
                        <a:lnSpc>
                          <a:spcPct val="150000"/>
                        </a:lnSpc>
                      </a:pPr>
                      <a:r>
                        <a:rPr lang="en-US" altLang="ko-KR" sz="1400" b="1" dirty="0">
                          <a:latin typeface="Times New Roman" panose="02020603050405020304" pitchFamily="18" charset="0"/>
                          <a:cs typeface="Times New Roman" panose="02020603050405020304" pitchFamily="18" charset="0"/>
                        </a:rPr>
                        <a:t>Metadata</a:t>
                      </a:r>
                      <a:r>
                        <a:rPr lang="ko-KR" altLang="en-US" sz="1400" dirty="0">
                          <a:latin typeface="Times New Roman" panose="02020603050405020304" pitchFamily="18" charset="0"/>
                          <a:cs typeface="Times New Roman" panose="02020603050405020304" pitchFamily="18" charset="0"/>
                        </a:rPr>
                        <a:t> </a:t>
                      </a:r>
                      <a:r>
                        <a:rPr lang="en-US" altLang="ko-KR" sz="1400" dirty="0">
                          <a:latin typeface="Times New Roman" panose="02020603050405020304" pitchFamily="18" charset="0"/>
                          <a:cs typeface="Times New Roman" panose="02020603050405020304" pitchFamily="18" charset="0"/>
                        </a:rPr>
                        <a:t>Serialized</a:t>
                      </a:r>
                      <a:r>
                        <a:rPr lang="ko-KR" altLang="en-US" sz="1400" dirty="0">
                          <a:latin typeface="Times New Roman" panose="02020603050405020304" pitchFamily="18" charset="0"/>
                          <a:cs typeface="Times New Roman" panose="02020603050405020304" pitchFamily="18" charset="0"/>
                        </a:rPr>
                        <a:t> </a:t>
                      </a:r>
                      <a:r>
                        <a:rPr lang="en-US" altLang="ko-KR" sz="1400" dirty="0">
                          <a:latin typeface="Times New Roman" panose="02020603050405020304" pitchFamily="18" charset="0"/>
                          <a:cs typeface="Times New Roman" panose="02020603050405020304" pitchFamily="18" charset="0"/>
                        </a:rPr>
                        <a:t>Output</a:t>
                      </a:r>
                      <a:endParaRPr lang="ko-KR" altLang="en-US" sz="1400" dirty="0">
                        <a:latin typeface="Times New Roman" panose="02020603050405020304" pitchFamily="18" charset="0"/>
                        <a:cs typeface="Times New Roman" panose="02020603050405020304" pitchFamily="18" charset="0"/>
                      </a:endParaRPr>
                    </a:p>
                  </a:txBody>
                  <a:tcPr anchor="ctr"/>
                </a:tc>
                <a:tc>
                  <a:txBody>
                    <a:bodyPr/>
                    <a:lstStyle/>
                    <a:p>
                      <a:pPr algn="just" latinLnBrk="1">
                        <a:lnSpc>
                          <a:spcPct val="100000"/>
                        </a:lnSpc>
                      </a:pPr>
                      <a:r>
                        <a:rPr lang="en-US" altLang="ko-KR" sz="1400" dirty="0">
                          <a:latin typeface="Times New Roman" panose="02020603050405020304" pitchFamily="18" charset="0"/>
                          <a:cs typeface="Times New Roman" panose="02020603050405020304" pitchFamily="18" charset="0"/>
                        </a:rPr>
                        <a:t>'The </a:t>
                      </a:r>
                      <a:r>
                        <a:rPr lang="en-US" altLang="ko-KR" sz="1400" dirty="0" err="1">
                          <a:latin typeface="Times New Roman" panose="02020603050405020304" pitchFamily="18" charset="0"/>
                          <a:cs typeface="Times New Roman" panose="02020603050405020304" pitchFamily="18" charset="0"/>
                        </a:rPr>
                        <a:t>Ortofon</a:t>
                      </a:r>
                      <a:r>
                        <a:rPr lang="en-US" altLang="ko-KR" sz="1400" dirty="0">
                          <a:latin typeface="Times New Roman" panose="02020603050405020304" pitchFamily="18" charset="0"/>
                          <a:cs typeface="Times New Roman" panose="02020603050405020304" pitchFamily="18" charset="0"/>
                        </a:rPr>
                        <a:t> 2M Bronze Moving Magnet Cartridge is a high-quality turntable cartridge designed for universal fit on most turntables. It is an upgrade to the </a:t>
                      </a:r>
                      <a:r>
                        <a:rPr lang="en-US" altLang="ko-KR" sz="1400" dirty="0" err="1">
                          <a:latin typeface="Times New Roman" panose="02020603050405020304" pitchFamily="18" charset="0"/>
                          <a:cs typeface="Times New Roman" panose="02020603050405020304" pitchFamily="18" charset="0"/>
                        </a:rPr>
                        <a:t>Ortofon</a:t>
                      </a:r>
                      <a:r>
                        <a:rPr lang="en-US" altLang="ko-KR" sz="1400" dirty="0">
                          <a:latin typeface="Times New Roman" panose="02020603050405020304" pitchFamily="18" charset="0"/>
                          <a:cs typeface="Times New Roman" panose="02020603050405020304" pitchFamily="18" charset="0"/>
                        </a:rPr>
                        <a:t> 2M Red and 2M Blue models, offering even more resolution and details in an even-handed way. The cartridge features a Nude Fine Line diamond and can be upgraded with an </a:t>
                      </a:r>
                      <a:r>
                        <a:rPr lang="en-US" altLang="ko-KR" sz="1400" dirty="0" err="1">
                          <a:latin typeface="Times New Roman" panose="02020603050405020304" pitchFamily="18" charset="0"/>
                          <a:cs typeface="Times New Roman" panose="02020603050405020304" pitchFamily="18" charset="0"/>
                        </a:rPr>
                        <a:t>Ortofon</a:t>
                      </a:r>
                      <a:r>
                        <a:rPr lang="en-US" altLang="ko-KR" sz="1400" dirty="0">
                          <a:latin typeface="Times New Roman" panose="02020603050405020304" pitchFamily="18" charset="0"/>
                          <a:cs typeface="Times New Roman" panose="02020603050405020304" pitchFamily="18" charset="0"/>
                        </a:rPr>
                        <a:t> Stylus 2M Black.</a:t>
                      </a:r>
                    </a:p>
                    <a:p>
                      <a:pPr algn="just" latinLnBrk="1">
                        <a:lnSpc>
                          <a:spcPct val="100000"/>
                        </a:lnSpc>
                      </a:pPr>
                      <a:r>
                        <a:rPr lang="en-US" altLang="ko-KR" sz="1400" dirty="0">
                          <a:latin typeface="Times New Roman" panose="02020603050405020304" pitchFamily="18" charset="0"/>
                          <a:cs typeface="Times New Roman" panose="02020603050405020304" pitchFamily="18" charset="0"/>
                        </a:rPr>
                        <a:t>With an average rating of 4.6 out of 5 stars based on 179 customer reviews, the </a:t>
                      </a:r>
                      <a:r>
                        <a:rPr lang="en-US" altLang="ko-KR" sz="1400" dirty="0" err="1">
                          <a:latin typeface="Times New Roman" panose="02020603050405020304" pitchFamily="18" charset="0"/>
                          <a:cs typeface="Times New Roman" panose="02020603050405020304" pitchFamily="18" charset="0"/>
                        </a:rPr>
                        <a:t>Ortofon</a:t>
                      </a:r>
                      <a:r>
                        <a:rPr lang="en-US" altLang="ko-KR" sz="1400" dirty="0">
                          <a:latin typeface="Times New Roman" panose="02020603050405020304" pitchFamily="18" charset="0"/>
                          <a:cs typeface="Times New Roman" panose="02020603050405020304" pitchFamily="18" charset="0"/>
                        </a:rPr>
                        <a:t> 2M Bronze Moving Magnet Cartridge is a highly regarded product in the music industry. It is priced at $499.00 and is suitable for a wide range of musical genres and applications.</a:t>
                      </a:r>
                    </a:p>
                    <a:p>
                      <a:pPr algn="just" latinLnBrk="1">
                        <a:lnSpc>
                          <a:spcPct val="100000"/>
                        </a:lnSpc>
                      </a:pPr>
                      <a:r>
                        <a:rPr lang="en-US" altLang="ko-KR" sz="1400" dirty="0">
                          <a:latin typeface="Times New Roman" panose="02020603050405020304" pitchFamily="18" charset="0"/>
                          <a:cs typeface="Times New Roman" panose="02020603050405020304" pitchFamily="18" charset="0"/>
                        </a:rPr>
                        <a:t>The cartridge is designed to provide clear and accurate sound reproduction, making it an excellent choice for audiophiles and music enthusiasts. Its universal fit design ensures compatibility with most turntables, making it a versatile option for those looking to upgrade their turntable setup.</a:t>
                      </a:r>
                    </a:p>
                    <a:p>
                      <a:pPr algn="just" latinLnBrk="1">
                        <a:lnSpc>
                          <a:spcPct val="100000"/>
                        </a:lnSpc>
                      </a:pPr>
                      <a:r>
                        <a:rPr lang="en-US" altLang="ko-KR" sz="1400" dirty="0">
                          <a:latin typeface="Times New Roman" panose="02020603050405020304" pitchFamily="18" charset="0"/>
                          <a:cs typeface="Times New Roman" panose="02020603050405020304" pitchFamily="18" charset="0"/>
                        </a:rPr>
                        <a:t>Overall, the </a:t>
                      </a:r>
                      <a:r>
                        <a:rPr lang="en-US" altLang="ko-KR" sz="1400" dirty="0" err="1">
                          <a:latin typeface="Times New Roman" panose="02020603050405020304" pitchFamily="18" charset="0"/>
                          <a:cs typeface="Times New Roman" panose="02020603050405020304" pitchFamily="18" charset="0"/>
                        </a:rPr>
                        <a:t>Ortofon</a:t>
                      </a:r>
                      <a:r>
                        <a:rPr lang="en-US" altLang="ko-KR" sz="1400" dirty="0">
                          <a:latin typeface="Times New Roman" panose="02020603050405020304" pitchFamily="18" charset="0"/>
                          <a:cs typeface="Times New Roman" panose="02020603050405020304" pitchFamily="18" charset="0"/>
                        </a:rPr>
                        <a:t> 2M Bronze Moving Magnet Cartridge is a high-quality product that offers excellent sound reproduction and versatility, making it a great choice for anyone looking to upgrade their turntable setup.’</a:t>
                      </a:r>
                      <a:endParaRPr lang="en-US" altLang="ko-KR" sz="1400" u="sng"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14183308"/>
                  </a:ext>
                </a:extLst>
              </a:tr>
            </a:tbl>
          </a:graphicData>
        </a:graphic>
      </p:graphicFrame>
      <p:graphicFrame>
        <p:nvGraphicFramePr>
          <p:cNvPr id="6" name="표 5">
            <a:extLst>
              <a:ext uri="{FF2B5EF4-FFF2-40B4-BE49-F238E27FC236}">
                <a16:creationId xmlns:a16="http://schemas.microsoft.com/office/drawing/2014/main" id="{DBBF4EA7-9972-4836-D36E-36CEC8F4C0BA}"/>
              </a:ext>
            </a:extLst>
          </p:cNvPr>
          <p:cNvGraphicFramePr>
            <a:graphicFrameLocks noGrp="1"/>
          </p:cNvGraphicFramePr>
          <p:nvPr>
            <p:extLst>
              <p:ext uri="{D42A27DB-BD31-4B8C-83A1-F6EECF244321}">
                <p14:modId xmlns:p14="http://schemas.microsoft.com/office/powerpoint/2010/main" val="1611812187"/>
              </p:ext>
            </p:extLst>
          </p:nvPr>
        </p:nvGraphicFramePr>
        <p:xfrm>
          <a:off x="1043635" y="4327188"/>
          <a:ext cx="10094899" cy="1584960"/>
        </p:xfrm>
        <a:graphic>
          <a:graphicData uri="http://schemas.openxmlformats.org/drawingml/2006/table">
            <a:tbl>
              <a:tblPr firstRow="1" bandRow="1">
                <a:tableStyleId>{5940675A-B579-460E-94D1-54222C63F5DA}</a:tableStyleId>
              </a:tblPr>
              <a:tblGrid>
                <a:gridCol w="1368114">
                  <a:extLst>
                    <a:ext uri="{9D8B030D-6E8A-4147-A177-3AD203B41FA5}">
                      <a16:colId xmlns:a16="http://schemas.microsoft.com/office/drawing/2014/main" val="2680431844"/>
                    </a:ext>
                  </a:extLst>
                </a:gridCol>
                <a:gridCol w="8726785">
                  <a:extLst>
                    <a:ext uri="{9D8B030D-6E8A-4147-A177-3AD203B41FA5}">
                      <a16:colId xmlns:a16="http://schemas.microsoft.com/office/drawing/2014/main" val="247751996"/>
                    </a:ext>
                  </a:extLst>
                </a:gridCol>
              </a:tblGrid>
              <a:tr h="1042605">
                <a:tc>
                  <a:txBody>
                    <a:bodyPr/>
                    <a:lstStyle/>
                    <a:p>
                      <a:pPr algn="ctr" latinLnBrk="1">
                        <a:lnSpc>
                          <a:spcPct val="150000"/>
                        </a:lnSpc>
                      </a:pPr>
                      <a:r>
                        <a:rPr lang="en-US" altLang="ko-KR" sz="1400" b="1" dirty="0">
                          <a:latin typeface="Times New Roman" panose="02020603050405020304" pitchFamily="18" charset="0"/>
                          <a:cs typeface="Times New Roman" panose="02020603050405020304" pitchFamily="18" charset="0"/>
                        </a:rPr>
                        <a:t>Review</a:t>
                      </a:r>
                      <a:r>
                        <a:rPr lang="en-US" altLang="ko-KR" sz="1400" dirty="0">
                          <a:latin typeface="Times New Roman" panose="02020603050405020304" pitchFamily="18" charset="0"/>
                          <a:cs typeface="Times New Roman" panose="02020603050405020304" pitchFamily="18" charset="0"/>
                        </a:rPr>
                        <a:t> Serialized Output</a:t>
                      </a:r>
                      <a:endParaRPr lang="ko-KR" altLang="en-US" sz="1400" dirty="0">
                        <a:latin typeface="Times New Roman" panose="02020603050405020304" pitchFamily="18" charset="0"/>
                        <a:cs typeface="Times New Roman" panose="02020603050405020304" pitchFamily="18" charset="0"/>
                      </a:endParaRPr>
                    </a:p>
                  </a:txBody>
                  <a:tcPr anchor="ctr"/>
                </a:tc>
                <a:tc>
                  <a:txBody>
                    <a:bodyPr/>
                    <a:lstStyle/>
                    <a:p>
                      <a:pPr algn="just" latinLnBrk="1">
                        <a:lnSpc>
                          <a:spcPct val="100000"/>
                        </a:lnSpc>
                      </a:pPr>
                      <a:r>
                        <a:rPr lang="en-US" altLang="ko-KR" sz="1400" dirty="0">
                          <a:latin typeface="Times New Roman" panose="02020603050405020304" pitchFamily="18" charset="0"/>
                          <a:cs typeface="Times New Roman" panose="02020603050405020304" pitchFamily="18" charset="0"/>
                        </a:rPr>
                        <a:t>'The user has written reviews for various items, including guitar pedals and a guitar. They seem to be extremely satisfied with the products, praising their sound quality, value, and performance. The user mentions that a guitar pedal provides a great "monster rock sound" and a "great \'M\' sound", while another pedal is described as having an "awesome" sound with the only drawback being a sensitive gain knob. The user also replaced their old tuners with new ones, which greatly improved the tuning stability of their guitar. Additionally, they purchased a guitar and were impressed by the significant improvement in quality, particularly with intonation and adjustability. Overall, the user highly recommends these products for their great value and performance.'</a:t>
                      </a:r>
                      <a:endParaRPr lang="en-US" altLang="ko-KR" sz="1400" u="sng"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14183308"/>
                  </a:ext>
                </a:extLst>
              </a:tr>
            </a:tbl>
          </a:graphicData>
        </a:graphic>
      </p:graphicFrame>
      <p:sp>
        <p:nvSpPr>
          <p:cNvPr id="8" name="TextBox 7">
            <a:extLst>
              <a:ext uri="{FF2B5EF4-FFF2-40B4-BE49-F238E27FC236}">
                <a16:creationId xmlns:a16="http://schemas.microsoft.com/office/drawing/2014/main" id="{AFDA04FD-227F-DE75-7AA9-168A3912CA08}"/>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2228404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4D5E3-7E6F-F08D-FA31-9EA996D31C58}"/>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20763897-EFB9-D802-9F1E-0AD14DE5AFA5}"/>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5. Performance</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CBF8AE16-AD25-5D2D-551B-59950B6D4A48}"/>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76C5B702-5BA1-4F26-4685-16AE3520E4FF}"/>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18</a:t>
            </a:fld>
            <a:endParaRPr lang="ko-KR" altLang="en-US" dirty="0"/>
          </a:p>
        </p:txBody>
      </p:sp>
      <p:pic>
        <p:nvPicPr>
          <p:cNvPr id="2" name="Picture 2" descr="경희대학교">
            <a:extLst>
              <a:ext uri="{FF2B5EF4-FFF2-40B4-BE49-F238E27FC236}">
                <a16:creationId xmlns:a16="http://schemas.microsoft.com/office/drawing/2014/main" id="{66148838-174B-B513-1917-0BDAE32FFD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9B28CFAA-7B15-C562-D066-594F0BA04F7D}"/>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2B6F3EDD-B6AA-44FA-11EB-7A540837384B}"/>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Video Games Dataset</a:t>
            </a:r>
          </a:p>
          <a:p>
            <a:pPr lvl="1" latinLnBrk="0">
              <a:lnSpc>
                <a:spcPct val="150000"/>
              </a:lnSpc>
              <a:buFont typeface="Times New Roman" panose="02020603050405020304" pitchFamily="18" charset="0"/>
              <a:buChar char="‐"/>
            </a:pPr>
            <a:r>
              <a:rPr lang="en-US" altLang="ko-KR" sz="1400" kern="1000" dirty="0">
                <a:latin typeface="Times New Roman" panose="02020603050405020304" pitchFamily="18" charset="0"/>
                <a:ea typeface="나눔고딕" panose="020D0604000000000000" pitchFamily="50" charset="-127"/>
              </a:rPr>
              <a:t>LCSR outperformed all baseline models in both MAE and RMSE.</a:t>
            </a:r>
          </a:p>
          <a:p>
            <a:pPr lvl="1" latinLnBrk="0">
              <a:lnSpc>
                <a:spcPct val="150000"/>
              </a:lnSpc>
              <a:buFont typeface="Times New Roman" panose="02020603050405020304" pitchFamily="18" charset="0"/>
              <a:buChar char="‐"/>
            </a:pPr>
            <a:r>
              <a:rPr lang="en-US" altLang="ko-KR" sz="1400" kern="1000" dirty="0">
                <a:latin typeface="Times New Roman" panose="02020603050405020304" pitchFamily="18" charset="0"/>
                <a:ea typeface="나눔고딕" panose="020D0604000000000000" pitchFamily="50" charset="-127"/>
              </a:rPr>
              <a:t>Semantic reconstruction through LLM-based serialization showed promising effectiveness.</a:t>
            </a:r>
            <a:endParaRPr lang="en-US" altLang="ko-KR" sz="1600" dirty="0">
              <a:latin typeface="Times New Roman" panose="02020603050405020304" pitchFamily="18" charset="0"/>
              <a:ea typeface="나눔고딕" panose="020D0604000000000000" pitchFamily="50" charset="-127"/>
            </a:endParaRPr>
          </a:p>
        </p:txBody>
      </p:sp>
      <p:pic>
        <p:nvPicPr>
          <p:cNvPr id="9" name="그림 8">
            <a:extLst>
              <a:ext uri="{FF2B5EF4-FFF2-40B4-BE49-F238E27FC236}">
                <a16:creationId xmlns:a16="http://schemas.microsoft.com/office/drawing/2014/main" id="{1469709F-3830-2902-DE01-81D1CB3654A8}"/>
              </a:ext>
            </a:extLst>
          </p:cNvPr>
          <p:cNvPicPr>
            <a:picLocks noChangeAspect="1"/>
          </p:cNvPicPr>
          <p:nvPr/>
        </p:nvPicPr>
        <p:blipFill>
          <a:blip r:embed="rId4"/>
          <a:stretch>
            <a:fillRect/>
          </a:stretch>
        </p:blipFill>
        <p:spPr>
          <a:xfrm>
            <a:off x="206839" y="2454963"/>
            <a:ext cx="5697312" cy="3533776"/>
          </a:xfrm>
          <a:prstGeom prst="rect">
            <a:avLst/>
          </a:prstGeom>
        </p:spPr>
      </p:pic>
      <p:pic>
        <p:nvPicPr>
          <p:cNvPr id="12" name="그림 11">
            <a:extLst>
              <a:ext uri="{FF2B5EF4-FFF2-40B4-BE49-F238E27FC236}">
                <a16:creationId xmlns:a16="http://schemas.microsoft.com/office/drawing/2014/main" id="{D5453637-B2D7-B5F2-AD73-0089822009B4}"/>
              </a:ext>
            </a:extLst>
          </p:cNvPr>
          <p:cNvPicPr>
            <a:picLocks noChangeAspect="1"/>
          </p:cNvPicPr>
          <p:nvPr/>
        </p:nvPicPr>
        <p:blipFill>
          <a:blip r:embed="rId5"/>
          <a:stretch>
            <a:fillRect/>
          </a:stretch>
        </p:blipFill>
        <p:spPr>
          <a:xfrm>
            <a:off x="6282948" y="2454963"/>
            <a:ext cx="5697313" cy="3533776"/>
          </a:xfrm>
          <a:prstGeom prst="rect">
            <a:avLst/>
          </a:prstGeom>
        </p:spPr>
      </p:pic>
      <p:sp>
        <p:nvSpPr>
          <p:cNvPr id="6" name="TextBox 5">
            <a:extLst>
              <a:ext uri="{FF2B5EF4-FFF2-40B4-BE49-F238E27FC236}">
                <a16:creationId xmlns:a16="http://schemas.microsoft.com/office/drawing/2014/main" id="{AE735315-6E6E-4B13-C846-42200DA54A63}"/>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
        <p:nvSpPr>
          <p:cNvPr id="11" name="직사각형 10">
            <a:extLst>
              <a:ext uri="{FF2B5EF4-FFF2-40B4-BE49-F238E27FC236}">
                <a16:creationId xmlns:a16="http://schemas.microsoft.com/office/drawing/2014/main" id="{5508E671-89AE-45AA-24EA-C6B394EDD14B}"/>
              </a:ext>
            </a:extLst>
          </p:cNvPr>
          <p:cNvSpPr/>
          <p:nvPr/>
        </p:nvSpPr>
        <p:spPr>
          <a:xfrm>
            <a:off x="4987290" y="5490872"/>
            <a:ext cx="901621" cy="26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BBAF40C7-BF45-EF3E-7475-992D67E7DB14}"/>
              </a:ext>
            </a:extLst>
          </p:cNvPr>
          <p:cNvSpPr txBox="1"/>
          <p:nvPr/>
        </p:nvSpPr>
        <p:spPr>
          <a:xfrm rot="19432122">
            <a:off x="5084395" y="5484133"/>
            <a:ext cx="484428" cy="246221"/>
          </a:xfrm>
          <a:prstGeom prst="rect">
            <a:avLst/>
          </a:prstGeom>
          <a:noFill/>
        </p:spPr>
        <p:txBody>
          <a:bodyPr wrap="none" rtlCol="0">
            <a:spAutoFit/>
          </a:bodyPr>
          <a:lstStyle/>
          <a:p>
            <a:r>
              <a:rPr lang="en-US" altLang="ko-KR" sz="1000" b="1" dirty="0">
                <a:latin typeface="나눔고딕" panose="020D0604000000000000" pitchFamily="50" charset="-127"/>
                <a:ea typeface="나눔고딕" panose="020D0604000000000000" pitchFamily="50" charset="-127"/>
              </a:rPr>
              <a:t>LCSR</a:t>
            </a:r>
            <a:endParaRPr lang="ko-KR" altLang="en-US" sz="1000" b="1" dirty="0">
              <a:latin typeface="나눔고딕" panose="020D0604000000000000" pitchFamily="50" charset="-127"/>
              <a:ea typeface="나눔고딕" panose="020D0604000000000000" pitchFamily="50" charset="-127"/>
            </a:endParaRPr>
          </a:p>
        </p:txBody>
      </p:sp>
      <p:sp>
        <p:nvSpPr>
          <p:cNvPr id="13" name="직사각형 12">
            <a:extLst>
              <a:ext uri="{FF2B5EF4-FFF2-40B4-BE49-F238E27FC236}">
                <a16:creationId xmlns:a16="http://schemas.microsoft.com/office/drawing/2014/main" id="{941B0D0A-2145-5324-F249-63F8138B3C04}"/>
              </a:ext>
            </a:extLst>
          </p:cNvPr>
          <p:cNvSpPr/>
          <p:nvPr/>
        </p:nvSpPr>
        <p:spPr>
          <a:xfrm>
            <a:off x="11078640" y="5490872"/>
            <a:ext cx="901621" cy="26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62A22D28-4856-85C0-5387-FF79B700EB29}"/>
              </a:ext>
            </a:extLst>
          </p:cNvPr>
          <p:cNvSpPr txBox="1"/>
          <p:nvPr/>
        </p:nvSpPr>
        <p:spPr>
          <a:xfrm rot="19432122">
            <a:off x="11175745" y="5484133"/>
            <a:ext cx="484428" cy="246221"/>
          </a:xfrm>
          <a:prstGeom prst="rect">
            <a:avLst/>
          </a:prstGeom>
          <a:noFill/>
        </p:spPr>
        <p:txBody>
          <a:bodyPr wrap="none" rtlCol="0">
            <a:spAutoFit/>
          </a:bodyPr>
          <a:lstStyle/>
          <a:p>
            <a:r>
              <a:rPr lang="en-US" altLang="ko-KR" sz="1000" b="1" dirty="0">
                <a:latin typeface="나눔고딕" panose="020D0604000000000000" pitchFamily="50" charset="-127"/>
                <a:ea typeface="나눔고딕" panose="020D0604000000000000" pitchFamily="50" charset="-127"/>
              </a:rPr>
              <a:t>LCSR</a:t>
            </a:r>
            <a:endParaRPr lang="ko-KR" altLang="en-US" sz="1000" b="1" dirty="0">
              <a:latin typeface="나눔고딕" panose="020D0604000000000000" pitchFamily="50" charset="-127"/>
              <a:ea typeface="나눔고딕" panose="020D0604000000000000" pitchFamily="50" charset="-127"/>
            </a:endParaRPr>
          </a:p>
        </p:txBody>
      </p:sp>
    </p:spTree>
    <p:extLst>
      <p:ext uri="{BB962C8B-B14F-4D97-AF65-F5344CB8AC3E}">
        <p14:creationId xmlns:p14="http://schemas.microsoft.com/office/powerpoint/2010/main" val="2333026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542C9-5080-4F91-2C64-9CC9D5B1BE53}"/>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95BD4090-10D3-EB99-68E6-D8EE47C611C7}"/>
              </a:ext>
            </a:extLst>
          </p:cNvPr>
          <p:cNvSpPr>
            <a:spLocks noGrp="1"/>
          </p:cNvSpPr>
          <p:nvPr>
            <p:ph type="subTitle" idx="1"/>
          </p:nvPr>
        </p:nvSpPr>
        <p:spPr>
          <a:xfrm>
            <a:off x="184848" y="152425"/>
            <a:ext cx="6673152" cy="411008"/>
          </a:xfrm>
        </p:spPr>
        <p:txBody>
          <a:bodyPr anchor="ctr">
            <a:norm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6. Conclusion and Future Work</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1109DC27-6DFB-7693-6868-B0B079EC865D}"/>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5F3CE63-3ABD-6159-6445-B35D477A6B6A}"/>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19</a:t>
            </a:fld>
            <a:endParaRPr lang="ko-KR" altLang="en-US" dirty="0"/>
          </a:p>
        </p:txBody>
      </p:sp>
      <p:pic>
        <p:nvPicPr>
          <p:cNvPr id="2" name="Picture 2" descr="경희대학교">
            <a:extLst>
              <a:ext uri="{FF2B5EF4-FFF2-40B4-BE49-F238E27FC236}">
                <a16:creationId xmlns:a16="http://schemas.microsoft.com/office/drawing/2014/main" id="{8DF6BD3F-48C3-1630-AF5A-695BCE6074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CDBF7685-4BE1-12B7-AAA7-069CD06BDDD6}"/>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3E7BE81B-DC4D-1BDE-76C1-BD2BE2C53875}"/>
              </a:ext>
            </a:extLst>
          </p:cNvPr>
          <p:cNvSpPr txBox="1">
            <a:spLocks/>
          </p:cNvSpPr>
          <p:nvPr/>
        </p:nvSpPr>
        <p:spPr>
          <a:xfrm>
            <a:off x="134142"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latinLnBrk="0">
              <a:lnSpc>
                <a:spcPct val="150000"/>
              </a:lnSpc>
            </a:pPr>
            <a:r>
              <a:rPr lang="en-US" altLang="ko-KR" sz="1800" b="1" kern="1000" dirty="0">
                <a:latin typeface="Times New Roman" panose="02020603050405020304" pitchFamily="18" charset="0"/>
                <a:ea typeface="나눔고딕" panose="020D0604000000000000" pitchFamily="50" charset="-127"/>
              </a:rPr>
              <a:t>Conclusion</a:t>
            </a:r>
          </a:p>
          <a:p>
            <a:pPr lvl="1" latinLnBrk="0">
              <a:lnSpc>
                <a:spcPct val="150000"/>
              </a:lnSpc>
              <a:buFont typeface="Times New Roman" panose="02020603050405020304" pitchFamily="18" charset="0"/>
              <a:buChar char="‐"/>
            </a:pPr>
            <a:r>
              <a:rPr lang="en-US" altLang="ko-KR" sz="1400" kern="1000" dirty="0">
                <a:latin typeface="Times New Roman" panose="02020603050405020304" pitchFamily="18" charset="0"/>
                <a:ea typeface="나눔고딕" panose="020D0604000000000000" pitchFamily="50" charset="-127"/>
              </a:rPr>
              <a:t>This study proposed LCSR, an LLM-based framework for semantic reconstruction of heterogeneous recommendation data.</a:t>
            </a:r>
          </a:p>
          <a:p>
            <a:pPr lvl="1" latinLnBrk="0">
              <a:lnSpc>
                <a:spcPct val="150000"/>
              </a:lnSpc>
              <a:buFont typeface="Times New Roman" panose="02020603050405020304" pitchFamily="18" charset="0"/>
              <a:buChar char="‐"/>
            </a:pPr>
            <a:r>
              <a:rPr lang="en-US" altLang="ko-KR" sz="1400" kern="1000" dirty="0">
                <a:latin typeface="Times New Roman" panose="02020603050405020304" pitchFamily="18" charset="0"/>
                <a:ea typeface="나눔고딕" panose="020D0604000000000000" pitchFamily="50" charset="-127"/>
              </a:rPr>
              <a:t>The proposed framework utilized LLM-based serialization to generate semantically consistent representations.</a:t>
            </a:r>
          </a:p>
          <a:p>
            <a:pPr lvl="1" latinLnBrk="0">
              <a:lnSpc>
                <a:spcPct val="150000"/>
              </a:lnSpc>
              <a:buFont typeface="Times New Roman" panose="02020603050405020304" pitchFamily="18" charset="0"/>
              <a:buChar char="‐"/>
            </a:pPr>
            <a:r>
              <a:rPr lang="en-US" altLang="ko-KR" sz="1400" kern="1000" dirty="0">
                <a:latin typeface="Times New Roman" panose="02020603050405020304" pitchFamily="18" charset="0"/>
                <a:ea typeface="나눔고딕" panose="020D0604000000000000" pitchFamily="50" charset="-127"/>
              </a:rPr>
              <a:t>Preliminary results showed promising recommendation performance on real-world datasets.</a:t>
            </a:r>
          </a:p>
          <a:p>
            <a:pPr lvl="1" latinLnBrk="0">
              <a:lnSpc>
                <a:spcPct val="150000"/>
              </a:lnSpc>
              <a:buFont typeface="Times New Roman" panose="02020603050405020304" pitchFamily="18" charset="0"/>
              <a:buChar char="‐"/>
            </a:pPr>
            <a:endParaRPr lang="en-US" altLang="ko-KR" sz="1050" kern="1000" dirty="0">
              <a:latin typeface="Times New Roman" panose="02020603050405020304" pitchFamily="18" charset="0"/>
              <a:ea typeface="나눔고딕" panose="020D0604000000000000" pitchFamily="50" charset="-127"/>
            </a:endParaRPr>
          </a:p>
          <a:p>
            <a:pPr marL="285750" indent="-285750" latinLnBrk="0">
              <a:lnSpc>
                <a:spcPct val="150000"/>
              </a:lnSpc>
            </a:pPr>
            <a:r>
              <a:rPr lang="en-US" altLang="ko-KR" sz="1800" b="1" kern="1000" dirty="0">
                <a:latin typeface="Times New Roman" panose="02020603050405020304" pitchFamily="18" charset="0"/>
                <a:ea typeface="나눔고딕" panose="020D0604000000000000" pitchFamily="50" charset="-127"/>
              </a:rPr>
              <a:t>Limitations</a:t>
            </a:r>
          </a:p>
          <a:p>
            <a:pPr lvl="1" latinLnBrk="0">
              <a:lnSpc>
                <a:spcPct val="150000"/>
              </a:lnSpc>
              <a:buFont typeface="Times New Roman" panose="02020603050405020304" pitchFamily="18" charset="0"/>
              <a:buChar char="‐"/>
            </a:pPr>
            <a:r>
              <a:rPr lang="en-US" altLang="ko-KR" sz="1400" kern="1000" dirty="0">
                <a:latin typeface="Times New Roman" panose="02020603050405020304" pitchFamily="18" charset="0"/>
                <a:ea typeface="나눔고딕" panose="020D0604000000000000" pitchFamily="50" charset="-127"/>
              </a:rPr>
              <a:t>The current experiments are limited to a small number of datasets and domains.</a:t>
            </a:r>
          </a:p>
          <a:p>
            <a:pPr lvl="1" latinLnBrk="0">
              <a:lnSpc>
                <a:spcPct val="150000"/>
              </a:lnSpc>
              <a:buFont typeface="Times New Roman" panose="02020603050405020304" pitchFamily="18" charset="0"/>
              <a:buChar char="‐"/>
            </a:pPr>
            <a:r>
              <a:rPr lang="en-US" altLang="ko-KR" sz="1400" kern="1000" dirty="0">
                <a:latin typeface="Times New Roman" panose="02020603050405020304" pitchFamily="18" charset="0"/>
                <a:ea typeface="나눔고딕" panose="020D0604000000000000" pitchFamily="50" charset="-127"/>
              </a:rPr>
              <a:t>In addition, LLM-based serialization still requires relatively high computational cost.</a:t>
            </a:r>
          </a:p>
          <a:p>
            <a:pPr lvl="1" latinLnBrk="0">
              <a:lnSpc>
                <a:spcPct val="150000"/>
              </a:lnSpc>
              <a:buFont typeface="Times New Roman" panose="02020603050405020304" pitchFamily="18" charset="0"/>
              <a:buChar char="‐"/>
            </a:pPr>
            <a:endParaRPr lang="en-US" altLang="ko-KR" sz="800" kern="1000" dirty="0">
              <a:latin typeface="Times New Roman" panose="02020603050405020304" pitchFamily="18" charset="0"/>
              <a:ea typeface="나눔고딕" panose="020D0604000000000000" pitchFamily="50" charset="-127"/>
            </a:endParaRPr>
          </a:p>
          <a:p>
            <a:pPr marL="285750" indent="-285750" latinLnBrk="0">
              <a:lnSpc>
                <a:spcPct val="150000"/>
              </a:lnSpc>
            </a:pPr>
            <a:r>
              <a:rPr lang="en-US" altLang="ko-KR" sz="1800" b="1" kern="1000" dirty="0">
                <a:latin typeface="Times New Roman" panose="02020603050405020304" pitchFamily="18" charset="0"/>
                <a:ea typeface="나눔고딕" panose="020D0604000000000000" pitchFamily="50" charset="-127"/>
              </a:rPr>
              <a:t>Future Work</a:t>
            </a:r>
          </a:p>
          <a:p>
            <a:pPr lvl="1" latinLnBrk="0">
              <a:lnSpc>
                <a:spcPct val="150000"/>
              </a:lnSpc>
              <a:buFont typeface="Times New Roman" panose="02020603050405020304" pitchFamily="18" charset="0"/>
              <a:buChar char="‐"/>
            </a:pPr>
            <a:r>
              <a:rPr lang="en-US" altLang="ko-KR" sz="1400" kern="1000" dirty="0">
                <a:latin typeface="Times New Roman" panose="02020603050405020304" pitchFamily="18" charset="0"/>
                <a:ea typeface="나눔고딕" panose="020D0604000000000000" pitchFamily="50" charset="-127"/>
              </a:rPr>
              <a:t>Future work will validate the proposed framework across additional datasets and recommendation domains to improve generalizability.</a:t>
            </a:r>
          </a:p>
          <a:p>
            <a:pPr lvl="1" latinLnBrk="0">
              <a:lnSpc>
                <a:spcPct val="150000"/>
              </a:lnSpc>
              <a:buFont typeface="Times New Roman" panose="02020603050405020304" pitchFamily="18" charset="0"/>
              <a:buChar char="‐"/>
            </a:pPr>
            <a:r>
              <a:rPr lang="en-US" altLang="ko-KR" sz="1400" kern="1000" dirty="0">
                <a:latin typeface="Times New Roman" panose="02020603050405020304" pitchFamily="18" charset="0"/>
                <a:ea typeface="나눔고딕" panose="020D0604000000000000" pitchFamily="50" charset="-127"/>
              </a:rPr>
              <a:t>We also plan to investigate more efficient serialization strategies to reduce the computational cost of LLM-based reconstruction.</a:t>
            </a:r>
          </a:p>
        </p:txBody>
      </p:sp>
      <p:sp>
        <p:nvSpPr>
          <p:cNvPr id="6" name="TextBox 5">
            <a:extLst>
              <a:ext uri="{FF2B5EF4-FFF2-40B4-BE49-F238E27FC236}">
                <a16:creationId xmlns:a16="http://schemas.microsoft.com/office/drawing/2014/main" id="{1118377C-AA16-E901-9384-45596D1E3958}"/>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1079597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3FD51-6379-CA1A-54B1-D5A1505F9A2D}"/>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DA088ED8-CB2B-7E23-F80D-1E3231895B79}"/>
              </a:ext>
            </a:extLst>
          </p:cNvPr>
          <p:cNvSpPr>
            <a:spLocks noGrp="1"/>
          </p:cNvSpPr>
          <p:nvPr>
            <p:ph type="subTitle" idx="1"/>
          </p:nvPr>
        </p:nvSpPr>
        <p:spPr>
          <a:xfrm>
            <a:off x="3165990" y="2756491"/>
            <a:ext cx="5850192" cy="911785"/>
          </a:xfrm>
        </p:spPr>
        <p:txBody>
          <a:bodyPr anchor="ctr">
            <a:normAutofit/>
          </a:bodyPr>
          <a:lstStyle/>
          <a:p>
            <a:r>
              <a:rPr lang="en-US" altLang="ko-KR" sz="3200" b="1" dirty="0">
                <a:latin typeface="Times New Roman" panose="02020603050405020304" pitchFamily="18" charset="0"/>
                <a:ea typeface="나눔고딕" panose="020D0604000000000000" pitchFamily="50" charset="-127"/>
                <a:cs typeface="Times New Roman" panose="02020603050405020304" pitchFamily="18" charset="0"/>
              </a:rPr>
              <a:t>Thank you</a:t>
            </a:r>
            <a:endParaRPr lang="ko-KR" altLang="en-US" sz="32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CEF247AA-0854-D743-2243-D02760F8DF67}"/>
              </a:ext>
            </a:extLst>
          </p:cNvPr>
          <p:cNvCxnSpPr>
            <a:cxnSpLocks/>
          </p:cNvCxnSpPr>
          <p:nvPr/>
        </p:nvCxnSpPr>
        <p:spPr>
          <a:xfrm>
            <a:off x="0" y="223310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104CB680-D76C-FED2-E9E8-C90EF7B4F63A}"/>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20</a:t>
            </a:fld>
            <a:endParaRPr lang="ko-KR" altLang="en-US" dirty="0"/>
          </a:p>
        </p:txBody>
      </p:sp>
      <p:pic>
        <p:nvPicPr>
          <p:cNvPr id="2" name="Picture 2" descr="경희대학교">
            <a:extLst>
              <a:ext uri="{FF2B5EF4-FFF2-40B4-BE49-F238E27FC236}">
                <a16:creationId xmlns:a16="http://schemas.microsoft.com/office/drawing/2014/main" id="{8D08DE2E-B8A5-49A6-FB98-1CEAC3A811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93FFA269-7F5D-85AE-B116-845039B3681B}"/>
              </a:ext>
            </a:extLst>
          </p:cNvPr>
          <p:cNvCxnSpPr>
            <a:cxnSpLocks/>
          </p:cNvCxnSpPr>
          <p:nvPr/>
        </p:nvCxnSpPr>
        <p:spPr>
          <a:xfrm>
            <a:off x="-4914" y="4191661"/>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6574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Appendix</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21</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A: Item Metadata Description</a:t>
            </a:r>
            <a:endParaRPr lang="en-US" altLang="ko-KR" sz="1600" b="1" kern="1000" dirty="0">
              <a:latin typeface="Times New Roman" panose="02020603050405020304" pitchFamily="18" charset="0"/>
              <a:ea typeface="나눔고딕" panose="020D0604000000000000" pitchFamily="50" charset="-127"/>
            </a:endParaRPr>
          </a:p>
        </p:txBody>
      </p:sp>
      <p:graphicFrame>
        <p:nvGraphicFramePr>
          <p:cNvPr id="6" name="표 5">
            <a:extLst>
              <a:ext uri="{FF2B5EF4-FFF2-40B4-BE49-F238E27FC236}">
                <a16:creationId xmlns:a16="http://schemas.microsoft.com/office/drawing/2014/main" id="{B972B09E-45ED-6458-EAAE-2B95C09621D2}"/>
              </a:ext>
            </a:extLst>
          </p:cNvPr>
          <p:cNvGraphicFramePr>
            <a:graphicFrameLocks noGrp="1"/>
          </p:cNvGraphicFramePr>
          <p:nvPr>
            <p:extLst>
              <p:ext uri="{D42A27DB-BD31-4B8C-83A1-F6EECF244321}">
                <p14:modId xmlns:p14="http://schemas.microsoft.com/office/powerpoint/2010/main" val="1114284709"/>
              </p:ext>
            </p:extLst>
          </p:nvPr>
        </p:nvGraphicFramePr>
        <p:xfrm>
          <a:off x="404956" y="1790642"/>
          <a:ext cx="11372260" cy="3880713"/>
        </p:xfrm>
        <a:graphic>
          <a:graphicData uri="http://schemas.openxmlformats.org/drawingml/2006/table">
            <a:tbl>
              <a:tblPr firstRow="1" bandRow="1">
                <a:tableStyleId>{5C22544A-7EE6-4342-B048-85BDC9FD1C3A}</a:tableStyleId>
              </a:tblPr>
              <a:tblGrid>
                <a:gridCol w="1137226">
                  <a:extLst>
                    <a:ext uri="{9D8B030D-6E8A-4147-A177-3AD203B41FA5}">
                      <a16:colId xmlns:a16="http://schemas.microsoft.com/office/drawing/2014/main" val="1909896052"/>
                    </a:ext>
                  </a:extLst>
                </a:gridCol>
                <a:gridCol w="1137226">
                  <a:extLst>
                    <a:ext uri="{9D8B030D-6E8A-4147-A177-3AD203B41FA5}">
                      <a16:colId xmlns:a16="http://schemas.microsoft.com/office/drawing/2014/main" val="1091939760"/>
                    </a:ext>
                  </a:extLst>
                </a:gridCol>
                <a:gridCol w="1137226">
                  <a:extLst>
                    <a:ext uri="{9D8B030D-6E8A-4147-A177-3AD203B41FA5}">
                      <a16:colId xmlns:a16="http://schemas.microsoft.com/office/drawing/2014/main" val="3977993908"/>
                    </a:ext>
                  </a:extLst>
                </a:gridCol>
                <a:gridCol w="1137226">
                  <a:extLst>
                    <a:ext uri="{9D8B030D-6E8A-4147-A177-3AD203B41FA5}">
                      <a16:colId xmlns:a16="http://schemas.microsoft.com/office/drawing/2014/main" val="2790708379"/>
                    </a:ext>
                  </a:extLst>
                </a:gridCol>
                <a:gridCol w="1137226">
                  <a:extLst>
                    <a:ext uri="{9D8B030D-6E8A-4147-A177-3AD203B41FA5}">
                      <a16:colId xmlns:a16="http://schemas.microsoft.com/office/drawing/2014/main" val="2293862492"/>
                    </a:ext>
                  </a:extLst>
                </a:gridCol>
                <a:gridCol w="1137226">
                  <a:extLst>
                    <a:ext uri="{9D8B030D-6E8A-4147-A177-3AD203B41FA5}">
                      <a16:colId xmlns:a16="http://schemas.microsoft.com/office/drawing/2014/main" val="3958150951"/>
                    </a:ext>
                  </a:extLst>
                </a:gridCol>
                <a:gridCol w="1137226">
                  <a:extLst>
                    <a:ext uri="{9D8B030D-6E8A-4147-A177-3AD203B41FA5}">
                      <a16:colId xmlns:a16="http://schemas.microsoft.com/office/drawing/2014/main" val="1143124752"/>
                    </a:ext>
                  </a:extLst>
                </a:gridCol>
                <a:gridCol w="1137226">
                  <a:extLst>
                    <a:ext uri="{9D8B030D-6E8A-4147-A177-3AD203B41FA5}">
                      <a16:colId xmlns:a16="http://schemas.microsoft.com/office/drawing/2014/main" val="1821919611"/>
                    </a:ext>
                  </a:extLst>
                </a:gridCol>
                <a:gridCol w="1137226">
                  <a:extLst>
                    <a:ext uri="{9D8B030D-6E8A-4147-A177-3AD203B41FA5}">
                      <a16:colId xmlns:a16="http://schemas.microsoft.com/office/drawing/2014/main" val="3146872699"/>
                    </a:ext>
                  </a:extLst>
                </a:gridCol>
                <a:gridCol w="1137226">
                  <a:extLst>
                    <a:ext uri="{9D8B030D-6E8A-4147-A177-3AD203B41FA5}">
                      <a16:colId xmlns:a16="http://schemas.microsoft.com/office/drawing/2014/main" val="1557950956"/>
                    </a:ext>
                  </a:extLst>
                </a:gridCol>
              </a:tblGrid>
              <a:tr h="385189">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Title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Average_rating</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Rating_number</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Features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Description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Price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Store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Categories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font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Details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font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Parent_asin</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2292436187"/>
                  </a:ext>
                </a:extLst>
              </a:tr>
              <a:tr h="680962">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Dash 8-300 Professional Add-On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5.0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[Features Dash 8-300 and 8-Q300 ('Q' rollout l...</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[The Dash 8-300 Professional Add-On lets you p...</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None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Aerosoft</a:t>
                      </a:r>
                      <a:endParaRPr lang="en-US" sz="1000" kern="1200" dirty="0">
                        <a:solidFill>
                          <a:schemeClr val="tx1"/>
                        </a:solidFill>
                        <a:effectLst/>
                        <a:latin typeface="Times New Roman" panose="02020603050405020304" pitchFamily="18" charset="0"/>
                        <a:ea typeface="+mn-ea"/>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[Video Games, PC, Games]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{'Pricing': 'The strikethrough price is the Li...</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B000FH0MHO</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575431"/>
                  </a:ext>
                </a:extLst>
              </a:tr>
              <a:tr h="529637">
                <a:tc>
                  <a:txBody>
                    <a:bodyPr/>
                    <a:lstStyle/>
                    <a:p>
                      <a:pPr algn="ctr"/>
                      <a:r>
                        <a:rPr lang="en-US" sz="1000" kern="1200">
                          <a:solidFill>
                            <a:schemeClr val="tx1"/>
                          </a:solidFill>
                          <a:effectLst/>
                          <a:latin typeface="Times New Roman" panose="02020603050405020304" pitchFamily="18" charset="0"/>
                          <a:ea typeface="+mn-ea"/>
                          <a:cs typeface="Times New Roman" panose="02020603050405020304" pitchFamily="18" charset="0"/>
                        </a:rPr>
                        <a:t>Phantasmagoria: A Puzzle of Flesh</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a:solidFill>
                            <a:schemeClr val="tx1"/>
                          </a:solidFill>
                          <a:effectLst/>
                          <a:latin typeface="Times New Roman" panose="02020603050405020304" pitchFamily="18" charset="0"/>
                          <a:ea typeface="+mn-ea"/>
                          <a:cs typeface="Times New Roman" panose="02020603050405020304" pitchFamily="18" charset="0"/>
                        </a:rPr>
                        <a:t>4.1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a:solidFill>
                            <a:schemeClr val="tx1"/>
                          </a:solidFill>
                          <a:effectLst/>
                          <a:latin typeface="Times New Roman" panose="02020603050405020304" pitchFamily="18" charset="0"/>
                          <a:ea typeface="+mn-ea"/>
                          <a:cs typeface="Times New Roman" panose="02020603050405020304" pitchFamily="18" charset="0"/>
                        </a:rPr>
                        <a:t>18</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[Windows 95]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None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Sierra</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[Video Games, PC, Games]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{'Best Sellers Rank': {'Video Games': 137612, ...</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B00069EVOG</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563996"/>
                  </a:ext>
                </a:extLst>
              </a:tr>
              <a:tr h="680962">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NBA 2K17 - Early Tip Off Edition - PlayStation 4</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4.3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a:solidFill>
                            <a:schemeClr val="tx1"/>
                          </a:solidFill>
                          <a:effectLst/>
                          <a:latin typeface="Times New Roman" panose="02020603050405020304" pitchFamily="18" charset="0"/>
                          <a:ea typeface="+mn-ea"/>
                          <a:cs typeface="Times New Roman" panose="02020603050405020304" pitchFamily="18" charset="0"/>
                        </a:rPr>
                        <a:t>223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[The #1 rated NBA video game simulation series...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a:solidFill>
                            <a:schemeClr val="tx1"/>
                          </a:solidFill>
                          <a:effectLst/>
                          <a:latin typeface="Times New Roman" panose="02020603050405020304" pitchFamily="18" charset="0"/>
                          <a:ea typeface="+mn-ea"/>
                          <a:cs typeface="Times New Roman" panose="02020603050405020304" pitchFamily="18" charset="0"/>
                        </a:rPr>
                        <a:t>[Following the record-breaking launch of NBA 2...</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a:solidFill>
                            <a:schemeClr val="tx1"/>
                          </a:solidFill>
                          <a:effectLst/>
                          <a:latin typeface="Times New Roman" panose="02020603050405020304" pitchFamily="18" charset="0"/>
                          <a:ea typeface="+mn-ea"/>
                          <a:cs typeface="Times New Roman" panose="02020603050405020304" pitchFamily="18" charset="0"/>
                        </a:rPr>
                        <a:t>58.0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2K</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[Video Games, PlayStation 4, Games]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{'Release date': 'September 16, 2016', 'Best 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a:solidFill>
                            <a:schemeClr val="tx1"/>
                          </a:solidFill>
                          <a:effectLst/>
                          <a:latin typeface="Times New Roman" panose="02020603050405020304" pitchFamily="18" charset="0"/>
                          <a:ea typeface="+mn-ea"/>
                          <a:cs typeface="Times New Roman" panose="02020603050405020304" pitchFamily="18" charset="0"/>
                        </a:rPr>
                        <a:t>B00Z9TLVK0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115303"/>
                  </a:ext>
                </a:extLst>
              </a:tr>
              <a:tr h="529637">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Nintendo Selects: The Legend of Zelda Ocarina ...</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a:solidFill>
                            <a:schemeClr val="tx1"/>
                          </a:solidFill>
                          <a:effectLst/>
                          <a:latin typeface="Times New Roman" panose="02020603050405020304" pitchFamily="18" charset="0"/>
                          <a:ea typeface="+mn-ea"/>
                          <a:cs typeface="Times New Roman" panose="02020603050405020304" pitchFamily="18" charset="0"/>
                        </a:rPr>
                        <a:t>4.9</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22</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a:solidFill>
                            <a:schemeClr val="tx1"/>
                          </a:solidFill>
                          <a:effectLst/>
                          <a:latin typeface="Times New Roman" panose="02020603050405020304" pitchFamily="18" charset="0"/>
                          <a:ea typeface="+mn-ea"/>
                          <a:cs typeface="Times New Roman" panose="02020603050405020304" pitchFamily="18" charset="0"/>
                        </a:rPr>
                        <a:t>[Authentic Nintendo Selects: The Legend of Zel...</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a:solidFill>
                            <a:schemeClr val="tx1"/>
                          </a:solidFill>
                          <a:effectLst/>
                          <a:latin typeface="Times New Roman" panose="02020603050405020304" pitchFamily="18" charset="0"/>
                          <a:ea typeface="+mn-ea"/>
                          <a:cs typeface="Times New Roman" panose="02020603050405020304" pitchFamily="18" charset="0"/>
                        </a:rPr>
                        <a:t>37.42</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Amazon Renewed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[Video Games, Legacy Systems, Nintendo Systems...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{'Best Sellers Rank': {'Video Games': 51019, '...</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B07SZJZV88</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1249613"/>
                  </a:ext>
                </a:extLst>
              </a:tr>
              <a:tr h="529637">
                <a:tc>
                  <a:txBody>
                    <a:bodyPr/>
                    <a:lstStyle/>
                    <a:p>
                      <a:pPr algn="ctr"/>
                      <a:r>
                        <a:rPr lang="en-US" sz="1000" kern="1200" dirty="0" err="1">
                          <a:solidFill>
                            <a:schemeClr val="tx1"/>
                          </a:solidFill>
                          <a:effectLst/>
                          <a:latin typeface="Times New Roman" panose="02020603050405020304" pitchFamily="18" charset="0"/>
                          <a:ea typeface="+mn-ea"/>
                          <a:cs typeface="Times New Roman" panose="02020603050405020304" pitchFamily="18" charset="0"/>
                        </a:rPr>
                        <a:t>Thrustmaster</a:t>
                      </a:r>
                      <a:r>
                        <a:rPr lang="en-US" sz="1000" kern="1200" dirty="0">
                          <a:solidFill>
                            <a:schemeClr val="tx1"/>
                          </a:solidFill>
                          <a:effectLst/>
                          <a:latin typeface="Times New Roman" panose="02020603050405020304" pitchFamily="18" charset="0"/>
                          <a:ea typeface="+mn-ea"/>
                          <a:cs typeface="Times New Roman" panose="02020603050405020304" pitchFamily="18" charset="0"/>
                        </a:rPr>
                        <a:t> Elite Fitness Pack for Nintendo Wii</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3.0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[Includes (9) Total Accessories, Pedometer, Wi...</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[The </a:t>
                      </a:r>
                      <a:r>
                        <a:rPr lang="en-US" altLang="ko-KR" sz="1000" kern="1200" dirty="0" err="1">
                          <a:solidFill>
                            <a:schemeClr val="tx1"/>
                          </a:solidFill>
                          <a:effectLst/>
                          <a:latin typeface="Times New Roman" panose="02020603050405020304" pitchFamily="18" charset="0"/>
                          <a:ea typeface="+mn-ea"/>
                          <a:cs typeface="Times New Roman" panose="02020603050405020304" pitchFamily="18" charset="0"/>
                        </a:rPr>
                        <a:t>Thrustmaster</a:t>
                      </a: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 Motion Plus Elite Fitness Pa...</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None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THRUSTMASTER</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[Video Games, Legacy Systems, Nintendo Systems..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{'Release date': 'November 1, 2009', 'Pricing'...	</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B002WH4ZJG</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7784989"/>
                  </a:ext>
                </a:extLst>
              </a:tr>
              <a:tr h="529637">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Grand Prix 4</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3.7</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18</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[Operating System: Windows 98, ME, XP, Develop...</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[Grand Prix 4 is the fourth installment in the...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kern="1200" dirty="0">
                          <a:solidFill>
                            <a:schemeClr val="tx1"/>
                          </a:solidFill>
                          <a:effectLst/>
                          <a:latin typeface="Times New Roman" panose="02020603050405020304" pitchFamily="18" charset="0"/>
                          <a:ea typeface="+mn-ea"/>
                          <a:cs typeface="Times New Roman" panose="02020603050405020304" pitchFamily="18" charset="0"/>
                        </a:rPr>
                        <a:t>None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None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[Video Games, PC, Games]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{'Pricing': 'The strikethrough price is the Li...</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kern="1200" dirty="0">
                          <a:solidFill>
                            <a:schemeClr val="tx1"/>
                          </a:solidFill>
                          <a:effectLst/>
                          <a:latin typeface="Times New Roman" panose="02020603050405020304" pitchFamily="18" charset="0"/>
                          <a:ea typeface="+mn-ea"/>
                          <a:cs typeface="Times New Roman" panose="02020603050405020304" pitchFamily="18" charset="0"/>
                        </a:rPr>
                        <a:t>B00005Y3OJ</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7798228"/>
                  </a:ext>
                </a:extLst>
              </a:tr>
            </a:tbl>
          </a:graphicData>
        </a:graphic>
      </p:graphicFrame>
      <p:sp>
        <p:nvSpPr>
          <p:cNvPr id="8" name="TextBox 7">
            <a:extLst>
              <a:ext uri="{FF2B5EF4-FFF2-40B4-BE49-F238E27FC236}">
                <a16:creationId xmlns:a16="http://schemas.microsoft.com/office/drawing/2014/main" id="{95EAB2F2-077E-42E4-890E-494F7CD2E4EC}"/>
              </a:ext>
            </a:extLst>
          </p:cNvPr>
          <p:cNvSpPr txBox="1"/>
          <p:nvPr/>
        </p:nvSpPr>
        <p:spPr>
          <a:xfrm>
            <a:off x="4659038" y="1433338"/>
            <a:ext cx="2696123"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Table 7. Item Metadata Example</a:t>
            </a:r>
            <a:endParaRPr lang="ko-KR" altLang="en-US"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A8B9374-2883-A6C5-6342-E84861684631}"/>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1043862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Appendix</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22</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A: Item Metadata Description</a:t>
            </a:r>
            <a:endParaRPr lang="en-US" altLang="ko-KR" sz="1600" b="1" kern="1000" dirty="0">
              <a:latin typeface="Times New Roman" panose="02020603050405020304" pitchFamily="18" charset="0"/>
              <a:ea typeface="나눔고딕" panose="020D0604000000000000" pitchFamily="50" charset="-127"/>
            </a:endParaRPr>
          </a:p>
        </p:txBody>
      </p:sp>
      <p:sp>
        <p:nvSpPr>
          <p:cNvPr id="8" name="TextBox 7">
            <a:extLst>
              <a:ext uri="{FF2B5EF4-FFF2-40B4-BE49-F238E27FC236}">
                <a16:creationId xmlns:a16="http://schemas.microsoft.com/office/drawing/2014/main" id="{95EAB2F2-077E-42E4-890E-494F7CD2E4EC}"/>
              </a:ext>
            </a:extLst>
          </p:cNvPr>
          <p:cNvSpPr txBox="1"/>
          <p:nvPr/>
        </p:nvSpPr>
        <p:spPr>
          <a:xfrm>
            <a:off x="4732604" y="1500614"/>
            <a:ext cx="2741007"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Table 8. Description of  Metadata</a:t>
            </a:r>
            <a:endParaRPr lang="ko-KR" altLang="en-US" sz="1400" b="1" dirty="0">
              <a:latin typeface="Times New Roman" panose="02020603050405020304" pitchFamily="18" charset="0"/>
              <a:cs typeface="Times New Roman" panose="02020603050405020304" pitchFamily="18" charset="0"/>
            </a:endParaRPr>
          </a:p>
        </p:txBody>
      </p:sp>
      <p:graphicFrame>
        <p:nvGraphicFramePr>
          <p:cNvPr id="11" name="표 10">
            <a:extLst>
              <a:ext uri="{FF2B5EF4-FFF2-40B4-BE49-F238E27FC236}">
                <a16:creationId xmlns:a16="http://schemas.microsoft.com/office/drawing/2014/main" id="{A5DD753E-09F5-40E4-B387-DC41A481BF27}"/>
              </a:ext>
            </a:extLst>
          </p:cNvPr>
          <p:cNvGraphicFramePr>
            <a:graphicFrameLocks noGrp="1"/>
          </p:cNvGraphicFramePr>
          <p:nvPr>
            <p:extLst>
              <p:ext uri="{D42A27DB-BD31-4B8C-83A1-F6EECF244321}">
                <p14:modId xmlns:p14="http://schemas.microsoft.com/office/powerpoint/2010/main" val="1760975014"/>
              </p:ext>
            </p:extLst>
          </p:nvPr>
        </p:nvGraphicFramePr>
        <p:xfrm>
          <a:off x="1277786" y="1824771"/>
          <a:ext cx="9626599" cy="3963916"/>
        </p:xfrm>
        <a:graphic>
          <a:graphicData uri="http://schemas.openxmlformats.org/drawingml/2006/table">
            <a:tbl>
              <a:tblPr firstRow="1" bandRow="1">
                <a:tableStyleId>{5C22544A-7EE6-4342-B048-85BDC9FD1C3A}</a:tableStyleId>
              </a:tblPr>
              <a:tblGrid>
                <a:gridCol w="2451099">
                  <a:extLst>
                    <a:ext uri="{9D8B030D-6E8A-4147-A177-3AD203B41FA5}">
                      <a16:colId xmlns:a16="http://schemas.microsoft.com/office/drawing/2014/main" val="686248252"/>
                    </a:ext>
                  </a:extLst>
                </a:gridCol>
                <a:gridCol w="1282700">
                  <a:extLst>
                    <a:ext uri="{9D8B030D-6E8A-4147-A177-3AD203B41FA5}">
                      <a16:colId xmlns:a16="http://schemas.microsoft.com/office/drawing/2014/main" val="4203772715"/>
                    </a:ext>
                  </a:extLst>
                </a:gridCol>
                <a:gridCol w="5892800">
                  <a:extLst>
                    <a:ext uri="{9D8B030D-6E8A-4147-A177-3AD203B41FA5}">
                      <a16:colId xmlns:a16="http://schemas.microsoft.com/office/drawing/2014/main" val="1143124752"/>
                    </a:ext>
                  </a:extLst>
                </a:gridCol>
              </a:tblGrid>
              <a:tr h="360356">
                <a:tc>
                  <a:txBody>
                    <a:bodyPr/>
                    <a:lstStyle/>
                    <a:p>
                      <a:pPr marL="193040" marR="0" indent="0" algn="ctr" fontAlgn="base">
                        <a:spcBef>
                          <a:spcPts val="30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Columns Name</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marL="126365" marR="0" indent="0" algn="ctr" fontAlgn="base">
                        <a:spcBef>
                          <a:spcPts val="30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Type</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marL="3810" marR="0" indent="0" algn="ctr" fontAlgn="base">
                        <a:spcBef>
                          <a:spcPts val="30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Description</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extLst>
                  <a:ext uri="{0D108BD9-81ED-4DB2-BD59-A6C34878D82A}">
                    <a16:rowId xmlns:a16="http://schemas.microsoft.com/office/drawing/2014/main" val="2292436187"/>
                  </a:ext>
                </a:extLst>
              </a:tr>
              <a:tr h="360356">
                <a:tc>
                  <a:txBody>
                    <a:bodyPr/>
                    <a:lstStyle/>
                    <a:p>
                      <a:pPr marL="50165" marR="0" indent="0" algn="ctr" fontAlgn="base">
                        <a:spcBef>
                          <a:spcPts val="25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5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str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65"/>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Name of the product</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563996"/>
                  </a:ext>
                </a:extLst>
              </a:tr>
              <a:tr h="360356">
                <a:tc>
                  <a:txBody>
                    <a:bodyPr/>
                    <a:lstStyle/>
                    <a:p>
                      <a:pPr marL="50165" marR="0" indent="0" algn="ctr" fontAlgn="base">
                        <a:spcBef>
                          <a:spcPts val="260"/>
                        </a:spcBef>
                        <a:spcAft>
                          <a:spcPts val="0"/>
                        </a:spcAft>
                      </a:pP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Average_rating</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6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5"/>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Rating of the product shown on the product page</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115303"/>
                  </a:ext>
                </a:extLst>
              </a:tr>
              <a:tr h="360356">
                <a:tc>
                  <a:txBody>
                    <a:bodyPr/>
                    <a:lstStyle/>
                    <a:p>
                      <a:pPr marL="50165" marR="0" indent="0" algn="ctr" fontAlgn="base">
                        <a:spcBef>
                          <a:spcPts val="255"/>
                        </a:spcBef>
                        <a:spcAft>
                          <a:spcPts val="0"/>
                        </a:spcAft>
                      </a:pP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Rating_number</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55"/>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Number of ratings in the product</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8282290"/>
                  </a:ext>
                </a:extLst>
              </a:tr>
              <a:tr h="360356">
                <a:tc>
                  <a:txBody>
                    <a:bodyPr/>
                    <a:lstStyle/>
                    <a:p>
                      <a:pPr marL="50165" marR="0" indent="0" algn="ctr" fontAlgn="base">
                        <a:spcBef>
                          <a:spcPts val="255"/>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55"/>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Bullet-point format features of the product</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9861827"/>
                  </a:ext>
                </a:extLst>
              </a:tr>
              <a:tr h="360356">
                <a:tc>
                  <a:txBody>
                    <a:bodyPr/>
                    <a:lstStyle/>
                    <a:p>
                      <a:pPr marL="50165" marR="0" indent="0" algn="ctr" fontAlgn="base">
                        <a:spcBef>
                          <a:spcPts val="25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5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6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Description of the product</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59049639"/>
                  </a:ext>
                </a:extLst>
              </a:tr>
              <a:tr h="360356">
                <a:tc>
                  <a:txBody>
                    <a:bodyPr/>
                    <a:lstStyle/>
                    <a:p>
                      <a:pPr marL="50165" marR="0" indent="0" algn="ctr" fontAlgn="base">
                        <a:spcBef>
                          <a:spcPts val="26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6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5"/>
                        </a:lnSpc>
                        <a:spcBef>
                          <a:spcPts val="7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Price in US dollars</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1085819"/>
                  </a:ext>
                </a:extLst>
              </a:tr>
              <a:tr h="360356">
                <a:tc>
                  <a:txBody>
                    <a:bodyPr/>
                    <a:lstStyle/>
                    <a:p>
                      <a:pPr marL="50165" marR="0" indent="0" algn="ctr" fontAlgn="base">
                        <a:spcBef>
                          <a:spcPts val="26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6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str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5"/>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Store name of the product</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53107241"/>
                  </a:ext>
                </a:extLst>
              </a:tr>
              <a:tr h="360356">
                <a:tc>
                  <a:txBody>
                    <a:bodyPr/>
                    <a:lstStyle/>
                    <a:p>
                      <a:pPr marL="50165" marR="0" indent="0" algn="ctr" fontAlgn="base">
                        <a:spcBef>
                          <a:spcPts val="255"/>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Categories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55"/>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Hierarchical categories of the product</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1394259"/>
                  </a:ext>
                </a:extLst>
              </a:tr>
              <a:tr h="360356">
                <a:tc>
                  <a:txBody>
                    <a:bodyPr/>
                    <a:lstStyle/>
                    <a:p>
                      <a:pPr marL="50165" marR="0" indent="0" algn="ctr" fontAlgn="base">
                        <a:spcBef>
                          <a:spcPts val="255"/>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55"/>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dict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Product details, including materials, brand, sizes, </a:t>
                      </a:r>
                      <a:r>
                        <a:rPr lang="en-US" altLang="ko-KR" sz="1600" kern="1200" dirty="0" err="1">
                          <a:solidFill>
                            <a:schemeClr val="tx1"/>
                          </a:solidFill>
                          <a:effectLst/>
                          <a:latin typeface="Times New Roman" panose="02020603050405020304" pitchFamily="18" charset="0"/>
                          <a:ea typeface="+mn-ea"/>
                          <a:cs typeface="Times New Roman" panose="02020603050405020304" pitchFamily="18" charset="0"/>
                        </a:rPr>
                        <a:t>etc</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6555430"/>
                  </a:ext>
                </a:extLst>
              </a:tr>
              <a:tr h="360356">
                <a:tc>
                  <a:txBody>
                    <a:bodyPr/>
                    <a:lstStyle/>
                    <a:p>
                      <a:pPr marL="50165" marR="0" indent="0" algn="ctr" fontAlgn="base">
                        <a:spcBef>
                          <a:spcPts val="250"/>
                        </a:spcBef>
                        <a:spcAft>
                          <a:spcPts val="0"/>
                        </a:spcAft>
                      </a:pP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Parent_asin</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5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str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6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Parent ID of the product</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8875359"/>
                  </a:ext>
                </a:extLst>
              </a:tr>
            </a:tbl>
          </a:graphicData>
        </a:graphic>
      </p:graphicFrame>
      <p:sp>
        <p:nvSpPr>
          <p:cNvPr id="6" name="TextBox 5">
            <a:extLst>
              <a:ext uri="{FF2B5EF4-FFF2-40B4-BE49-F238E27FC236}">
                <a16:creationId xmlns:a16="http://schemas.microsoft.com/office/drawing/2014/main" id="{511E8E5B-8EC7-2DBC-421A-B2DDD25B8966}"/>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1607863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Appendix</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23</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B: Review Data Description</a:t>
            </a:r>
            <a:endParaRPr lang="en-US" altLang="ko-KR" sz="1600" b="1" kern="1000" dirty="0">
              <a:latin typeface="Times New Roman" panose="02020603050405020304" pitchFamily="18" charset="0"/>
              <a:ea typeface="나눔고딕" panose="020D0604000000000000" pitchFamily="50" charset="-127"/>
            </a:endParaRPr>
          </a:p>
        </p:txBody>
      </p:sp>
      <p:graphicFrame>
        <p:nvGraphicFramePr>
          <p:cNvPr id="6" name="표 5">
            <a:extLst>
              <a:ext uri="{FF2B5EF4-FFF2-40B4-BE49-F238E27FC236}">
                <a16:creationId xmlns:a16="http://schemas.microsoft.com/office/drawing/2014/main" id="{B972B09E-45ED-6458-EAAE-2B95C09621D2}"/>
              </a:ext>
            </a:extLst>
          </p:cNvPr>
          <p:cNvGraphicFramePr>
            <a:graphicFrameLocks noGrp="1"/>
          </p:cNvGraphicFramePr>
          <p:nvPr>
            <p:extLst>
              <p:ext uri="{D42A27DB-BD31-4B8C-83A1-F6EECF244321}">
                <p14:modId xmlns:p14="http://schemas.microsoft.com/office/powerpoint/2010/main" val="1456460353"/>
              </p:ext>
            </p:extLst>
          </p:nvPr>
        </p:nvGraphicFramePr>
        <p:xfrm>
          <a:off x="291931" y="2053373"/>
          <a:ext cx="11598310" cy="3588326"/>
        </p:xfrm>
        <a:graphic>
          <a:graphicData uri="http://schemas.openxmlformats.org/drawingml/2006/table">
            <a:tbl>
              <a:tblPr firstRow="1" bandRow="1">
                <a:tableStyleId>{5C22544A-7EE6-4342-B048-85BDC9FD1C3A}</a:tableStyleId>
              </a:tblPr>
              <a:tblGrid>
                <a:gridCol w="1159831">
                  <a:extLst>
                    <a:ext uri="{9D8B030D-6E8A-4147-A177-3AD203B41FA5}">
                      <a16:colId xmlns:a16="http://schemas.microsoft.com/office/drawing/2014/main" val="686248252"/>
                    </a:ext>
                  </a:extLst>
                </a:gridCol>
                <a:gridCol w="1159831">
                  <a:extLst>
                    <a:ext uri="{9D8B030D-6E8A-4147-A177-3AD203B41FA5}">
                      <a16:colId xmlns:a16="http://schemas.microsoft.com/office/drawing/2014/main" val="4203772715"/>
                    </a:ext>
                  </a:extLst>
                </a:gridCol>
                <a:gridCol w="1159831">
                  <a:extLst>
                    <a:ext uri="{9D8B030D-6E8A-4147-A177-3AD203B41FA5}">
                      <a16:colId xmlns:a16="http://schemas.microsoft.com/office/drawing/2014/main" val="1143124752"/>
                    </a:ext>
                  </a:extLst>
                </a:gridCol>
                <a:gridCol w="1159831">
                  <a:extLst>
                    <a:ext uri="{9D8B030D-6E8A-4147-A177-3AD203B41FA5}">
                      <a16:colId xmlns:a16="http://schemas.microsoft.com/office/drawing/2014/main" val="2295465168"/>
                    </a:ext>
                  </a:extLst>
                </a:gridCol>
                <a:gridCol w="1159831">
                  <a:extLst>
                    <a:ext uri="{9D8B030D-6E8A-4147-A177-3AD203B41FA5}">
                      <a16:colId xmlns:a16="http://schemas.microsoft.com/office/drawing/2014/main" val="3146872699"/>
                    </a:ext>
                  </a:extLst>
                </a:gridCol>
                <a:gridCol w="1159831">
                  <a:extLst>
                    <a:ext uri="{9D8B030D-6E8A-4147-A177-3AD203B41FA5}">
                      <a16:colId xmlns:a16="http://schemas.microsoft.com/office/drawing/2014/main" val="1557950956"/>
                    </a:ext>
                  </a:extLst>
                </a:gridCol>
                <a:gridCol w="1159831">
                  <a:extLst>
                    <a:ext uri="{9D8B030D-6E8A-4147-A177-3AD203B41FA5}">
                      <a16:colId xmlns:a16="http://schemas.microsoft.com/office/drawing/2014/main" val="3302940286"/>
                    </a:ext>
                  </a:extLst>
                </a:gridCol>
                <a:gridCol w="1159831">
                  <a:extLst>
                    <a:ext uri="{9D8B030D-6E8A-4147-A177-3AD203B41FA5}">
                      <a16:colId xmlns:a16="http://schemas.microsoft.com/office/drawing/2014/main" val="2110896919"/>
                    </a:ext>
                  </a:extLst>
                </a:gridCol>
                <a:gridCol w="1159831">
                  <a:extLst>
                    <a:ext uri="{9D8B030D-6E8A-4147-A177-3AD203B41FA5}">
                      <a16:colId xmlns:a16="http://schemas.microsoft.com/office/drawing/2014/main" val="1775184422"/>
                    </a:ext>
                  </a:extLst>
                </a:gridCol>
                <a:gridCol w="1159831">
                  <a:extLst>
                    <a:ext uri="{9D8B030D-6E8A-4147-A177-3AD203B41FA5}">
                      <a16:colId xmlns:a16="http://schemas.microsoft.com/office/drawing/2014/main" val="1473717955"/>
                    </a:ext>
                  </a:extLst>
                </a:gridCol>
              </a:tblGrid>
              <a:tr h="387926">
                <a:tc>
                  <a:txBody>
                    <a:bodyPr/>
                    <a:lstStyle/>
                    <a:p>
                      <a:pPr algn="ctr" fontAlgn="ctr"/>
                      <a:r>
                        <a:rPr lang="en-US" sz="1000" dirty="0">
                          <a:solidFill>
                            <a:schemeClr val="tx1"/>
                          </a:solidFill>
                          <a:effectLst/>
                          <a:latin typeface="Times New Roman" panose="02020603050405020304" pitchFamily="18" charset="0"/>
                          <a:cs typeface="Times New Roman" panose="02020603050405020304" pitchFamily="18" charset="0"/>
                        </a:rPr>
                        <a:t>Rating</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dirty="0">
                          <a:solidFill>
                            <a:schemeClr val="tx1"/>
                          </a:solidFill>
                          <a:effectLst/>
                          <a:latin typeface="Times New Roman" panose="02020603050405020304" pitchFamily="18" charset="0"/>
                          <a:cs typeface="Times New Roman" panose="02020603050405020304" pitchFamily="18" charset="0"/>
                        </a:rPr>
                        <a:t>Title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dirty="0">
                          <a:solidFill>
                            <a:schemeClr val="tx1"/>
                          </a:solidFill>
                          <a:effectLst/>
                          <a:latin typeface="Times New Roman" panose="02020603050405020304" pitchFamily="18" charset="0"/>
                          <a:cs typeface="Times New Roman" panose="02020603050405020304" pitchFamily="18" charset="0"/>
                        </a:rPr>
                        <a:t>Text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algn="ctr" fontAlgn="ctr"/>
                      <a:r>
                        <a:rPr lang="en-US" sz="1000" dirty="0">
                          <a:solidFill>
                            <a:schemeClr val="tx1"/>
                          </a:solidFill>
                          <a:effectLst/>
                          <a:latin typeface="Times New Roman" panose="02020603050405020304" pitchFamily="18" charset="0"/>
                          <a:cs typeface="Times New Roman" panose="02020603050405020304" pitchFamily="18" charset="0"/>
                        </a:rPr>
                        <a:t>Images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fontAlgn="ctr"/>
                      <a:r>
                        <a:rPr lang="en-US" sz="1000" dirty="0">
                          <a:solidFill>
                            <a:schemeClr val="tx1"/>
                          </a:solidFill>
                          <a:effectLst/>
                          <a:latin typeface="Times New Roman" panose="02020603050405020304" pitchFamily="18" charset="0"/>
                          <a:cs typeface="Times New Roman" panose="02020603050405020304" pitchFamily="18" charset="0"/>
                        </a:rPr>
                        <a:t>Asin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fontAlgn="ctr"/>
                      <a:r>
                        <a:rPr lang="en-US" sz="1000" dirty="0" err="1">
                          <a:solidFill>
                            <a:schemeClr val="tx1"/>
                          </a:solidFill>
                          <a:effectLst/>
                          <a:latin typeface="Times New Roman" panose="02020603050405020304" pitchFamily="18" charset="0"/>
                          <a:cs typeface="Times New Roman" panose="02020603050405020304" pitchFamily="18" charset="0"/>
                        </a:rPr>
                        <a:t>Parent_asin</a:t>
                      </a:r>
                      <a:endParaRPr lang="en-US" sz="1000" dirty="0">
                        <a:solidFill>
                          <a:schemeClr val="tx1"/>
                        </a:solidFill>
                        <a:effectLst/>
                        <a:latin typeface="Times New Roman" panose="02020603050405020304" pitchFamily="18"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fontAlgn="ctr"/>
                      <a:r>
                        <a:rPr lang="en-US" sz="1000" dirty="0" err="1">
                          <a:solidFill>
                            <a:schemeClr val="tx1"/>
                          </a:solidFill>
                          <a:effectLst/>
                          <a:latin typeface="Times New Roman" panose="02020603050405020304" pitchFamily="18" charset="0"/>
                          <a:cs typeface="Times New Roman" panose="02020603050405020304" pitchFamily="18" charset="0"/>
                        </a:rPr>
                        <a:t>User_id</a:t>
                      </a:r>
                      <a:endParaRPr lang="en-US" sz="1000" dirty="0">
                        <a:solidFill>
                          <a:schemeClr val="tx1"/>
                        </a:solidFill>
                        <a:effectLst/>
                        <a:latin typeface="Times New Roman" panose="02020603050405020304" pitchFamily="18"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fontAlgn="ctr"/>
                      <a:r>
                        <a:rPr lang="en-US" sz="1000" dirty="0">
                          <a:solidFill>
                            <a:schemeClr val="tx1"/>
                          </a:solidFill>
                          <a:effectLst/>
                          <a:latin typeface="Times New Roman" panose="02020603050405020304" pitchFamily="18" charset="0"/>
                          <a:cs typeface="Times New Roman" panose="02020603050405020304" pitchFamily="18" charset="0"/>
                        </a:rPr>
                        <a:t>Timestamp</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fontAlgn="ctr"/>
                      <a:r>
                        <a:rPr lang="en-US" sz="1000" dirty="0" err="1">
                          <a:solidFill>
                            <a:schemeClr val="tx1"/>
                          </a:solidFill>
                          <a:effectLst/>
                          <a:latin typeface="Times New Roman" panose="02020603050405020304" pitchFamily="18" charset="0"/>
                          <a:cs typeface="Times New Roman" panose="02020603050405020304" pitchFamily="18" charset="0"/>
                        </a:rPr>
                        <a:t>Helpful_vote</a:t>
                      </a:r>
                      <a:endParaRPr lang="en-US" sz="1000" dirty="0">
                        <a:solidFill>
                          <a:schemeClr val="tx1"/>
                        </a:solidFill>
                        <a:effectLst/>
                        <a:latin typeface="Times New Roman" panose="02020603050405020304" pitchFamily="18"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fontAlgn="ctr"/>
                      <a:r>
                        <a:rPr lang="en-US" sz="1000" dirty="0" err="1">
                          <a:solidFill>
                            <a:schemeClr val="tx1"/>
                          </a:solidFill>
                          <a:effectLst/>
                          <a:latin typeface="Times New Roman" panose="02020603050405020304" pitchFamily="18" charset="0"/>
                          <a:cs typeface="Times New Roman" panose="02020603050405020304" pitchFamily="18" charset="0"/>
                        </a:rPr>
                        <a:t>Verified_purchase</a:t>
                      </a:r>
                      <a:endParaRPr lang="en-US" sz="1000" dirty="0">
                        <a:solidFill>
                          <a:schemeClr val="tx1"/>
                        </a:solidFill>
                        <a:effectLst/>
                        <a:latin typeface="Times New Roman" panose="02020603050405020304" pitchFamily="18"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2292436187"/>
                  </a:ext>
                </a:extLst>
              </a:tr>
              <a:tr h="467280">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4.0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It’s pretty sexual. Not my fav</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I’m playing on ps5 and it’s interesting. It’s...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B07DJWBYKP</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B07DK1H3H5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AGCI7FAH4GL5FI65HYLKWTMFZ2CQ</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1608186804795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True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575431"/>
                  </a:ext>
                </a:extLst>
              </a:tr>
              <a:tr h="467280">
                <a:tc>
                  <a:txBody>
                    <a:bodyPr/>
                    <a:lstStyle/>
                    <a:p>
                      <a:pPr algn="ctr"/>
                      <a:r>
                        <a:rPr lang="en-US" altLang="ko-KR" sz="1000">
                          <a:solidFill>
                            <a:schemeClr val="tx1"/>
                          </a:solidFill>
                          <a:effectLst/>
                          <a:latin typeface="Times New Roman" panose="02020603050405020304" pitchFamily="18" charset="0"/>
                          <a:cs typeface="Times New Roman" panose="02020603050405020304" pitchFamily="18" charset="0"/>
                        </a:rPr>
                        <a:t>5.0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Good. A bit slow</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Nostalgic fun. A bit slow. I hope they don’t...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B00ZS80PC2</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B07SRWRH5D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AGCI7FAH4GL5FI65HYLKWTMFZ2CQ</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1587051114941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a:solidFill>
                            <a:schemeClr val="tx1"/>
                          </a:solidFill>
                          <a:effectLst/>
                          <a:latin typeface="Times New Roman" panose="02020603050405020304" pitchFamily="18" charset="0"/>
                          <a:cs typeface="Times New Roman" panose="02020603050405020304" pitchFamily="18" charset="0"/>
                        </a:rPr>
                        <a:t>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False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563996"/>
                  </a:ext>
                </a:extLst>
              </a:tr>
              <a:tr h="467280">
                <a:tc>
                  <a:txBody>
                    <a:bodyPr/>
                    <a:lstStyle/>
                    <a:p>
                      <a:pPr algn="ctr"/>
                      <a:r>
                        <a:rPr lang="en-US" altLang="ko-KR" sz="1000">
                          <a:solidFill>
                            <a:schemeClr val="tx1"/>
                          </a:solidFill>
                          <a:effectLst/>
                          <a:latin typeface="Times New Roman" panose="02020603050405020304" pitchFamily="18" charset="0"/>
                          <a:cs typeface="Times New Roman" panose="02020603050405020304" pitchFamily="18" charset="0"/>
                        </a:rPr>
                        <a:t>5.0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 an order for my kids &amp; they have really </a:t>
                      </a:r>
                      <a:r>
                        <a:rPr lang="en-US" sz="1000" dirty="0" err="1">
                          <a:solidFill>
                            <a:schemeClr val="tx1"/>
                          </a:solidFill>
                          <a:effectLst/>
                          <a:latin typeface="Times New Roman" panose="02020603050405020304" pitchFamily="18" charset="0"/>
                          <a:cs typeface="Times New Roman" panose="02020603050405020304" pitchFamily="18" charset="0"/>
                        </a:rPr>
                        <a:t>en</a:t>
                      </a:r>
                      <a:r>
                        <a:rPr lang="en-US" sz="1000" dirty="0">
                          <a:solidFill>
                            <a:schemeClr val="tx1"/>
                          </a:solidFill>
                          <a:effectLst/>
                          <a:latin typeface="Times New Roman" panose="02020603050405020304" pitchFamily="18" charset="0"/>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This was an order for my kids &amp; they have real...</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B01FEHJYUU</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B07MFMFW34</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AGXVBIUFLFGMVLATYXHJYL4A5Q7Q</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1490877431000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a:solidFill>
                            <a:schemeClr val="tx1"/>
                          </a:solidFill>
                          <a:effectLst/>
                          <a:latin typeface="Times New Roman" panose="02020603050405020304" pitchFamily="18" charset="0"/>
                          <a:cs typeface="Times New Roman" panose="02020603050405020304" pitchFamily="18" charset="0"/>
                        </a:rPr>
                        <a:t>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True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115303"/>
                  </a:ext>
                </a:extLst>
              </a:tr>
              <a:tr h="467280">
                <a:tc>
                  <a:txBody>
                    <a:bodyPr/>
                    <a:lstStyle/>
                    <a:p>
                      <a:pPr algn="ctr"/>
                      <a:r>
                        <a:rPr lang="en-US" altLang="ko-KR" sz="1000">
                          <a:solidFill>
                            <a:schemeClr val="tx1"/>
                          </a:solidFill>
                          <a:effectLst/>
                          <a:latin typeface="Times New Roman" panose="02020603050405020304" pitchFamily="18" charset="0"/>
                          <a:cs typeface="Times New Roman" panose="02020603050405020304" pitchFamily="18" charset="0"/>
                        </a:rPr>
                        <a:t>3.0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love all the amazing colors but the black is r...</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love all the amazing colors but the black is r...</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B016Y2BVKA</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B073SC6V1D</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AHXSBZT52TCPZUBVCBRICTHWUCBA</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1518124539574</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a:solidFill>
                            <a:schemeClr val="tx1"/>
                          </a:solidFill>
                          <a:effectLst/>
                          <a:latin typeface="Times New Roman" panose="02020603050405020304" pitchFamily="18" charset="0"/>
                          <a:cs typeface="Times New Roman" panose="02020603050405020304" pitchFamily="18" charset="0"/>
                        </a:rPr>
                        <a:t>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True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8282290"/>
                  </a:ext>
                </a:extLst>
              </a:tr>
              <a:tr h="467280">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5.0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Will use again</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Instant delivery!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B004RMK57U</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B004RMK57U</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AHZIJGKEWRTAEOZ673G5B3SNXEGQ</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1602937709361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a:solidFill>
                            <a:schemeClr val="tx1"/>
                          </a:solidFill>
                          <a:effectLst/>
                          <a:latin typeface="Times New Roman" panose="02020603050405020304" pitchFamily="18" charset="0"/>
                          <a:cs typeface="Times New Roman" panose="02020603050405020304" pitchFamily="18" charset="0"/>
                        </a:rPr>
                        <a:t>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True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9861827"/>
                  </a:ext>
                </a:extLst>
              </a:tr>
              <a:tr h="467280">
                <a:tc>
                  <a:txBody>
                    <a:bodyPr/>
                    <a:lstStyle/>
                    <a:p>
                      <a:pPr algn="ctr"/>
                      <a:r>
                        <a:rPr lang="en-US" altLang="ko-KR" sz="1000">
                          <a:solidFill>
                            <a:schemeClr val="tx1"/>
                          </a:solidFill>
                          <a:effectLst/>
                          <a:latin typeface="Times New Roman" panose="02020603050405020304" pitchFamily="18" charset="0"/>
                          <a:cs typeface="Times New Roman" panose="02020603050405020304" pitchFamily="18" charset="0"/>
                        </a:rPr>
                        <a:t>5.0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if its prime day and you're contemplating, jus...</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you should probably get these. you'll journal ...</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a:t>
                      </a:r>
                      <a:r>
                        <a:rPr lang="en-US" sz="1000" dirty="0" err="1">
                          <a:solidFill>
                            <a:schemeClr val="tx1"/>
                          </a:solidFill>
                          <a:effectLst/>
                          <a:latin typeface="Times New Roman" panose="02020603050405020304" pitchFamily="18" charset="0"/>
                          <a:cs typeface="Times New Roman" panose="02020603050405020304" pitchFamily="18" charset="0"/>
                        </a:rPr>
                        <a:t>small_image_url</a:t>
                      </a:r>
                      <a:r>
                        <a:rPr lang="en-US" sz="1000" dirty="0">
                          <a:solidFill>
                            <a:schemeClr val="tx1"/>
                          </a:solidFill>
                          <a:effectLst/>
                          <a:latin typeface="Times New Roman" panose="02020603050405020304" pitchFamily="18" charset="0"/>
                          <a:cs typeface="Times New Roman" panose="02020603050405020304" pitchFamily="18" charset="0"/>
                        </a:rPr>
                        <a:t>': 'https://images-</a:t>
                      </a:r>
                      <a:r>
                        <a:rPr lang="en-US" sz="1000" dirty="0" err="1">
                          <a:solidFill>
                            <a:schemeClr val="tx1"/>
                          </a:solidFill>
                          <a:effectLst/>
                          <a:latin typeface="Times New Roman" panose="02020603050405020304" pitchFamily="18" charset="0"/>
                          <a:cs typeface="Times New Roman" panose="02020603050405020304" pitchFamily="18" charset="0"/>
                        </a:rPr>
                        <a:t>na.ssl</a:t>
                      </a:r>
                      <a:r>
                        <a:rPr lang="en-US" sz="1000" dirty="0">
                          <a:solidFill>
                            <a:schemeClr val="tx1"/>
                          </a:solidFill>
                          <a:effectLst/>
                          <a:latin typeface="Times New Roman" panose="02020603050405020304" pitchFamily="18" charset="0"/>
                          <a:cs typeface="Times New Roman" panose="02020603050405020304" pitchFamily="18" charset="0"/>
                        </a:rPr>
                        <a:t>-</a:t>
                      </a:r>
                      <a:r>
                        <a:rPr lang="en-US" sz="1000" dirty="0" err="1">
                          <a:solidFill>
                            <a:schemeClr val="tx1"/>
                          </a:solidFill>
                          <a:effectLst/>
                          <a:latin typeface="Times New Roman" panose="02020603050405020304" pitchFamily="18" charset="0"/>
                          <a:cs typeface="Times New Roman" panose="02020603050405020304" pitchFamily="18" charset="0"/>
                        </a:rPr>
                        <a:t>im</a:t>
                      </a:r>
                      <a:r>
                        <a:rPr lang="en-US" sz="1000" dirty="0">
                          <a:solidFill>
                            <a:schemeClr val="tx1"/>
                          </a:solidFill>
                          <a:effectLst/>
                          <a:latin typeface="Times New Roman" panose="02020603050405020304" pitchFamily="18" charset="0"/>
                          <a:cs typeface="Times New Roman" panose="02020603050405020304" pitchFamily="18" charset="0"/>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a:solidFill>
                            <a:schemeClr val="tx1"/>
                          </a:solidFill>
                          <a:effectLst/>
                          <a:latin typeface="Times New Roman" panose="02020603050405020304" pitchFamily="18" charset="0"/>
                          <a:cs typeface="Times New Roman" panose="02020603050405020304" pitchFamily="18" charset="0"/>
                        </a:rPr>
                        <a:t>B07N85FY1G</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B0BYVN9ZK2</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AFO6QN6ICKWUFQV3UEWK5EECIQTQ</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1602718512453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ko-KR" sz="1000" dirty="0">
                          <a:solidFill>
                            <a:schemeClr val="tx1"/>
                          </a:solidFill>
                          <a:effectLst/>
                          <a:latin typeface="Times New Roman" panose="02020603050405020304" pitchFamily="18" charset="0"/>
                          <a:cs typeface="Times New Roman" panose="02020603050405020304" pitchFamily="18" charset="0"/>
                        </a:rPr>
                        <a:t>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dirty="0">
                          <a:solidFill>
                            <a:schemeClr val="tx1"/>
                          </a:solidFill>
                          <a:effectLst/>
                          <a:latin typeface="Times New Roman" panose="02020603050405020304" pitchFamily="18" charset="0"/>
                          <a:cs typeface="Times New Roman" panose="02020603050405020304" pitchFamily="18" charset="0"/>
                        </a:rPr>
                        <a:t>False</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9800616"/>
                  </a:ext>
                </a:extLst>
              </a:tr>
            </a:tbl>
          </a:graphicData>
        </a:graphic>
      </p:graphicFrame>
      <p:sp>
        <p:nvSpPr>
          <p:cNvPr id="8" name="TextBox 7">
            <a:extLst>
              <a:ext uri="{FF2B5EF4-FFF2-40B4-BE49-F238E27FC236}">
                <a16:creationId xmlns:a16="http://schemas.microsoft.com/office/drawing/2014/main" id="{95EAB2F2-077E-42E4-890E-494F7CD2E4EC}"/>
              </a:ext>
            </a:extLst>
          </p:cNvPr>
          <p:cNvSpPr txBox="1"/>
          <p:nvPr/>
        </p:nvSpPr>
        <p:spPr>
          <a:xfrm>
            <a:off x="4638199" y="1646543"/>
            <a:ext cx="2737801"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Table 9. Review Dataset Example</a:t>
            </a:r>
            <a:endParaRPr lang="ko-KR" altLang="en-US"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EB4E1CF-BA2D-9501-AC4D-64977AE595EC}"/>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3328578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Appendix</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24</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B: Review Data Description</a:t>
            </a:r>
          </a:p>
        </p:txBody>
      </p:sp>
      <p:sp>
        <p:nvSpPr>
          <p:cNvPr id="8" name="TextBox 7">
            <a:extLst>
              <a:ext uri="{FF2B5EF4-FFF2-40B4-BE49-F238E27FC236}">
                <a16:creationId xmlns:a16="http://schemas.microsoft.com/office/drawing/2014/main" id="{95EAB2F2-077E-42E4-890E-494F7CD2E4EC}"/>
              </a:ext>
            </a:extLst>
          </p:cNvPr>
          <p:cNvSpPr txBox="1"/>
          <p:nvPr/>
        </p:nvSpPr>
        <p:spPr>
          <a:xfrm>
            <a:off x="4183704" y="1587957"/>
            <a:ext cx="3904530" cy="307777"/>
          </a:xfrm>
          <a:prstGeom prst="rect">
            <a:avLst/>
          </a:prstGeom>
          <a:noFill/>
        </p:spPr>
        <p:txBody>
          <a:bodyPr wrap="none" rtlCol="0">
            <a:spAutoFit/>
          </a:bodyPr>
          <a:lstStyle/>
          <a:p>
            <a:r>
              <a:rPr lang="en-US" altLang="ko-KR" sz="1400" b="1" dirty="0">
                <a:latin typeface="Times New Roman" panose="02020603050405020304" pitchFamily="18" charset="0"/>
                <a:cs typeface="Times New Roman" panose="02020603050405020304" pitchFamily="18" charset="0"/>
              </a:rPr>
              <a:t>Table 10. Description of Amazon Review Dataset</a:t>
            </a:r>
            <a:endParaRPr lang="ko-KR" altLang="en-US" sz="1400" b="1" dirty="0">
              <a:latin typeface="Times New Roman" panose="02020603050405020304" pitchFamily="18" charset="0"/>
              <a:cs typeface="Times New Roman" panose="02020603050405020304" pitchFamily="18" charset="0"/>
            </a:endParaRPr>
          </a:p>
        </p:txBody>
      </p:sp>
      <p:graphicFrame>
        <p:nvGraphicFramePr>
          <p:cNvPr id="11" name="표 10">
            <a:extLst>
              <a:ext uri="{FF2B5EF4-FFF2-40B4-BE49-F238E27FC236}">
                <a16:creationId xmlns:a16="http://schemas.microsoft.com/office/drawing/2014/main" id="{A5DD753E-09F5-40E4-B387-DC41A481BF27}"/>
              </a:ext>
            </a:extLst>
          </p:cNvPr>
          <p:cNvGraphicFramePr>
            <a:graphicFrameLocks noGrp="1"/>
          </p:cNvGraphicFramePr>
          <p:nvPr>
            <p:extLst>
              <p:ext uri="{D42A27DB-BD31-4B8C-83A1-F6EECF244321}">
                <p14:modId xmlns:p14="http://schemas.microsoft.com/office/powerpoint/2010/main" val="3254028465"/>
              </p:ext>
            </p:extLst>
          </p:nvPr>
        </p:nvGraphicFramePr>
        <p:xfrm>
          <a:off x="1277786" y="2010027"/>
          <a:ext cx="9626599" cy="3880928"/>
        </p:xfrm>
        <a:graphic>
          <a:graphicData uri="http://schemas.openxmlformats.org/drawingml/2006/table">
            <a:tbl>
              <a:tblPr firstRow="1" bandRow="1">
                <a:tableStyleId>{5C22544A-7EE6-4342-B048-85BDC9FD1C3A}</a:tableStyleId>
              </a:tblPr>
              <a:tblGrid>
                <a:gridCol w="2451099">
                  <a:extLst>
                    <a:ext uri="{9D8B030D-6E8A-4147-A177-3AD203B41FA5}">
                      <a16:colId xmlns:a16="http://schemas.microsoft.com/office/drawing/2014/main" val="686248252"/>
                    </a:ext>
                  </a:extLst>
                </a:gridCol>
                <a:gridCol w="1907747">
                  <a:extLst>
                    <a:ext uri="{9D8B030D-6E8A-4147-A177-3AD203B41FA5}">
                      <a16:colId xmlns:a16="http://schemas.microsoft.com/office/drawing/2014/main" val="4203772715"/>
                    </a:ext>
                  </a:extLst>
                </a:gridCol>
                <a:gridCol w="5267753">
                  <a:extLst>
                    <a:ext uri="{9D8B030D-6E8A-4147-A177-3AD203B41FA5}">
                      <a16:colId xmlns:a16="http://schemas.microsoft.com/office/drawing/2014/main" val="1143124752"/>
                    </a:ext>
                  </a:extLst>
                </a:gridCol>
              </a:tblGrid>
              <a:tr h="336948">
                <a:tc>
                  <a:txBody>
                    <a:bodyPr/>
                    <a:lstStyle/>
                    <a:p>
                      <a:pPr marL="193040" marR="0" indent="0" algn="ctr" fontAlgn="base">
                        <a:spcBef>
                          <a:spcPts val="30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Columns Name</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marL="126365" marR="0" indent="0" algn="ctr" fontAlgn="base">
                        <a:spcBef>
                          <a:spcPts val="30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Type</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tc>
                  <a:txBody>
                    <a:bodyPr/>
                    <a:lstStyle/>
                    <a:p>
                      <a:pPr marL="3810" marR="0" indent="0" algn="ctr" fontAlgn="base">
                        <a:spcBef>
                          <a:spcPts val="30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Description</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1D1D1"/>
                    </a:solidFill>
                  </a:tcPr>
                </a:tc>
                <a:extLst>
                  <a:ext uri="{0D108BD9-81ED-4DB2-BD59-A6C34878D82A}">
                    <a16:rowId xmlns:a16="http://schemas.microsoft.com/office/drawing/2014/main" val="2292436187"/>
                  </a:ext>
                </a:extLst>
              </a:tr>
              <a:tr h="336948">
                <a:tc>
                  <a:txBody>
                    <a:bodyPr/>
                    <a:lstStyle/>
                    <a:p>
                      <a:pPr marL="50165" marR="0" indent="0" algn="ctr" fontAlgn="base">
                        <a:spcBef>
                          <a:spcPts val="25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Rating</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5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float</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5"/>
                        </a:lnSpc>
                        <a:spcBef>
                          <a:spcPts val="65"/>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Rating of the product</a:t>
                      </a:r>
                      <a:r>
                        <a:rPr lang="ko-KR" altLang="en-US" sz="1600" kern="1200" dirty="0">
                          <a:solidFill>
                            <a:schemeClr val="tx1"/>
                          </a:solidFill>
                          <a:effectLst/>
                          <a:latin typeface="Times New Roman" panose="02020603050405020304" pitchFamily="18" charset="0"/>
                          <a:ea typeface="+mn-ea"/>
                          <a:cs typeface="Times New Roman" panose="02020603050405020304" pitchFamily="18" charset="0"/>
                        </a:rPr>
                        <a:t> </a:t>
                      </a: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(1.0</a:t>
                      </a:r>
                      <a:r>
                        <a:rPr lang="ko-KR" altLang="en-US" sz="1600" kern="1200" dirty="0">
                          <a:solidFill>
                            <a:schemeClr val="tx1"/>
                          </a:solidFill>
                          <a:effectLst/>
                          <a:latin typeface="Times New Roman" panose="02020603050405020304" pitchFamily="18" charset="0"/>
                          <a:ea typeface="+mn-ea"/>
                          <a:cs typeface="Times New Roman" panose="02020603050405020304" pitchFamily="18" charset="0"/>
                        </a:rPr>
                        <a:t> </a:t>
                      </a: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a:t>
                      </a:r>
                      <a:r>
                        <a:rPr lang="ko-KR" altLang="en-US" sz="1600" kern="1200" dirty="0">
                          <a:solidFill>
                            <a:schemeClr val="tx1"/>
                          </a:solidFill>
                          <a:effectLst/>
                          <a:latin typeface="Times New Roman" panose="02020603050405020304" pitchFamily="18" charset="0"/>
                          <a:ea typeface="+mn-ea"/>
                          <a:cs typeface="Times New Roman" panose="02020603050405020304" pitchFamily="18" charset="0"/>
                        </a:rPr>
                        <a:t> </a:t>
                      </a: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5.0)</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575431"/>
                  </a:ext>
                </a:extLst>
              </a:tr>
              <a:tr h="336948">
                <a:tc>
                  <a:txBody>
                    <a:bodyPr/>
                    <a:lstStyle/>
                    <a:p>
                      <a:pPr marL="50165" marR="0" indent="0" algn="ctr" fontAlgn="base">
                        <a:spcBef>
                          <a:spcPts val="26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Title</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6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str</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Title of the user review</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563996"/>
                  </a:ext>
                </a:extLst>
              </a:tr>
              <a:tr h="336948">
                <a:tc>
                  <a:txBody>
                    <a:bodyPr/>
                    <a:lstStyle/>
                    <a:p>
                      <a:pPr marL="50165" marR="0" indent="0" algn="ctr" fontAlgn="base">
                        <a:spcBef>
                          <a:spcPts val="26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Text</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6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str</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Text body of the user review</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115303"/>
                  </a:ext>
                </a:extLst>
              </a:tr>
              <a:tr h="511448">
                <a:tc>
                  <a:txBody>
                    <a:bodyPr/>
                    <a:lstStyle/>
                    <a:p>
                      <a:pPr marL="50165" marR="0" indent="0" algn="ctr" fontAlgn="base">
                        <a:spcBef>
                          <a:spcPts val="25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Image</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5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str</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6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Images that users post after they have received the product</a:t>
                      </a:r>
                    </a:p>
                    <a:p>
                      <a:pPr marL="50165" marR="0" indent="0" algn="ctr" fontAlgn="base">
                        <a:lnSpc>
                          <a:spcPts val="1250"/>
                        </a:lnSpc>
                        <a:spcBef>
                          <a:spcPts val="6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(small / medium / large size)</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8282290"/>
                  </a:ext>
                </a:extLst>
              </a:tr>
              <a:tr h="336948">
                <a:tc>
                  <a:txBody>
                    <a:bodyPr/>
                    <a:lstStyle/>
                    <a:p>
                      <a:pPr marL="50165" marR="0" indent="0" algn="ctr" fontAlgn="base">
                        <a:spcBef>
                          <a:spcPts val="26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Asin</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6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str</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5"/>
                        </a:lnSpc>
                        <a:spcBef>
                          <a:spcPts val="7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ID of the product</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9861827"/>
                  </a:ext>
                </a:extLst>
              </a:tr>
              <a:tr h="336948">
                <a:tc>
                  <a:txBody>
                    <a:bodyPr/>
                    <a:lstStyle/>
                    <a:p>
                      <a:pPr marL="50165" marR="0" indent="0" algn="ctr" fontAlgn="base">
                        <a:spcBef>
                          <a:spcPts val="255"/>
                        </a:spcBef>
                        <a:spcAft>
                          <a:spcPts val="0"/>
                        </a:spcAft>
                      </a:pP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Parent_asin</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55"/>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str</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Parent ID of the product</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59049639"/>
                  </a:ext>
                </a:extLst>
              </a:tr>
              <a:tr h="336948">
                <a:tc>
                  <a:txBody>
                    <a:bodyPr/>
                    <a:lstStyle/>
                    <a:p>
                      <a:pPr marL="50165" marR="0" indent="0" algn="ctr" fontAlgn="base">
                        <a:spcBef>
                          <a:spcPts val="260"/>
                        </a:spcBef>
                        <a:spcAft>
                          <a:spcPts val="0"/>
                        </a:spcAft>
                      </a:pP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User_id</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6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str</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65"/>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ID of the reviewer</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1085819"/>
                  </a:ext>
                </a:extLst>
              </a:tr>
              <a:tr h="336948">
                <a:tc>
                  <a:txBody>
                    <a:bodyPr/>
                    <a:lstStyle/>
                    <a:p>
                      <a:pPr marL="50165" marR="0" indent="0" algn="ctr" fontAlgn="base">
                        <a:spcBef>
                          <a:spcPts val="26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Timestamp</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6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int</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5"/>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Time of the review (</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Unix Time)</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22341596"/>
                  </a:ext>
                </a:extLst>
              </a:tr>
              <a:tr h="336948">
                <a:tc>
                  <a:txBody>
                    <a:bodyPr/>
                    <a:lstStyle/>
                    <a:p>
                      <a:pPr marL="50165" marR="0" indent="0" algn="ctr" fontAlgn="base">
                        <a:spcBef>
                          <a:spcPts val="260"/>
                        </a:spcBef>
                        <a:spcAft>
                          <a:spcPts val="0"/>
                        </a:spcAft>
                      </a:pP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Helpful_vote</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60"/>
                        </a:spcBef>
                        <a:spcAft>
                          <a:spcPts val="0"/>
                        </a:spcAft>
                      </a:pPr>
                      <a:r>
                        <a:rPr lang="en-US" sz="1600" kern="1200">
                          <a:solidFill>
                            <a:schemeClr val="tx1"/>
                          </a:solidFill>
                          <a:effectLst/>
                          <a:latin typeface="Times New Roman" panose="02020603050405020304" pitchFamily="18" charset="0"/>
                          <a:ea typeface="+mn-ea"/>
                          <a:cs typeface="Times New Roman" panose="02020603050405020304" pitchFamily="18" charset="0"/>
                        </a:rPr>
                        <a:t>int</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0"/>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Helpful votes of the review</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8152288"/>
                  </a:ext>
                </a:extLst>
              </a:tr>
              <a:tr h="336948">
                <a:tc>
                  <a:txBody>
                    <a:bodyPr/>
                    <a:lstStyle/>
                    <a:p>
                      <a:pPr marL="50165" marR="0" indent="0" algn="ctr" fontAlgn="base">
                        <a:spcBef>
                          <a:spcPts val="260"/>
                        </a:spcBef>
                        <a:spcAft>
                          <a:spcPts val="0"/>
                        </a:spcAft>
                      </a:pPr>
                      <a:r>
                        <a:rPr lang="en-US" sz="1600" kern="1200" dirty="0" err="1">
                          <a:solidFill>
                            <a:schemeClr val="tx1"/>
                          </a:solidFill>
                          <a:effectLst/>
                          <a:latin typeface="Times New Roman" panose="02020603050405020304" pitchFamily="18" charset="0"/>
                          <a:ea typeface="+mn-ea"/>
                          <a:cs typeface="Times New Roman" panose="02020603050405020304" pitchFamily="18" charset="0"/>
                        </a:rPr>
                        <a:t>Verified_purchase</a:t>
                      </a:r>
                      <a:endParaRPr 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spcBef>
                          <a:spcPts val="260"/>
                        </a:spcBef>
                        <a:spcAft>
                          <a:spcPts val="0"/>
                        </a:spcAft>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bool</a:t>
                      </a: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50165" marR="0" indent="0" algn="ctr" fontAlgn="base">
                        <a:lnSpc>
                          <a:spcPts val="1250"/>
                        </a:lnSpc>
                        <a:spcBef>
                          <a:spcPts val="75"/>
                        </a:spcBef>
                        <a:spcAft>
                          <a:spcPts val="0"/>
                        </a:spcAft>
                      </a:pPr>
                      <a:r>
                        <a:rPr lang="en-US" altLang="ko-KR" sz="1600" kern="1200" dirty="0">
                          <a:solidFill>
                            <a:schemeClr val="tx1"/>
                          </a:solidFill>
                          <a:effectLst/>
                          <a:latin typeface="Times New Roman" panose="02020603050405020304" pitchFamily="18" charset="0"/>
                          <a:ea typeface="+mn-ea"/>
                          <a:cs typeface="Times New Roman" panose="02020603050405020304" pitchFamily="18" charset="0"/>
                        </a:rPr>
                        <a:t>User purchase verification</a:t>
                      </a:r>
                      <a:endParaRPr lang="ko-KR" altLang="en-US"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marL="32027" marR="32027" marT="16014" marB="160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9800616"/>
                  </a:ext>
                </a:extLst>
              </a:tr>
            </a:tbl>
          </a:graphicData>
        </a:graphic>
      </p:graphicFrame>
      <p:sp>
        <p:nvSpPr>
          <p:cNvPr id="6" name="TextBox 5">
            <a:extLst>
              <a:ext uri="{FF2B5EF4-FFF2-40B4-BE49-F238E27FC236}">
                <a16:creationId xmlns:a16="http://schemas.microsoft.com/office/drawing/2014/main" id="{87E4392F-A1EC-89C1-7F46-A9DF8FE9BD78}"/>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4032372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7824-5CFC-56F0-5213-8F65012A919C}"/>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85F37D20-ABC2-63DD-65FB-D268DF51E9E0}"/>
              </a:ext>
            </a:extLst>
          </p:cNvPr>
          <p:cNvSpPr>
            <a:spLocks noGrp="1"/>
          </p:cNvSpPr>
          <p:nvPr>
            <p:ph type="subTitle" idx="1"/>
          </p:nvPr>
        </p:nvSpPr>
        <p:spPr>
          <a:xfrm>
            <a:off x="184848" y="171375"/>
            <a:ext cx="5822252" cy="392058"/>
          </a:xfrm>
        </p:spPr>
        <p:txBody>
          <a:bodyPr anchor="ctr">
            <a:noAutofit/>
          </a:bodyPr>
          <a:lstStyle/>
          <a:p>
            <a:pPr algn="l"/>
            <a:r>
              <a:rPr lang="en-US" altLang="ko-KR" sz="2000" b="1" dirty="0">
                <a:latin typeface="Times New Roman" panose="02020603050405020304" pitchFamily="18" charset="0"/>
                <a:ea typeface="나눔고딕" panose="020D0604000000000000" pitchFamily="50" charset="-127"/>
                <a:cs typeface="Times New Roman" panose="02020603050405020304" pitchFamily="18" charset="0"/>
              </a:rPr>
              <a:t>Appendix</a:t>
            </a:r>
            <a:endParaRPr lang="ko-KR" altLang="en-US" sz="2000" b="1" dirty="0">
              <a:latin typeface="Times New Roman" panose="02020603050405020304" pitchFamily="18" charset="0"/>
              <a:ea typeface="나눔고딕" panose="020D0604000000000000" pitchFamily="50" charset="-127"/>
              <a:cs typeface="Times New Roman" panose="02020603050405020304" pitchFamily="18" charset="0"/>
            </a:endParaRPr>
          </a:p>
        </p:txBody>
      </p:sp>
      <p:cxnSp>
        <p:nvCxnSpPr>
          <p:cNvPr id="10" name="직선 연결선 9">
            <a:extLst>
              <a:ext uri="{FF2B5EF4-FFF2-40B4-BE49-F238E27FC236}">
                <a16:creationId xmlns:a16="http://schemas.microsoft.com/office/drawing/2014/main" id="{937A87AA-72A9-F436-2318-7A164E2F9A69}"/>
              </a:ext>
            </a:extLst>
          </p:cNvPr>
          <p:cNvCxnSpPr>
            <a:cxnSpLocks/>
          </p:cNvCxnSpPr>
          <p:nvPr/>
        </p:nvCxnSpPr>
        <p:spPr>
          <a:xfrm>
            <a:off x="0" y="662486"/>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0949554-B0A8-7463-CCE3-E674921E69E4}"/>
              </a:ext>
            </a:extLst>
          </p:cNvPr>
          <p:cNvSpPr>
            <a:spLocks noGrp="1"/>
          </p:cNvSpPr>
          <p:nvPr>
            <p:ph type="sldNum" sz="quarter" idx="12"/>
          </p:nvPr>
        </p:nvSpPr>
        <p:spPr>
          <a:xfrm>
            <a:off x="9326449" y="6527945"/>
            <a:ext cx="2743200" cy="365125"/>
          </a:xfrm>
        </p:spPr>
        <p:txBody>
          <a:bodyPr/>
          <a:lstStyle/>
          <a:p>
            <a:fld id="{4ECEFB79-C902-498B-97E9-D1643EDDCF6C}" type="slidenum">
              <a:rPr lang="ko-KR" altLang="en-US" smtClean="0"/>
              <a:t>25</a:t>
            </a:fld>
            <a:endParaRPr lang="ko-KR" altLang="en-US" dirty="0"/>
          </a:p>
        </p:txBody>
      </p:sp>
      <p:pic>
        <p:nvPicPr>
          <p:cNvPr id="2" name="Picture 2" descr="경희대학교">
            <a:extLst>
              <a:ext uri="{FF2B5EF4-FFF2-40B4-BE49-F238E27FC236}">
                <a16:creationId xmlns:a16="http://schemas.microsoft.com/office/drawing/2014/main" id="{8FD17526-8D72-327B-F836-A2BB97B68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458"/>
          <a:stretch>
            <a:fillRect/>
          </a:stretch>
        </p:blipFill>
        <p:spPr bwMode="auto">
          <a:xfrm>
            <a:off x="11245206" y="31758"/>
            <a:ext cx="824444" cy="5413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연결선 4">
            <a:extLst>
              <a:ext uri="{FF2B5EF4-FFF2-40B4-BE49-F238E27FC236}">
                <a16:creationId xmlns:a16="http://schemas.microsoft.com/office/drawing/2014/main" id="{8B207548-8433-7BCD-40B7-A7E2F3ABD295}"/>
              </a:ext>
            </a:extLst>
          </p:cNvPr>
          <p:cNvCxnSpPr>
            <a:cxnSpLocks/>
          </p:cNvCxnSpPr>
          <p:nvPr/>
        </p:nvCxnSpPr>
        <p:spPr>
          <a:xfrm>
            <a:off x="-4914" y="6440010"/>
            <a:ext cx="12192000" cy="0"/>
          </a:xfrm>
          <a:prstGeom prst="line">
            <a:avLst/>
          </a:prstGeom>
          <a:ln w="38100">
            <a:gradFill>
              <a:gsLst>
                <a:gs pos="22000">
                  <a:srgbClr val="AD1D19"/>
                </a:gs>
                <a:gs pos="53825">
                  <a:srgbClr val="0D326F"/>
                </a:gs>
                <a:gs pos="89000">
                  <a:srgbClr val="707372"/>
                </a:gs>
              </a:gsLst>
              <a:lin ang="600000" scaled="0"/>
            </a:gradFill>
          </a:ln>
        </p:spPr>
        <p:style>
          <a:lnRef idx="2">
            <a:schemeClr val="accent1"/>
          </a:lnRef>
          <a:fillRef idx="0">
            <a:schemeClr val="accent1"/>
          </a:fillRef>
          <a:effectRef idx="1">
            <a:schemeClr val="accent1"/>
          </a:effectRef>
          <a:fontRef idx="minor">
            <a:schemeClr val="tx1"/>
          </a:fontRef>
        </p:style>
      </p:cxnSp>
      <p:sp>
        <p:nvSpPr>
          <p:cNvPr id="7" name="부제목 2">
            <a:extLst>
              <a:ext uri="{FF2B5EF4-FFF2-40B4-BE49-F238E27FC236}">
                <a16:creationId xmlns:a16="http://schemas.microsoft.com/office/drawing/2014/main" id="{841038CD-6003-C25D-064B-C9417E0BB91E}"/>
              </a:ext>
            </a:extLst>
          </p:cNvPr>
          <p:cNvSpPr txBox="1">
            <a:spLocks/>
          </p:cNvSpPr>
          <p:nvPr/>
        </p:nvSpPr>
        <p:spPr>
          <a:xfrm>
            <a:off x="246596" y="761540"/>
            <a:ext cx="11698809" cy="563543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C: Example of Item Metadata Input</a:t>
            </a: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marL="0" indent="0">
              <a:lnSpc>
                <a:spcPct val="150000"/>
              </a:lnSpc>
              <a:buNone/>
            </a:pPr>
            <a:endParaRPr lang="en-US" altLang="ko-KR" sz="1800" b="1" kern="1000" spc="-10" dirty="0">
              <a:latin typeface="Times New Roman" panose="02020603050405020304" pitchFamily="18" charset="0"/>
              <a:ea typeface="나눔고딕" panose="020D0604000000000000" pitchFamily="50" charset="-127"/>
            </a:endParaRPr>
          </a:p>
          <a:p>
            <a:pPr marL="0" indent="0">
              <a:lnSpc>
                <a:spcPct val="150000"/>
              </a:lnSpc>
              <a:buNone/>
            </a:pPr>
            <a:endParaRPr lang="en-US" altLang="ko-KR" sz="1400" b="1" kern="1000" spc="-10" dirty="0">
              <a:latin typeface="Times New Roman" panose="02020603050405020304" pitchFamily="18" charset="0"/>
              <a:ea typeface="나눔고딕" panose="020D0604000000000000" pitchFamily="50" charset="-127"/>
            </a:endParaRPr>
          </a:p>
          <a:p>
            <a:pPr marL="285750" indent="-285750">
              <a:lnSpc>
                <a:spcPct val="150000"/>
              </a:lnSpc>
            </a:pPr>
            <a:r>
              <a:rPr lang="en-US" altLang="ko-KR" sz="1800" b="1" kern="1000" spc="-10" dirty="0">
                <a:latin typeface="Times New Roman" panose="02020603050405020304" pitchFamily="18" charset="0"/>
                <a:ea typeface="나눔고딕" panose="020D0604000000000000" pitchFamily="50" charset="-127"/>
              </a:rPr>
              <a:t>D: Example of Review Data Input</a:t>
            </a:r>
          </a:p>
          <a:p>
            <a:pPr marL="285750" indent="-285750">
              <a:lnSpc>
                <a:spcPct val="150000"/>
              </a:lnSpc>
            </a:pPr>
            <a:endParaRPr lang="en-US" altLang="ko-KR" sz="1800" b="1" kern="1000" spc="-10" dirty="0">
              <a:latin typeface="Times New Roman" panose="02020603050405020304" pitchFamily="18" charset="0"/>
              <a:ea typeface="나눔고딕" panose="020D0604000000000000" pitchFamily="50" charset="-127"/>
            </a:endParaRPr>
          </a:p>
          <a:p>
            <a:pPr lvl="1">
              <a:lnSpc>
                <a:spcPct val="150000"/>
              </a:lnSpc>
              <a:buFont typeface="나눔고딕" panose="020D0604000000000000" pitchFamily="50" charset="-127"/>
              <a:buChar char="‐"/>
            </a:pPr>
            <a:endParaRPr lang="en-US" altLang="ko-KR" sz="1600" kern="1000" dirty="0">
              <a:latin typeface="Times New Roman" panose="02020603050405020304" pitchFamily="18" charset="0"/>
              <a:ea typeface="나눔고딕" panose="020D0604000000000000" pitchFamily="50" charset="-127"/>
            </a:endParaRPr>
          </a:p>
          <a:p>
            <a:pPr lvl="1">
              <a:lnSpc>
                <a:spcPct val="150000"/>
              </a:lnSpc>
              <a:buFont typeface="나눔고딕" panose="020D0604000000000000" pitchFamily="50" charset="-127"/>
              <a:buChar char="‐"/>
            </a:pPr>
            <a:endParaRPr lang="en-US" altLang="ko-KR" sz="1600" kern="1000" dirty="0">
              <a:latin typeface="Times New Roman" panose="02020603050405020304" pitchFamily="18" charset="0"/>
              <a:ea typeface="나눔고딕" panose="020D0604000000000000" pitchFamily="50" charset="-127"/>
            </a:endParaRPr>
          </a:p>
          <a:p>
            <a:pPr marL="0" indent="0">
              <a:lnSpc>
                <a:spcPct val="150000"/>
              </a:lnSpc>
              <a:buNone/>
            </a:pPr>
            <a:endParaRPr lang="en-US" altLang="ko-KR" sz="1600" dirty="0">
              <a:latin typeface="Times New Roman" panose="02020603050405020304" pitchFamily="18" charset="0"/>
              <a:ea typeface="나눔고딕" panose="020D0604000000000000" pitchFamily="50" charset="-127"/>
            </a:endParaRPr>
          </a:p>
        </p:txBody>
      </p:sp>
      <p:graphicFrame>
        <p:nvGraphicFramePr>
          <p:cNvPr id="24" name="표 23">
            <a:extLst>
              <a:ext uri="{FF2B5EF4-FFF2-40B4-BE49-F238E27FC236}">
                <a16:creationId xmlns:a16="http://schemas.microsoft.com/office/drawing/2014/main" id="{DC18A4E3-C5D6-439E-9278-4FD9A1882E7E}"/>
              </a:ext>
            </a:extLst>
          </p:cNvPr>
          <p:cNvGraphicFramePr>
            <a:graphicFrameLocks noGrp="1"/>
          </p:cNvGraphicFramePr>
          <p:nvPr>
            <p:extLst>
              <p:ext uri="{D42A27DB-BD31-4B8C-83A1-F6EECF244321}">
                <p14:modId xmlns:p14="http://schemas.microsoft.com/office/powerpoint/2010/main" val="698471507"/>
              </p:ext>
            </p:extLst>
          </p:nvPr>
        </p:nvGraphicFramePr>
        <p:xfrm>
          <a:off x="833545" y="1348909"/>
          <a:ext cx="10515080" cy="2566647"/>
        </p:xfrm>
        <a:graphic>
          <a:graphicData uri="http://schemas.openxmlformats.org/drawingml/2006/table">
            <a:tbl>
              <a:tblPr firstRow="1" bandRow="1">
                <a:tableStyleId>{5940675A-B579-460E-94D1-54222C63F5DA}</a:tableStyleId>
              </a:tblPr>
              <a:tblGrid>
                <a:gridCol w="1425059">
                  <a:extLst>
                    <a:ext uri="{9D8B030D-6E8A-4147-A177-3AD203B41FA5}">
                      <a16:colId xmlns:a16="http://schemas.microsoft.com/office/drawing/2014/main" val="2680431844"/>
                    </a:ext>
                  </a:extLst>
                </a:gridCol>
                <a:gridCol w="9090021">
                  <a:extLst>
                    <a:ext uri="{9D8B030D-6E8A-4147-A177-3AD203B41FA5}">
                      <a16:colId xmlns:a16="http://schemas.microsoft.com/office/drawing/2014/main" val="247751996"/>
                    </a:ext>
                  </a:extLst>
                </a:gridCol>
              </a:tblGrid>
              <a:tr h="2566647">
                <a:tc>
                  <a:txBody>
                    <a:bodyPr/>
                    <a:lstStyle/>
                    <a:p>
                      <a:pPr algn="ctr" latinLnBrk="1">
                        <a:lnSpc>
                          <a:spcPts val="2000"/>
                        </a:lnSpc>
                      </a:pPr>
                      <a:r>
                        <a:rPr lang="en-US" altLang="ko-KR" sz="1400" dirty="0">
                          <a:latin typeface="Times New Roman" panose="02020603050405020304" pitchFamily="18" charset="0"/>
                          <a:cs typeface="Times New Roman" panose="02020603050405020304" pitchFamily="18" charset="0"/>
                        </a:rPr>
                        <a:t>Input</a:t>
                      </a:r>
                      <a:endParaRPr lang="ko-KR" altLang="en-US" sz="1400" dirty="0">
                        <a:latin typeface="Times New Roman" panose="02020603050405020304" pitchFamily="18" charset="0"/>
                        <a:cs typeface="Times New Roman" panose="02020603050405020304" pitchFamily="18" charset="0"/>
                      </a:endParaRPr>
                    </a:p>
                  </a:txBody>
                  <a:tcPr anchor="ctr"/>
                </a:tc>
                <a:tc>
                  <a:txBody>
                    <a:bodyPr/>
                    <a:lstStyle/>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Title: '</a:t>
                      </a:r>
                      <a:r>
                        <a:rPr lang="en-US" altLang="ko-KR" sz="1400" dirty="0" err="1">
                          <a:latin typeface="Times New Roman" panose="02020603050405020304" pitchFamily="18" charset="0"/>
                          <a:cs typeface="Times New Roman" panose="02020603050405020304" pitchFamily="18" charset="0"/>
                        </a:rPr>
                        <a:t>Ortofon</a:t>
                      </a:r>
                      <a:r>
                        <a:rPr lang="en-US" altLang="ko-KR" sz="1400" dirty="0">
                          <a:latin typeface="Times New Roman" panose="02020603050405020304" pitchFamily="18" charset="0"/>
                          <a:cs typeface="Times New Roman" panose="02020603050405020304" pitchFamily="18" charset="0"/>
                        </a:rPr>
                        <a:t> 2M Bronze Moving Magnet Cartridge’</a:t>
                      </a:r>
                    </a:p>
                    <a:p>
                      <a:pPr marL="285750" indent="-285750" algn="just" latinLnBrk="1">
                        <a:lnSpc>
                          <a:spcPts val="2000"/>
                        </a:lnSpc>
                        <a:buFont typeface="Arial" panose="020B0604020202020204" pitchFamily="34" charset="0"/>
                        <a:buChar char="•"/>
                      </a:pPr>
                      <a:r>
                        <a:rPr lang="en-US" altLang="ko-KR" sz="1400" dirty="0" err="1">
                          <a:latin typeface="Times New Roman" panose="02020603050405020304" pitchFamily="18" charset="0"/>
                          <a:cs typeface="Times New Roman" panose="02020603050405020304" pitchFamily="18" charset="0"/>
                        </a:rPr>
                        <a:t>Average_rating</a:t>
                      </a:r>
                      <a:r>
                        <a:rPr lang="en-US" altLang="ko-KR" sz="1400" dirty="0">
                          <a:latin typeface="Times New Roman" panose="02020603050405020304" pitchFamily="18" charset="0"/>
                          <a:cs typeface="Times New Roman" panose="02020603050405020304" pitchFamily="18" charset="0"/>
                        </a:rPr>
                        <a:t>: 4.6</a:t>
                      </a:r>
                    </a:p>
                    <a:p>
                      <a:pPr marL="285750" indent="-285750" algn="just" latinLnBrk="1">
                        <a:lnSpc>
                          <a:spcPts val="2000"/>
                        </a:lnSpc>
                        <a:buFont typeface="Arial" panose="020B0604020202020204" pitchFamily="34" charset="0"/>
                        <a:buChar char="•"/>
                      </a:pPr>
                      <a:r>
                        <a:rPr lang="en-US" altLang="ko-KR" sz="1400" dirty="0" err="1">
                          <a:latin typeface="Times New Roman" panose="02020603050405020304" pitchFamily="18" charset="0"/>
                          <a:cs typeface="Times New Roman" panose="02020603050405020304" pitchFamily="18" charset="0"/>
                        </a:rPr>
                        <a:t>Rating_number</a:t>
                      </a:r>
                      <a:r>
                        <a:rPr lang="en-US" altLang="ko-KR" sz="1400" dirty="0">
                          <a:latin typeface="Times New Roman" panose="02020603050405020304" pitchFamily="18" charset="0"/>
                          <a:cs typeface="Times New Roman" panose="02020603050405020304" pitchFamily="18" charset="0"/>
                        </a:rPr>
                        <a:t>: 179</a:t>
                      </a:r>
                    </a:p>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Features: [Universal fit for most turntables’, 'Upgrade to the </a:t>
                      </a:r>
                      <a:r>
                        <a:rPr lang="en-US" altLang="ko-KR" sz="1400" dirty="0" err="1">
                          <a:latin typeface="Times New Roman" panose="02020603050405020304" pitchFamily="18" charset="0"/>
                          <a:cs typeface="Times New Roman" panose="02020603050405020304" pitchFamily="18" charset="0"/>
                        </a:rPr>
                        <a:t>Ortofon</a:t>
                      </a:r>
                      <a:r>
                        <a:rPr lang="en-US" altLang="ko-KR" sz="1400" dirty="0">
                          <a:latin typeface="Times New Roman" panose="02020603050405020304" pitchFamily="18" charset="0"/>
                          <a:cs typeface="Times New Roman" panose="02020603050405020304" pitchFamily="18" charset="0"/>
                        </a:rPr>
                        <a:t> 2M Red and 2M Blue’, 'The </a:t>
                      </a:r>
                      <a:r>
                        <a:rPr lang="en-US" altLang="ko-KR" sz="1400" dirty="0" err="1">
                          <a:latin typeface="Times New Roman" panose="02020603050405020304" pitchFamily="18" charset="0"/>
                          <a:cs typeface="Times New Roman" panose="02020603050405020304" pitchFamily="18" charset="0"/>
                        </a:rPr>
                        <a:t>Ortofon</a:t>
                      </a:r>
                      <a:r>
                        <a:rPr lang="en-US" altLang="ko-KR" sz="1400" dirty="0">
                          <a:latin typeface="Times New Roman" panose="02020603050405020304" pitchFamily="18" charset="0"/>
                          <a:cs typeface="Times New Roman" panose="02020603050405020304" pitchFamily="18" charset="0"/>
                        </a:rPr>
                        <a:t>…]</a:t>
                      </a:r>
                    </a:p>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Description: []</a:t>
                      </a:r>
                    </a:p>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Price: 499</a:t>
                      </a:r>
                    </a:p>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Brand: </a:t>
                      </a:r>
                      <a:r>
                        <a:rPr lang="en-US" altLang="ko-KR" sz="1400" dirty="0" err="1">
                          <a:latin typeface="Times New Roman" panose="02020603050405020304" pitchFamily="18" charset="0"/>
                          <a:cs typeface="Times New Roman" panose="02020603050405020304" pitchFamily="18" charset="0"/>
                        </a:rPr>
                        <a:t>Ortofon</a:t>
                      </a:r>
                      <a:endParaRPr lang="en-US" altLang="ko-KR" sz="1400" dirty="0">
                        <a:latin typeface="Times New Roman" panose="02020603050405020304" pitchFamily="18" charset="0"/>
                        <a:cs typeface="Times New Roman" panose="02020603050405020304" pitchFamily="18" charset="0"/>
                      </a:endParaRPr>
                    </a:p>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Categories: ['Musical Instruments', 'Electronic Music, DJ &amp; Karaoke', 'DJ Equipment', 'Accessories’,…]</a:t>
                      </a:r>
                    </a:p>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Details: [DJ Turntable Cartridges': 275.0, 'Darbukas': None, 'Decorative Rubber Stamps &amp; Ink Pads': None, …]</a:t>
                      </a:r>
                    </a:p>
                  </a:txBody>
                  <a:tcPr anchor="ctr"/>
                </a:tc>
                <a:extLst>
                  <a:ext uri="{0D108BD9-81ED-4DB2-BD59-A6C34878D82A}">
                    <a16:rowId xmlns:a16="http://schemas.microsoft.com/office/drawing/2014/main" val="3114183308"/>
                  </a:ext>
                </a:extLst>
              </a:tr>
            </a:tbl>
          </a:graphicData>
        </a:graphic>
      </p:graphicFrame>
      <p:graphicFrame>
        <p:nvGraphicFramePr>
          <p:cNvPr id="6" name="표 5">
            <a:extLst>
              <a:ext uri="{FF2B5EF4-FFF2-40B4-BE49-F238E27FC236}">
                <a16:creationId xmlns:a16="http://schemas.microsoft.com/office/drawing/2014/main" id="{13C05E7E-3A79-2B07-D32B-C375B614A632}"/>
              </a:ext>
            </a:extLst>
          </p:cNvPr>
          <p:cNvGraphicFramePr>
            <a:graphicFrameLocks noGrp="1"/>
          </p:cNvGraphicFramePr>
          <p:nvPr>
            <p:extLst>
              <p:ext uri="{D42A27DB-BD31-4B8C-83A1-F6EECF244321}">
                <p14:modId xmlns:p14="http://schemas.microsoft.com/office/powerpoint/2010/main" val="527398524"/>
              </p:ext>
            </p:extLst>
          </p:nvPr>
        </p:nvGraphicFramePr>
        <p:xfrm>
          <a:off x="833545" y="4475214"/>
          <a:ext cx="10515080" cy="1847660"/>
        </p:xfrm>
        <a:graphic>
          <a:graphicData uri="http://schemas.openxmlformats.org/drawingml/2006/table">
            <a:tbl>
              <a:tblPr firstRow="1" bandRow="1">
                <a:tableStyleId>{5940675A-B579-460E-94D1-54222C63F5DA}</a:tableStyleId>
              </a:tblPr>
              <a:tblGrid>
                <a:gridCol w="1425059">
                  <a:extLst>
                    <a:ext uri="{9D8B030D-6E8A-4147-A177-3AD203B41FA5}">
                      <a16:colId xmlns:a16="http://schemas.microsoft.com/office/drawing/2014/main" val="2680431844"/>
                    </a:ext>
                  </a:extLst>
                </a:gridCol>
                <a:gridCol w="9090021">
                  <a:extLst>
                    <a:ext uri="{9D8B030D-6E8A-4147-A177-3AD203B41FA5}">
                      <a16:colId xmlns:a16="http://schemas.microsoft.com/office/drawing/2014/main" val="247751996"/>
                    </a:ext>
                  </a:extLst>
                </a:gridCol>
              </a:tblGrid>
              <a:tr h="1828826">
                <a:tc>
                  <a:txBody>
                    <a:bodyPr/>
                    <a:lstStyle/>
                    <a:p>
                      <a:pPr algn="ctr" latinLnBrk="1">
                        <a:lnSpc>
                          <a:spcPts val="2000"/>
                        </a:lnSpc>
                      </a:pPr>
                      <a:r>
                        <a:rPr lang="en-US" altLang="ko-KR" sz="1400" dirty="0">
                          <a:latin typeface="Times New Roman" panose="02020603050405020304" pitchFamily="18" charset="0"/>
                          <a:cs typeface="Times New Roman" panose="02020603050405020304" pitchFamily="18" charset="0"/>
                        </a:rPr>
                        <a:t>Input</a:t>
                      </a:r>
                      <a:endParaRPr lang="ko-KR" altLang="en-US" sz="1400" dirty="0">
                        <a:latin typeface="Times New Roman" panose="02020603050405020304" pitchFamily="18" charset="0"/>
                        <a:cs typeface="Times New Roman" panose="02020603050405020304" pitchFamily="18" charset="0"/>
                      </a:endParaRPr>
                    </a:p>
                  </a:txBody>
                  <a:tcPr anchor="ctr"/>
                </a:tc>
                <a:tc>
                  <a:txBody>
                    <a:bodyPr/>
                    <a:lstStyle/>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'Fist full of Plexi. Great monster rock sound for home play and practice. (Can even mic for the right gigs).</a:t>
                      </a:r>
                    </a:p>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Great “M” sound and more...The only issue is the gain knob seems to jump from ‘break up’ to full-blown distortion too fast (between 1-5). Otherwise, the overall sound is AWESOME. Best price value of all similar pedals out there.</a:t>
                      </a:r>
                    </a:p>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Replaced my China LP tuners for these. Great quality for the price. Now it actually stays in tune.</a:t>
                      </a:r>
                    </a:p>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Great guitar for the price. Highly recommended.</a:t>
                      </a:r>
                    </a:p>
                    <a:p>
                      <a:pPr marL="285750" indent="-285750" algn="just" latinLnBrk="1">
                        <a:lnSpc>
                          <a:spcPts val="2000"/>
                        </a:lnSpc>
                        <a:buFont typeface="Arial" panose="020B0604020202020204" pitchFamily="34" charset="0"/>
                        <a:buChar char="•"/>
                      </a:pPr>
                      <a:r>
                        <a:rPr lang="en-US" altLang="ko-KR" sz="1400" dirty="0">
                          <a:latin typeface="Times New Roman" panose="02020603050405020304" pitchFamily="18" charset="0"/>
                          <a:cs typeface="Times New Roman" panose="02020603050405020304" pitchFamily="18" charset="0"/>
                        </a:rPr>
                        <a:t>Bought this for my Oscar Schmidt LP. What a difference in quality. Love it, cant beat the value. Now intonation is easy to adjust and holds.'</a:t>
                      </a:r>
                    </a:p>
                  </a:txBody>
                  <a:tcPr anchor="ctr"/>
                </a:tc>
                <a:extLst>
                  <a:ext uri="{0D108BD9-81ED-4DB2-BD59-A6C34878D82A}">
                    <a16:rowId xmlns:a16="http://schemas.microsoft.com/office/drawing/2014/main" val="3114183308"/>
                  </a:ext>
                </a:extLst>
              </a:tr>
            </a:tbl>
          </a:graphicData>
        </a:graphic>
      </p:graphicFrame>
      <p:sp>
        <p:nvSpPr>
          <p:cNvPr id="8" name="TextBox 7">
            <a:extLst>
              <a:ext uri="{FF2B5EF4-FFF2-40B4-BE49-F238E27FC236}">
                <a16:creationId xmlns:a16="http://schemas.microsoft.com/office/drawing/2014/main" id="{7019D97A-B374-3153-187E-86BF15619ED4}"/>
              </a:ext>
            </a:extLst>
          </p:cNvPr>
          <p:cNvSpPr txBox="1"/>
          <p:nvPr/>
        </p:nvSpPr>
        <p:spPr>
          <a:xfrm>
            <a:off x="517280" y="6472284"/>
            <a:ext cx="11147612" cy="369332"/>
          </a:xfrm>
          <a:prstGeom prst="rect">
            <a:avLst/>
          </a:prstGeom>
          <a:noFill/>
        </p:spPr>
        <p:txBody>
          <a:bodyPr wrap="square">
            <a:spAutoFit/>
          </a:bodyPr>
          <a:lstStyle/>
          <a:p>
            <a:pPr algn="ct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ICEC 2026 </a:t>
            </a:r>
            <a:b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br>
            <a:r>
              <a:rPr lang="en-US" altLang="ko-KR" sz="900" i="0" dirty="0">
                <a:solidFill>
                  <a:schemeClr val="bg2">
                    <a:lumMod val="75000"/>
                  </a:schemeClr>
                </a:solidFill>
                <a:effectLst/>
                <a:latin typeface="Times New Roman" panose="02020603050405020304" pitchFamily="18" charset="0"/>
                <a:cs typeface="Times New Roman" panose="02020603050405020304" pitchFamily="18" charset="0"/>
              </a:rPr>
              <a:t>27th International Conference on Electronic Commerce</a:t>
            </a:r>
          </a:p>
        </p:txBody>
      </p:sp>
    </p:spTree>
    <p:extLst>
      <p:ext uri="{BB962C8B-B14F-4D97-AF65-F5344CB8AC3E}">
        <p14:creationId xmlns:p14="http://schemas.microsoft.com/office/powerpoint/2010/main" val="26010902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0AFD41C-2E30-42EE-9CE3-5A133FCFB8A4}">
  <we:reference id="f5f369e5-aa35-49d7-ad7b-638152ddb008" version="1.0.0.1" store="EXCatalog" storeType="EXCatalog"/>
  <we:alternateReferences>
    <we:reference id="WA200010001" version="1.0.0.1" store="ko-KR"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10048</TotalTime>
  <Words>3678</Words>
  <Application>Microsoft Office PowerPoint</Application>
  <PresentationFormat>와이드스크린</PresentationFormat>
  <Paragraphs>616</Paragraphs>
  <Slides>25</Slides>
  <Notes>23</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25</vt:i4>
      </vt:variant>
    </vt:vector>
  </HeadingPairs>
  <TitlesOfParts>
    <vt:vector size="30" baseType="lpstr">
      <vt:lpstr>나눔고딕</vt:lpstr>
      <vt:lpstr>맑은 고딕</vt:lpstr>
      <vt:lpstr>Arial</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다희 김</dc:creator>
  <cp:lastModifiedBy>다희 김</cp:lastModifiedBy>
  <cp:revision>1019</cp:revision>
  <cp:lastPrinted>2026-04-02T07:02:59Z</cp:lastPrinted>
  <dcterms:created xsi:type="dcterms:W3CDTF">2026-03-08T15:05:36Z</dcterms:created>
  <dcterms:modified xsi:type="dcterms:W3CDTF">2026-08-24T16:16:00Z</dcterms:modified>
</cp:coreProperties>
</file>