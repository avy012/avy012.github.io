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62"/>
  </p:notesMasterIdLst>
  <p:handoutMasterIdLst>
    <p:handoutMasterId r:id="rId63"/>
  </p:handoutMasterIdLst>
  <p:sldIdLst>
    <p:sldId id="346" r:id="rId5"/>
    <p:sldId id="508" r:id="rId6"/>
    <p:sldId id="509" r:id="rId7"/>
    <p:sldId id="583" r:id="rId8"/>
    <p:sldId id="584" r:id="rId9"/>
    <p:sldId id="586" r:id="rId10"/>
    <p:sldId id="588" r:id="rId11"/>
    <p:sldId id="513" r:id="rId12"/>
    <p:sldId id="590" r:id="rId13"/>
    <p:sldId id="534" r:id="rId14"/>
    <p:sldId id="561" r:id="rId15"/>
    <p:sldId id="591" r:id="rId16"/>
    <p:sldId id="576" r:id="rId17"/>
    <p:sldId id="578" r:id="rId18"/>
    <p:sldId id="579" r:id="rId19"/>
    <p:sldId id="592" r:id="rId20"/>
    <p:sldId id="581" r:id="rId21"/>
    <p:sldId id="580" r:id="rId22"/>
    <p:sldId id="585" r:id="rId23"/>
    <p:sldId id="593" r:id="rId24"/>
    <p:sldId id="595" r:id="rId25"/>
    <p:sldId id="599" r:id="rId26"/>
    <p:sldId id="602" r:id="rId27"/>
    <p:sldId id="601" r:id="rId28"/>
    <p:sldId id="606" r:id="rId29"/>
    <p:sldId id="607" r:id="rId30"/>
    <p:sldId id="610" r:id="rId31"/>
    <p:sldId id="611" r:id="rId32"/>
    <p:sldId id="612" r:id="rId33"/>
    <p:sldId id="609" r:id="rId34"/>
    <p:sldId id="613" r:id="rId35"/>
    <p:sldId id="614" r:id="rId36"/>
    <p:sldId id="616" r:id="rId37"/>
    <p:sldId id="622" r:id="rId38"/>
    <p:sldId id="619" r:id="rId39"/>
    <p:sldId id="623" r:id="rId40"/>
    <p:sldId id="589" r:id="rId41"/>
    <p:sldId id="626" r:id="rId42"/>
    <p:sldId id="624" r:id="rId43"/>
    <p:sldId id="620" r:id="rId44"/>
    <p:sldId id="634" r:id="rId45"/>
    <p:sldId id="635" r:id="rId46"/>
    <p:sldId id="637" r:id="rId47"/>
    <p:sldId id="627" r:id="rId48"/>
    <p:sldId id="598" r:id="rId49"/>
    <p:sldId id="617" r:id="rId50"/>
    <p:sldId id="618" r:id="rId51"/>
    <p:sldId id="621" r:id="rId52"/>
    <p:sldId id="603" r:id="rId53"/>
    <p:sldId id="604" r:id="rId54"/>
    <p:sldId id="605" r:id="rId55"/>
    <p:sldId id="628" r:id="rId56"/>
    <p:sldId id="629" r:id="rId57"/>
    <p:sldId id="633" r:id="rId58"/>
    <p:sldId id="630" r:id="rId59"/>
    <p:sldId id="632" r:id="rId60"/>
    <p:sldId id="638" r:id="rId61"/>
  </p:sldIdLst>
  <p:sldSz cx="9144000" cy="5143500" type="screen16x9"/>
  <p:notesSz cx="6858000" cy="9144000"/>
  <p:embeddedFontLst>
    <p:embeddedFont>
      <p:font typeface="MiSans Light" panose="020B0600000101010101" charset="-122"/>
      <p:regular r:id="rId64"/>
    </p:embeddedFont>
    <p:embeddedFont>
      <p:font typeface="Georgia" panose="02040502050405020303" pitchFamily="18" charset="0"/>
      <p:regular r:id="rId65"/>
      <p:bold r:id="rId66"/>
      <p:italic r:id="rId67"/>
      <p:boldItalic r:id="rId68"/>
    </p:embeddedFont>
    <p:embeddedFont>
      <p:font typeface="Helvetica" panose="020B0604020202020204" pitchFamily="34" charset="0"/>
      <p:regular r:id="rId69"/>
      <p:bold r:id="rId70"/>
      <p:italic r:id="rId71"/>
      <p:boldItalic r:id="rId72"/>
    </p:embeddedFont>
    <p:embeddedFont>
      <p:font typeface="Montserrat Black" panose="00000A00000000000000" pitchFamily="2" charset="0"/>
      <p:bold r:id="rId73"/>
      <p:italic r:id="rId74"/>
      <p:boldItalic r:id="rId75"/>
    </p:embeddedFont>
    <p:embeddedFont>
      <p:font typeface="나눔고딕" panose="020D0604000000000000" pitchFamily="50" charset="-127"/>
      <p:regular r:id="rId76"/>
      <p:bold r:id="rId77"/>
    </p:embeddedFont>
  </p:embeddedFontLst>
  <p:custDataLst>
    <p:tags r:id="rId7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24" userDrawn="1">
          <p15:clr>
            <a:srgbClr val="A4A3A4"/>
          </p15:clr>
        </p15:guide>
        <p15:guide id="2" pos="5528" userDrawn="1">
          <p15:clr>
            <a:srgbClr val="A4A3A4"/>
          </p15:clr>
        </p15:guide>
        <p15:guide id="3" orient="horz" pos="416" userDrawn="1">
          <p15:clr>
            <a:srgbClr val="A4A3A4"/>
          </p15:clr>
        </p15:guide>
        <p15:guide id="4" orient="horz" pos="464" userDrawn="1">
          <p15:clr>
            <a:srgbClr val="A4A3A4"/>
          </p15:clr>
        </p15:guide>
        <p15:guide id="5" orient="horz" pos="3040" userDrawn="1">
          <p15:clr>
            <a:srgbClr val="A4A3A4"/>
          </p15:clr>
        </p15:guide>
        <p15:guide id="6" orient="horz" pos="30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702A"/>
    <a:srgbClr val="1E2761"/>
    <a:srgbClr val="44D5FA"/>
    <a:srgbClr val="FFFFFF"/>
    <a:srgbClr val="394B95"/>
    <a:srgbClr val="D9532E"/>
    <a:srgbClr val="182040"/>
    <a:srgbClr val="10152A"/>
    <a:srgbClr val="E54D8E"/>
    <a:srgbClr val="9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86788" autoAdjust="0"/>
  </p:normalViewPr>
  <p:slideViewPr>
    <p:cSldViewPr snapToGrid="0">
      <p:cViewPr varScale="1">
        <p:scale>
          <a:sx n="94" d="100"/>
          <a:sy n="94" d="100"/>
        </p:scale>
        <p:origin x="1277" y="53"/>
      </p:cViewPr>
      <p:guideLst>
        <p:guide pos="224"/>
        <p:guide pos="5528"/>
        <p:guide orient="horz" pos="416"/>
        <p:guide orient="horz" pos="464"/>
        <p:guide orient="horz" pos="3040"/>
        <p:guide orient="horz" pos="30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handoutMaster" Target="handoutMasters/handoutMaster1.xml"/><Relationship Id="rId68" Type="http://schemas.openxmlformats.org/officeDocument/2006/relationships/font" Target="fonts/font5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11.fntdata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77" Type="http://schemas.openxmlformats.org/officeDocument/2006/relationships/font" Target="fonts/font14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9.fntdata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7.fntdata"/><Relationship Id="rId75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font" Target="fonts/font2.fntdata"/><Relationship Id="rId73" Type="http://schemas.openxmlformats.org/officeDocument/2006/relationships/font" Target="fonts/font10.fntdata"/><Relationship Id="rId78" Type="http://schemas.openxmlformats.org/officeDocument/2006/relationships/tags" Target="tags/tag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3.fntdata"/><Relationship Id="rId7" Type="http://schemas.openxmlformats.org/officeDocument/2006/relationships/slide" Target="slides/slide3.xml"/><Relationship Id="rId71" Type="http://schemas.openxmlformats.org/officeDocument/2006/relationships/font" Target="fonts/font8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Light" panose="00000400000000000000" charset="-122"/>
              <a:ea typeface="MiSans Light" panose="0000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Light" panose="00000400000000000000" charset="-122"/>
                <a:ea typeface="MiSans Light" panose="00000400000000000000" charset="-122"/>
              </a:rPr>
              <a:t>2026/8/6</a:t>
            </a:fld>
            <a:endParaRPr lang="zh-CN" altLang="en-US">
              <a:latin typeface="MiSans Light" panose="00000400000000000000" charset="-122"/>
              <a:ea typeface="MiSans Light" panose="0000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Light" panose="00000400000000000000" charset="-122"/>
              <a:ea typeface="MiSans Light" panose="0000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Light" panose="00000400000000000000" charset="-122"/>
                <a:ea typeface="MiSans Light" panose="00000400000000000000" charset="-122"/>
              </a:rPr>
              <a:t>‹#›</a:t>
            </a:fld>
            <a:endParaRPr lang="zh-CN" altLang="en-US">
              <a:latin typeface="MiSans Light" panose="00000400000000000000" charset="-122"/>
              <a:ea typeface="MiSans Light" panose="0000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Light" panose="00000400000000000000" charset="-122"/>
                <a:ea typeface="MiSans Light" panose="0000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Light" panose="00000400000000000000" charset="-122"/>
                <a:ea typeface="MiSans Light" panose="0000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Light" panose="00000400000000000000" charset="-122"/>
                <a:ea typeface="MiSans Light" panose="0000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Light" panose="00000400000000000000" charset="-122"/>
                <a:ea typeface="MiSans Light" panose="0000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ebofscience.com/wos/woscc/full-record/WOS:001094795300014" TargetMode="External"/><Relationship Id="rId13" Type="http://schemas.openxmlformats.org/officeDocument/2006/relationships/hyperlink" Target="https://www.webofscience.com/wos/woscc/full-record/WOS:001494794000006" TargetMode="External"/><Relationship Id="rId3" Type="http://schemas.openxmlformats.org/officeDocument/2006/relationships/hyperlink" Target="https://www.webofscience.com/wos/woscc/full-record/WOS:001784227500001" TargetMode="External"/><Relationship Id="rId7" Type="http://schemas.openxmlformats.org/officeDocument/2006/relationships/hyperlink" Target="https://www.webofscience.com/wos/woscc/full-record/WOS:001450397900005" TargetMode="External"/><Relationship Id="rId12" Type="http://schemas.openxmlformats.org/officeDocument/2006/relationships/hyperlink" Target="https://www.webofscience.com/wos/woscc/full-record/WOS:001195510800003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webofscience.com/wos/woscc/full-record/WOS:001711808600001" TargetMode="External"/><Relationship Id="rId11" Type="http://schemas.openxmlformats.org/officeDocument/2006/relationships/hyperlink" Target="https://www.webofscience.com/wos/woscc/full-record/WOS:001255454400001" TargetMode="External"/><Relationship Id="rId5" Type="http://schemas.openxmlformats.org/officeDocument/2006/relationships/hyperlink" Target="https://www.webofscience.com/wos/woscc/full-record/WOS:001771293700001" TargetMode="External"/><Relationship Id="rId15" Type="http://schemas.openxmlformats.org/officeDocument/2006/relationships/hyperlink" Target="https://www.webofscience.com/wos/woscc/full-record/WOS:000412618500002" TargetMode="External"/><Relationship Id="rId10" Type="http://schemas.openxmlformats.org/officeDocument/2006/relationships/hyperlink" Target="https://www.webofscience.com/wos/woscc/full-record/WOS:001250532500001" TargetMode="External"/><Relationship Id="rId4" Type="http://schemas.openxmlformats.org/officeDocument/2006/relationships/hyperlink" Target="https://www.webofscience.com/wos/woscc/full-record/WOS:001744431600001" TargetMode="External"/><Relationship Id="rId9" Type="http://schemas.openxmlformats.org/officeDocument/2006/relationships/hyperlink" Target="https://www.webofscience.com/wos/woscc/full-record/WOS:001201365900003" TargetMode="External"/><Relationship Id="rId14" Type="http://schemas.openxmlformats.org/officeDocument/2006/relationships/hyperlink" Target="https://www.webofscience.com/wos/woscc/full-record/WOS:000534283200007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ebofscience.com/wos/woscc/full-record/WOS:001780755400001" TargetMode="External"/><Relationship Id="rId3" Type="http://schemas.openxmlformats.org/officeDocument/2006/relationships/hyperlink" Target="https://www.webofscience.com/wos/woscc/full-record/WOS:001726457700001" TargetMode="External"/><Relationship Id="rId7" Type="http://schemas.openxmlformats.org/officeDocument/2006/relationships/hyperlink" Target="https://www.webofscience.com/wos/woscc/full-record/WOS:001718989500001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webofscience.com/wos/woscc/full-record/WOS:001666023900001" TargetMode="External"/><Relationship Id="rId5" Type="http://schemas.openxmlformats.org/officeDocument/2006/relationships/hyperlink" Target="https://www.webofscience.com/wos/woscc/full-record/WOS:001738885300001" TargetMode="External"/><Relationship Id="rId4" Type="http://schemas.openxmlformats.org/officeDocument/2006/relationships/hyperlink" Target="https://www.webofscience.com/wos/woscc/full-record/WOS:001783330300001" TargetMode="External"/><Relationship Id="rId9" Type="http://schemas.openxmlformats.org/officeDocument/2006/relationships/hyperlink" Target="https://www.webofscience.com/wos/woscc/full-record/WOS:001671580500001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ebofscience.com/wos/woscc/full-record/WOS:001674496500001" TargetMode="External"/><Relationship Id="rId3" Type="http://schemas.openxmlformats.org/officeDocument/2006/relationships/hyperlink" Target="https://www.webofscience.com/wos/woscc/full-record/WOS:001726190700001" TargetMode="External"/><Relationship Id="rId7" Type="http://schemas.openxmlformats.org/officeDocument/2006/relationships/hyperlink" Target="https://www.webofscience.com/wos/woscc/full-record/WOS:001717581500002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webofscience.com/wos/woscc/full-record/WOS:001756537300001" TargetMode="External"/><Relationship Id="rId5" Type="http://schemas.openxmlformats.org/officeDocument/2006/relationships/hyperlink" Target="https://www.webofscience.com/wos/woscc/full-record/WOS:001603385700001" TargetMode="External"/><Relationship Id="rId4" Type="http://schemas.openxmlformats.org/officeDocument/2006/relationships/hyperlink" Target="https://www.webofscience.com/wos/woscc/full-record/WOS:001652352300001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8/JHTT-02-2020-0034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i.org/10.1145/3605152" TargetMode="External"/><Relationship Id="rId5" Type="http://schemas.openxmlformats.org/officeDocument/2006/relationships/hyperlink" Target="https://doi.org/10.1108/IJCHM-10-2017-0704" TargetMode="External"/><Relationship Id="rId4" Type="http://schemas.openxmlformats.org/officeDocument/2006/relationships/hyperlink" Target="https://doi.org/10.18653/v1/2020.acl-main.747" TargetMode="External"/></Relationships>
</file>

<file path=ppt/notesSlides/_rels/notes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3.nlposs-1.4/" TargetMode="External"/><Relationship Id="rId3" Type="http://schemas.openxmlformats.org/officeDocument/2006/relationships/hyperlink" Target="https://www.webofscience.com/wos/woscc/full-record/WOS:001453800100001" TargetMode="External"/><Relationship Id="rId7" Type="http://schemas.openxmlformats.org/officeDocument/2006/relationships/hyperlink" Target="https://accesson.kr/kjdh/v.1/1/109/43508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clanthology.org/2020.nlposs-1.7/" TargetMode="External"/><Relationship Id="rId11" Type="http://schemas.openxmlformats.org/officeDocument/2006/relationships/hyperlink" Target="https://aclanthology.org/2020.emnlp-main.365/" TargetMode="External"/><Relationship Id="rId5" Type="http://schemas.openxmlformats.org/officeDocument/2006/relationships/hyperlink" Target="https://www.webofscience.com/wos/woscc/full-record/WOS:001265165600040" TargetMode="External"/><Relationship Id="rId10" Type="http://schemas.openxmlformats.org/officeDocument/2006/relationships/hyperlink" Target="https://link.springer.com/article/10.1007/s13278-025-01437-8" TargetMode="External"/><Relationship Id="rId4" Type="http://schemas.openxmlformats.org/officeDocument/2006/relationships/hyperlink" Target="https://www.webofscience.com/wos/woscc/full-record/WOS:001783290100001" TargetMode="External"/><Relationship Id="rId9" Type="http://schemas.openxmlformats.org/officeDocument/2006/relationships/hyperlink" Target="https://arxiv.org/abs/2402.03067" TargetMode="Externa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267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9D24B-A4EE-ACBE-1132-0EAC5E1F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5DB5D7-91FB-C1FA-003C-E06A9FE7C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372C06-A53E-A75F-326F-0B57FC04F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https://www.yanolja-research.com/insight/view/674?lang=kr</a:t>
            </a:r>
          </a:p>
          <a:p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https://www.sto.or.kr/survey/2026-%ED%95%9C%EA%B5%AD-%EB%B0%8F-%EC%84%9C%EC%9A%B8-%EB%B0%A9%EB%AC%B8-%EC%99%B8%EA%B5%AD%EC%9D%B8-%EA%B4%80%EA%B4%91%EA%B0%9D-%EC%88%98_/16080</a:t>
            </a:r>
          </a:p>
          <a:p>
            <a:endParaRPr lang="en-US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그림 </a:t>
            </a:r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1.&gt; 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한국문화관광연구원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https://know.tour.go.kr/stat/tourStatSearchDis19Re.do</a:t>
            </a:r>
          </a:p>
          <a:p>
            <a:endParaRPr lang="en-US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야놀자리서치는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“관광객 수만 늘려서는 현재의 불균형을 바로잡기 </a:t>
            </a:r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어렵다”며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“외국인이 더 많이 쓰고 더 오래 머무는 방향으로의 전환이 </a:t>
            </a:r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시급하다”고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밝혔다</a:t>
            </a:r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1415FB-85F2-DA9B-BDB9-36FD8FF49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26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42E4-549E-7BD7-8B7C-2C199FF0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85E86B-344C-6532-3A33-5A919E5E3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0E0303-5F12-3B47-34F2-62A5044AA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8A9ED-37E4-26BE-F076-041F8D9F2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328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C62A-0D6F-FC84-E930-05B48682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F4BB44-A5A5-48A0-AFB0-E22513DEF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4883CB-8432-12EA-5B74-268708CD2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471AF-90A9-FFF8-D1A3-3AFCAE92E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548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A0DB6-D658-E0F2-A252-BBB0E0E7D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68FD89-E180-8A75-06B7-3617F9726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6EC00B-9B1B-AEE3-6918-F620720FD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itchFamily="2" charset="2"/>
              <a:buChar char="ü"/>
            </a:pPr>
            <a:r>
              <a:rPr lang="ko-KR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한국 관광지 다국어 리뷰와 공공데이터의 공간적 통합 및 </a:t>
            </a:r>
            <a:r>
              <a:rPr lang="en-US" altLang="ko-KR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ko-KR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기반 분석의 실증적 적용은 기존 연구의 방법론적</a:t>
            </a:r>
            <a:r>
              <a:rPr lang="en-US" altLang="ko-KR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적용적 한계를 극복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ko-KR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혼잡 진단</a:t>
            </a:r>
            <a:r>
              <a:rPr lang="en-US" altLang="ko-KR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세분화된 경험 분석</a:t>
            </a:r>
            <a:r>
              <a:rPr lang="en-US" altLang="ko-KR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맞춤형 추천까지 아우르는 데이터 기반 관광지 관리의 혁신적 사례 제시</a:t>
            </a:r>
            <a:endParaRPr lang="en" altLang="zh-CN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815D20-6B07-6930-CF6A-61C00DF94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041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615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CA271-8FAC-4C14-FEB6-FBE3011C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CF6EEF-A138-E06F-8876-36B356102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528E39-7550-6436-B190-705B0EB9C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EE0D31-64B2-6061-8FD4-9C22CFC9C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478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Referenced Documents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Tekin, Y., Ince, M., &amp; Ince, E. Y. (2026). AI-based sentiment analysis of tourist reviews for improving municipal tourism services: case study of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Isparta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Municipality. INTERNATIONAL JOURNAL OF TOURISM CITIES.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Tekin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Kaliba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A. R.,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Kaliba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L. K. A., &amp;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Mwinuka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J. (2026). Topic Modeling of Hotel Customer Reviews in Key Tourist Areas in Tanzania: Implications for Market-Oriented Hospitality Services Development. JOURNAL OF QUALITY ASSURANCE IN HOSPITALITY &amp; TOURISM. [</a:t>
            </a:r>
            <a:r>
              <a:rPr lang="en-US" altLang="ko-KR" sz="120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Kaliba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He, M. J., &amp; Zhang, R. H. (2026). Research on audience perception and influence mechanism of museums based on network text analysis: a case study of the Chinese Language Museum. DIGITAL SCHOLARSHIP IN THE HUMANITIES.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5"/>
              </a:rPr>
              <a:t>He &amp; Zhang,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Barrera-Barrera, R. (2026). A text-mining framework for measuring urban destination attractiveness. INTERNATIONAL JOURNAL OF TOURISM CITIES.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6"/>
              </a:rPr>
              <a:t>Barrera-Barrera,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Jiang, B., Zhang, C. X., &amp; Liu, Z. N. (2025). Enhancement of Harbin ice and snow tourism destination competitiveness: A large-scale data study based on sentiment analysis and Latent Dirichlet Allocation. PLOS ONE.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7"/>
              </a:rPr>
              <a:t>Jiang et al., 2025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Ali, T., Omar, B., &amp;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Soulaimane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K. (2022). Analyzing tourism reviews using an LDA topic-based sentiment analysis approach. METHODSX.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8"/>
              </a:rPr>
              <a:t>Ali et al., 2022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Habbat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N., &amp; Nouri, H. (2024). Unlocking travel narratives: a fusion of stacking ensemble deep learning and neural topic modeling for enhanced tourism comment analysis. SOCIAL NETWORK ANALYSIS AND MINING. [</a:t>
            </a:r>
            <a:r>
              <a:rPr lang="en-US" altLang="ko-KR" sz="120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9"/>
              </a:rPr>
              <a:t>Habbat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9"/>
              </a:rPr>
              <a:t> &amp; Nouri, 2024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Wang, Z.,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Udomwong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P., &amp;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Onpium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P. (2024). Destination image analysis and marketing strategies in emerging panda tourism: a cross-cultural perspective. COGENT BUSINESS &amp; MANAGEMENT.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10"/>
              </a:rPr>
              <a:t>Wang et al., 2024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Cheng, X. Q., Chen, Y. H., &amp; Duan, Q. X. (2024). A novel ChatGPT-based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multimodel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framework for tourism review mining: a case study on China's five sacred mountains. JOURNAL OF HOSPITALITY AND TOURISM TECHNOLOGY.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11"/>
              </a:rPr>
              <a:t>Cheng et al., 2024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Shahhosseini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M., &amp; Nasr, A. K. (2024). What attributes affect customer satisfaction in green restaurants? An aspect-based sentiment analysis approach. JOURNAL OF TRAVEL &amp; TOURISM MARKETING. [</a:t>
            </a:r>
            <a:r>
              <a:rPr lang="en-US" altLang="ko-KR" sz="120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12"/>
              </a:rPr>
              <a:t>Shahhosseini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12"/>
              </a:rPr>
              <a:t> &amp; Nasr, 2024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Lin, B. Y., Fan, Y. F., &amp; Yang, R. (2025). The future of urban travel and tourism: a text mining analysis of robotaxi sentiment and adoption. JOURNAL OF TRAVEL &amp; TOURISM MARKETING.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13"/>
              </a:rPr>
              <a:t>Lin et al., 2025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Tsai, C. F., Chen, K., &amp; Chen, W. K. (2020). Improving text summarization of online hotel reviews with review helpfulness and sentiment. TOURISM MANAGEMENT.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14"/>
              </a:rPr>
              <a:t>Tsai et al., 2020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Soleymani, M., Garcia, D., &amp;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Pantic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M. (2017). A survey of multimodal sentiment analysis. IMAGE AND VISION COMPUTING.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15"/>
              </a:rPr>
              <a:t>Soleymani et al., 2017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713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516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62B7E-2596-DC9C-7F80-40108D3B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8915F1-8426-3E20-5344-FA0382723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905E98-3959-6E33-142E-0D7CCB94F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0DF2C-FBB3-6231-6553-A47208B1D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177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2BBE9-295F-D7EB-5D24-71601DEF0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D49DA9-A63A-8C34-AE9C-2C0ED2A63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9555D1-9D31-709C-CBA3-FC5D60F65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Meng, L. L., Niu, H. R., &amp; Yan, S. T. (2026). Analysis of Accessibility to Major Tourist Attractions in Wuhan from Subjective and Objective Perspectives. LAND.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Meng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Kwanyou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A.,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Rukumnuaykit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P., &amp;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Pholphirul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P. (2026). Perceptions of Overcrowding: A Social Listening Approach to Sustainable Tourism Management in Thailand. SUSTAINABLE DEVELOPMENT. [</a:t>
            </a:r>
            <a:r>
              <a:rPr lang="en-US" altLang="ko-KR" sz="120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Kwanyou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Liu, F., &amp; Liu, J. M. (2026). What Do Online Reviews Reveal About Tourist Experience? A Diagnostic Framework for Sustainable Destination Management in a Large Provincial Tourism System in China. SUSTAINABILITY.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5"/>
              </a:rPr>
              <a:t>Liu &amp; Liu,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Zhang, X. B., Zhong, Y. A., &amp; Kim, H. S. (2026). Leveraging big data and spatial analysis for customer-centric evaluation of Chinese tourism performing arts. JOURNAL OF HOSPITALITY AND TOURISM TECHNOLOGY.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6"/>
              </a:rPr>
              <a:t>Zhang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Sharma, S., Khan, S., &amp; Chauhan, R. (2026). Decoding the pedestrian tourist street experience (PTSE): an open-Source text analytics framework systematically fortifying computational scale with qualitative depth. TOURISM RECREATION RESEARCH.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7"/>
              </a:rPr>
              <a:t>Sharma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Barrera-Barrera, R. (2026). The influence of heritage designation on guest satisfaction in Spanish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paradores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: A text-mining analysis of online reviews. TOURISM AND HOSPITALITY RESEARCH.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8"/>
              </a:rPr>
              <a:t>Barrera-Barrera,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Noufe, S. C.,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Belaroussi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R., &amp;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Vandanjon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P. O. (2026). Mapping Urban Vitality: Geospatial Analysis of Commercial Diversity and Tourism. URBAN SCIENCE.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9"/>
              </a:rPr>
              <a:t>Noufe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 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07B444-0F25-2C06-77E0-E615DAB34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64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602B-634A-14EE-E615-2CBFD9F5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474518-2F0D-1560-01A1-3367DD52A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60B8B9-7627-4046-6634-9933525FD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EE8446-BFC2-DD2D-75B3-BC00CB2D5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17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8E24-0587-E0F1-615E-7451FB18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EE13D5-E1D4-2E09-BDB9-1247078D1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C7D8A-9E61-28A2-0A81-545740ECF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4B17AD-5276-8634-FB6A-FB67A7CE0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910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DFDD1-F5DD-4944-C6FC-3EAC0D16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40B6F6-75F5-A51D-B6D6-0496FE133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67F6DE-F5D6-D980-8CCC-396432B5A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Puttinaovarat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S., Chai-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Arayalert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S., &amp; Saetang, W. (2026). GIS-Based Personalized Tourism Recommendation Using Association Rule Mining to Support Sustainable Tourism. SUSTAINABILITY. [</a:t>
            </a:r>
            <a:r>
              <a:rPr lang="en-US" altLang="ko-KR" sz="120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Puttinaovarat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Majeed, F., Siddique, A., &amp; Shaukat, K. (2026). A Fusion of Recommendation Techniques to Deliver Personalized Tourism Experience. IET SOFTWARE.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Majeed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Xu, C., Wang, M. M., &amp; Zhu, S. L. (2026). Enhancing Aspect-Based Sentiment Analysis in Tourism Using Large Language Models and Positional Information. TSINGHUA SCIENCE AND TECHNOLOGY.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5"/>
              </a:rPr>
              <a:t>Xu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Danish, M., Ansarullah, S. I., &amp;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Alshmrany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S. (2026). A Sentiment-Aware and Explainable Hybrid Recommender System Based on Ratings and Transformer Embeddings. INTERNATIONAL JOURNAL OF COMPUTATIONAL INTELLIGENCE SYSTEMS.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6"/>
              </a:rPr>
              <a:t>Danish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Tran, T. K., &amp; Tran, P. (2026). Aspect-Based Sentiment Analysis in Ho Chi Minh City Hotel Reviews Using Aspect-Conditioned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BiLSTM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 With Cross-Aspect Attention and Ordinal Regression. IEEE ACCESS. [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7"/>
              </a:rPr>
              <a:t>Tran &amp; Tran,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pPr lvl="0"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Fehle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J., Kruschwitz, U., &amp; Wolff, C. (2026). Leveraging fine-tuning of large language models for aspect-based sentiment analysis in resource-scarce environments. KNOWLEDGE-BASED SYSTEMS. [</a:t>
            </a:r>
            <a:r>
              <a:rPr lang="en-US" altLang="ko-KR" sz="120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8"/>
              </a:rPr>
              <a:t>Fehle</a:t>
            </a:r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8"/>
              </a:rPr>
              <a:t> et al., 2026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  <a:endParaRPr lang="ko-KR" altLang="ko-KR" sz="1200" kern="1200" dirty="0">
              <a:solidFill>
                <a:schemeClr val="tx1"/>
              </a:solidFill>
              <a:effectLst/>
              <a:latin typeface="MiSans Light" panose="00000400000000000000" charset="-122"/>
              <a:ea typeface="MiSans Light" panose="00000400000000000000" charset="-122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F63C39-9B95-C1B3-0F46-B91FE4DF9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541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E965-D970-8D99-8835-40639C0C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A7FB69-C963-EE60-AD59-62B2A12B6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90FDE8-6E6E-5CAE-864A-17BEA54D5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51C7B8-8FF2-A6A0-ACF7-5103A1518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881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6280-17E5-64E9-AE3F-E9C4C6E6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36D1DA-7BE7-0EC0-8611-BE964569B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BD9F52-3964-F2C7-8CDD-943B92638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05644C-C075-1850-2436-E33A8CA6E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005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F73A6-2D54-3B91-0887-13DD20AE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8F005E-A4B1-DD8B-6A4B-4A8617C27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0824E6-4F1C-6D73-E5DA-BF7299733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https://www.yanolja-research.com/insight/view/674?lang=kr</a:t>
            </a:r>
          </a:p>
          <a:p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https://www.sto.or.kr/survey/2026-%ED%95%9C%EA%B5%AD-%EB%B0%8F-%EC%84%9C%EC%9A%B8-%EB%B0%A9%EB%AC%B8-%EC%99%B8%EA%B5%AD%EC%9D%B8-%EA%B4%80%EA%B4%91%EA%B0%9D-%EC%88%98_/16080</a:t>
            </a:r>
          </a:p>
          <a:p>
            <a:endParaRPr lang="en-US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그림 </a:t>
            </a:r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1.&gt; 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한국문화관광연구원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https://know.tour.go.kr/stat/tourStatSearchDis19Re.do</a:t>
            </a:r>
          </a:p>
          <a:p>
            <a:endParaRPr lang="en-US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야놀자리서치는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“관광객 수만 늘려서는 현재의 불균형을 바로잡기 </a:t>
            </a:r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어렵다”며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“외국인이 더 많이 쓰고 더 오래 머무는 방향으로의 전환이 </a:t>
            </a:r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시급하다”고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밝혔다</a:t>
            </a:r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5EAF9B-B48A-E62D-C4BC-3CE16B52E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009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5E0A-8DF2-ACFF-BC1B-DC98AF9D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EA54B0-4408-B95A-4D58-1714D64AE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EB9048-9857-9E7C-D7B3-B2C61C702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F3571F-77BD-AA40-8035-13F6DCFB8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1166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EF81-89FC-B9C4-667B-7E629024B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B3E2DC-D0E1-A58B-9B7C-F82ED07EE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179B81-3AD4-99E3-16C8-081D1944F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C2E14A-403D-14F4-CCCA-9AAE52FA7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6886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E8B46-A7D6-60CB-14F7-34314113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1D4701-8BF4-B272-BC83-297F61D02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0A0086-C9D9-6215-A352-0D77573F1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501EAB-E8A9-976A-3310-03F2406C5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330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82B0D-6475-494D-0E01-8FDCEC214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E32579-E3BF-3E25-98BF-02302B69D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B903EC-4127-EEB4-2A9F-B1C137F29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57F54-7A5A-7AE7-126C-236ED6092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5491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68DC-5FC9-9704-FDA8-62297AF3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5773B7-3003-C81C-5F68-199CAD9A6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CBDAA7-E726-ABBC-E9AB-3AEF1DB7B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Bagherzadeh</a:t>
            </a:r>
            <a:r>
              <a:rPr lang="ko-KR" altLang="ko-KR" dirty="0"/>
              <a:t>, </a:t>
            </a:r>
            <a:r>
              <a:rPr lang="ko-KR" altLang="ko-KR" dirty="0" err="1"/>
              <a:t>S</a:t>
            </a:r>
            <a:r>
              <a:rPr lang="ko-KR" altLang="ko-KR" dirty="0"/>
              <a:t>., </a:t>
            </a:r>
            <a:r>
              <a:rPr lang="ko-KR" altLang="ko-KR" dirty="0" err="1"/>
              <a:t>Shokouhyar</a:t>
            </a:r>
            <a:r>
              <a:rPr lang="ko-KR" altLang="ko-KR" dirty="0"/>
              <a:t>, </a:t>
            </a:r>
            <a:r>
              <a:rPr lang="ko-KR" altLang="ko-KR" dirty="0" err="1"/>
              <a:t>S</a:t>
            </a:r>
            <a:r>
              <a:rPr lang="ko-KR" altLang="ko-KR" dirty="0"/>
              <a:t>., </a:t>
            </a:r>
            <a:r>
              <a:rPr lang="ko-KR" altLang="ko-KR" dirty="0" err="1"/>
              <a:t>Jahani</a:t>
            </a:r>
            <a:r>
              <a:rPr lang="ko-KR" altLang="ko-KR" dirty="0"/>
              <a:t>, </a:t>
            </a:r>
            <a:r>
              <a:rPr lang="ko-KR" altLang="ko-KR" dirty="0" err="1"/>
              <a:t>H</a:t>
            </a:r>
            <a:r>
              <a:rPr lang="ko-KR" altLang="ko-KR" dirty="0"/>
              <a:t>., &amp; </a:t>
            </a:r>
            <a:r>
              <a:rPr lang="ko-KR" altLang="ko-KR" dirty="0" err="1"/>
              <a:t>Sigala</a:t>
            </a:r>
            <a:r>
              <a:rPr lang="ko-KR" altLang="ko-KR" dirty="0"/>
              <a:t>, </a:t>
            </a:r>
            <a:r>
              <a:rPr lang="ko-KR" altLang="ko-KR" dirty="0" err="1"/>
              <a:t>M</a:t>
            </a:r>
            <a:r>
              <a:rPr lang="ko-KR" altLang="ko-KR" dirty="0"/>
              <a:t>. (2021).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generalizable</a:t>
            </a:r>
            <a:r>
              <a:rPr lang="ko-KR" altLang="ko-KR" dirty="0"/>
              <a:t> </a:t>
            </a:r>
            <a:r>
              <a:rPr lang="ko-KR" altLang="ko-KR" dirty="0" err="1"/>
              <a:t>sentiment</a:t>
            </a:r>
            <a:r>
              <a:rPr lang="ko-KR" altLang="ko-KR" dirty="0"/>
              <a:t> </a:t>
            </a:r>
            <a:r>
              <a:rPr lang="ko-KR" altLang="ko-KR" dirty="0" err="1"/>
              <a:t>analysis</a:t>
            </a:r>
            <a:r>
              <a:rPr lang="ko-KR" altLang="ko-KR" dirty="0"/>
              <a:t> </a:t>
            </a:r>
            <a:r>
              <a:rPr lang="ko-KR" altLang="ko-KR" dirty="0" err="1"/>
              <a:t>method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creating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hotel</a:t>
            </a:r>
            <a:r>
              <a:rPr lang="ko-KR" altLang="ko-KR" dirty="0"/>
              <a:t> </a:t>
            </a:r>
            <a:r>
              <a:rPr lang="ko-KR" altLang="ko-KR" dirty="0" err="1"/>
              <a:t>dictionary</a:t>
            </a:r>
            <a:r>
              <a:rPr lang="ko-KR" altLang="ko-KR" dirty="0"/>
              <a:t>: </a:t>
            </a:r>
            <a:r>
              <a:rPr lang="ko-KR" altLang="ko-KR" dirty="0" err="1"/>
              <a:t>Using</a:t>
            </a:r>
            <a:r>
              <a:rPr lang="ko-KR" altLang="ko-KR" dirty="0"/>
              <a:t> </a:t>
            </a:r>
            <a:r>
              <a:rPr lang="ko-KR" altLang="ko-KR" dirty="0" err="1"/>
              <a:t>big</a:t>
            </a:r>
            <a:r>
              <a:rPr lang="ko-KR" altLang="ko-KR" dirty="0"/>
              <a:t> </a:t>
            </a:r>
            <a:r>
              <a:rPr lang="ko-KR" altLang="ko-KR" dirty="0" err="1"/>
              <a:t>data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TripAdvisor</a:t>
            </a:r>
            <a:r>
              <a:rPr lang="ko-KR" altLang="ko-KR" dirty="0"/>
              <a:t> </a:t>
            </a:r>
            <a:r>
              <a:rPr lang="ko-KR" altLang="ko-KR" dirty="0" err="1"/>
              <a:t>hotel</a:t>
            </a:r>
            <a:r>
              <a:rPr lang="ko-KR" altLang="ko-KR" dirty="0"/>
              <a:t> </a:t>
            </a:r>
            <a:r>
              <a:rPr lang="ko-KR" altLang="ko-KR" dirty="0" err="1"/>
              <a:t>reviews</a:t>
            </a:r>
            <a:r>
              <a:rPr lang="ko-KR" altLang="ko-KR" dirty="0"/>
              <a:t>. </a:t>
            </a:r>
            <a:r>
              <a:rPr lang="ko-KR" altLang="ko-KR" i="1" dirty="0" err="1"/>
              <a:t>Journal</a:t>
            </a:r>
            <a:r>
              <a:rPr lang="ko-KR" altLang="ko-KR" i="1" dirty="0"/>
              <a:t> of </a:t>
            </a:r>
            <a:r>
              <a:rPr lang="ko-KR" altLang="ko-KR" i="1" dirty="0" err="1"/>
              <a:t>Hospitality</a:t>
            </a:r>
            <a:r>
              <a:rPr lang="ko-KR" altLang="ko-KR" i="1" dirty="0"/>
              <a:t> and </a:t>
            </a:r>
            <a:r>
              <a:rPr lang="ko-KR" altLang="ko-KR" i="1" dirty="0" err="1"/>
              <a:t>Tourism</a:t>
            </a:r>
            <a:r>
              <a:rPr lang="ko-KR" altLang="ko-KR" i="1" dirty="0"/>
              <a:t> Technology, 12</a:t>
            </a:r>
            <a:r>
              <a:rPr lang="ko-KR" altLang="ko-KR" dirty="0"/>
              <a:t>(2), 210–238. </a:t>
            </a:r>
            <a:r>
              <a:rPr lang="ko-KR" altLang="ko-KR" dirty="0">
                <a:hlinkClick r:id="rId3"/>
              </a:rPr>
              <a:t>https://doi.org/10.1108/JHTT-02-2020-0034</a:t>
            </a:r>
            <a:endParaRPr lang="ko-KR" altLang="ko-KR" dirty="0"/>
          </a:p>
          <a:p>
            <a:r>
              <a:rPr lang="ko-KR" altLang="ko-KR" dirty="0" err="1"/>
              <a:t>Conneau</a:t>
            </a:r>
            <a:r>
              <a:rPr lang="ko-KR" altLang="ko-KR" dirty="0"/>
              <a:t>, </a:t>
            </a:r>
            <a:r>
              <a:rPr lang="ko-KR" altLang="ko-KR" dirty="0" err="1"/>
              <a:t>A</a:t>
            </a:r>
            <a:r>
              <a:rPr lang="ko-KR" altLang="ko-KR" dirty="0"/>
              <a:t>., </a:t>
            </a:r>
            <a:r>
              <a:rPr lang="ko-KR" altLang="ko-KR" dirty="0" err="1"/>
              <a:t>Khandelwal</a:t>
            </a:r>
            <a:r>
              <a:rPr lang="ko-KR" altLang="ko-KR" dirty="0"/>
              <a:t>, K., </a:t>
            </a:r>
            <a:r>
              <a:rPr lang="ko-KR" altLang="ko-KR" dirty="0" err="1"/>
              <a:t>Goyal</a:t>
            </a:r>
            <a:r>
              <a:rPr lang="ko-KR" altLang="ko-KR" dirty="0"/>
              <a:t>, </a:t>
            </a:r>
            <a:r>
              <a:rPr lang="ko-KR" altLang="ko-KR" dirty="0" err="1"/>
              <a:t>N</a:t>
            </a:r>
            <a:r>
              <a:rPr lang="ko-KR" altLang="ko-KR" dirty="0"/>
              <a:t>., </a:t>
            </a:r>
            <a:r>
              <a:rPr lang="ko-KR" altLang="ko-KR" dirty="0" err="1"/>
              <a:t>Chaudhary</a:t>
            </a:r>
            <a:r>
              <a:rPr lang="ko-KR" altLang="ko-KR" dirty="0"/>
              <a:t>, </a:t>
            </a:r>
            <a:r>
              <a:rPr lang="ko-KR" altLang="ko-KR" dirty="0" err="1"/>
              <a:t>V</a:t>
            </a:r>
            <a:r>
              <a:rPr lang="ko-KR" altLang="ko-KR" dirty="0"/>
              <a:t>., </a:t>
            </a:r>
            <a:r>
              <a:rPr lang="ko-KR" altLang="ko-KR" dirty="0" err="1"/>
              <a:t>Wenzek</a:t>
            </a:r>
            <a:r>
              <a:rPr lang="ko-KR" altLang="ko-KR" dirty="0"/>
              <a:t>, </a:t>
            </a:r>
            <a:r>
              <a:rPr lang="ko-KR" altLang="ko-KR" dirty="0" err="1"/>
              <a:t>G</a:t>
            </a:r>
            <a:r>
              <a:rPr lang="ko-KR" altLang="ko-KR" dirty="0"/>
              <a:t>., </a:t>
            </a:r>
            <a:r>
              <a:rPr lang="ko-KR" altLang="ko-KR" dirty="0" err="1"/>
              <a:t>Guzmán</a:t>
            </a:r>
            <a:r>
              <a:rPr lang="ko-KR" altLang="ko-KR" dirty="0"/>
              <a:t>, </a:t>
            </a:r>
            <a:r>
              <a:rPr lang="ko-KR" altLang="ko-KR" dirty="0" err="1"/>
              <a:t>F</a:t>
            </a:r>
            <a:r>
              <a:rPr lang="ko-KR" altLang="ko-KR" dirty="0"/>
              <a:t>., </a:t>
            </a:r>
            <a:r>
              <a:rPr lang="ko-KR" altLang="ko-KR" dirty="0" err="1"/>
              <a:t>Grave</a:t>
            </a:r>
            <a:r>
              <a:rPr lang="ko-KR" altLang="ko-KR" dirty="0"/>
              <a:t>, </a:t>
            </a:r>
            <a:r>
              <a:rPr lang="ko-KR" altLang="ko-KR" dirty="0" err="1"/>
              <a:t>E</a:t>
            </a:r>
            <a:r>
              <a:rPr lang="ko-KR" altLang="ko-KR" dirty="0"/>
              <a:t>., </a:t>
            </a:r>
            <a:r>
              <a:rPr lang="ko-KR" altLang="ko-KR" dirty="0" err="1"/>
              <a:t>Ott</a:t>
            </a:r>
            <a:r>
              <a:rPr lang="ko-KR" altLang="ko-KR" dirty="0"/>
              <a:t>, </a:t>
            </a:r>
            <a:r>
              <a:rPr lang="ko-KR" altLang="ko-KR" dirty="0" err="1"/>
              <a:t>M</a:t>
            </a:r>
            <a:r>
              <a:rPr lang="ko-KR" altLang="ko-KR" dirty="0"/>
              <a:t>., </a:t>
            </a:r>
            <a:r>
              <a:rPr lang="ko-KR" altLang="ko-KR" dirty="0" err="1"/>
              <a:t>Zettlemoyer</a:t>
            </a:r>
            <a:r>
              <a:rPr lang="ko-KR" altLang="ko-KR" dirty="0"/>
              <a:t>, </a:t>
            </a:r>
            <a:r>
              <a:rPr lang="ko-KR" altLang="ko-KR" dirty="0" err="1"/>
              <a:t>L</a:t>
            </a:r>
            <a:r>
              <a:rPr lang="ko-KR" altLang="ko-KR" dirty="0"/>
              <a:t>., &amp; </a:t>
            </a:r>
            <a:r>
              <a:rPr lang="ko-KR" altLang="ko-KR" dirty="0" err="1"/>
              <a:t>Stoyanov</a:t>
            </a:r>
            <a:r>
              <a:rPr lang="ko-KR" altLang="ko-KR" dirty="0"/>
              <a:t>, </a:t>
            </a:r>
            <a:r>
              <a:rPr lang="ko-KR" altLang="ko-KR" dirty="0" err="1"/>
              <a:t>V</a:t>
            </a:r>
            <a:r>
              <a:rPr lang="ko-KR" altLang="ko-KR" dirty="0"/>
              <a:t>. (2020). </a:t>
            </a:r>
            <a:r>
              <a:rPr lang="ko-KR" altLang="ko-KR" dirty="0" err="1"/>
              <a:t>Unsupervised</a:t>
            </a:r>
            <a:r>
              <a:rPr lang="ko-KR" altLang="ko-KR" dirty="0"/>
              <a:t> </a:t>
            </a:r>
            <a:r>
              <a:rPr lang="ko-KR" altLang="ko-KR" dirty="0" err="1"/>
              <a:t>cross-lingual</a:t>
            </a:r>
            <a:r>
              <a:rPr lang="ko-KR" altLang="ko-KR" dirty="0"/>
              <a:t> </a:t>
            </a:r>
            <a:r>
              <a:rPr lang="ko-KR" altLang="ko-KR" dirty="0" err="1"/>
              <a:t>representation</a:t>
            </a:r>
            <a:r>
              <a:rPr lang="ko-KR" altLang="ko-KR" dirty="0"/>
              <a:t> </a:t>
            </a:r>
            <a:r>
              <a:rPr lang="ko-KR" altLang="ko-KR" dirty="0" err="1"/>
              <a:t>learning</a:t>
            </a:r>
            <a:r>
              <a:rPr lang="ko-KR" altLang="ko-KR" dirty="0"/>
              <a:t> </a:t>
            </a:r>
            <a:r>
              <a:rPr lang="ko-KR" altLang="ko-KR" dirty="0" err="1"/>
              <a:t>at</a:t>
            </a:r>
            <a:r>
              <a:rPr lang="ko-KR" altLang="ko-KR" dirty="0"/>
              <a:t> </a:t>
            </a:r>
            <a:r>
              <a:rPr lang="ko-KR" altLang="ko-KR" dirty="0" err="1"/>
              <a:t>scale</a:t>
            </a:r>
            <a:r>
              <a:rPr lang="ko-KR" altLang="ko-KR" dirty="0"/>
              <a:t>.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i="1" dirty="0" err="1"/>
              <a:t>Proceedings</a:t>
            </a:r>
            <a:r>
              <a:rPr lang="ko-KR" altLang="ko-KR" i="1" dirty="0"/>
              <a:t> of </a:t>
            </a:r>
            <a:r>
              <a:rPr lang="ko-KR" altLang="ko-KR" i="1" dirty="0" err="1"/>
              <a:t>the</a:t>
            </a:r>
            <a:r>
              <a:rPr lang="ko-KR" altLang="ko-KR" i="1" dirty="0"/>
              <a:t> 58th </a:t>
            </a:r>
            <a:r>
              <a:rPr lang="ko-KR" altLang="ko-KR" i="1" dirty="0" err="1"/>
              <a:t>Annual</a:t>
            </a:r>
            <a:r>
              <a:rPr lang="ko-KR" altLang="ko-KR" i="1" dirty="0"/>
              <a:t> </a:t>
            </a:r>
            <a:r>
              <a:rPr lang="ko-KR" altLang="ko-KR" i="1" dirty="0" err="1"/>
              <a:t>Meeting</a:t>
            </a:r>
            <a:r>
              <a:rPr lang="ko-KR" altLang="ko-KR" i="1" dirty="0"/>
              <a:t> of </a:t>
            </a:r>
            <a:r>
              <a:rPr lang="ko-KR" altLang="ko-KR" i="1" dirty="0" err="1"/>
              <a:t>the</a:t>
            </a:r>
            <a:r>
              <a:rPr lang="ko-KR" altLang="ko-KR" i="1" dirty="0"/>
              <a:t> Association </a:t>
            </a:r>
            <a:r>
              <a:rPr lang="ko-KR" altLang="ko-KR" i="1" dirty="0" err="1"/>
              <a:t>for</a:t>
            </a:r>
            <a:r>
              <a:rPr lang="ko-KR" altLang="ko-KR" i="1" dirty="0"/>
              <a:t> </a:t>
            </a:r>
            <a:r>
              <a:rPr lang="ko-KR" altLang="ko-KR" i="1" dirty="0" err="1"/>
              <a:t>Computational</a:t>
            </a:r>
            <a:r>
              <a:rPr lang="ko-KR" altLang="ko-KR" i="1" dirty="0"/>
              <a:t> </a:t>
            </a:r>
            <a:r>
              <a:rPr lang="ko-KR" altLang="ko-KR" i="1" dirty="0" err="1"/>
              <a:t>Linguistics</a:t>
            </a:r>
            <a:r>
              <a:rPr lang="ko-KR" altLang="ko-KR" dirty="0"/>
              <a:t> (</a:t>
            </a:r>
            <a:r>
              <a:rPr lang="ko-KR" altLang="ko-KR" dirty="0" err="1"/>
              <a:t>pp</a:t>
            </a:r>
            <a:r>
              <a:rPr lang="ko-KR" altLang="ko-KR" dirty="0"/>
              <a:t>. 8440–8451). Association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Computational</a:t>
            </a:r>
            <a:r>
              <a:rPr lang="ko-KR" altLang="ko-KR" dirty="0"/>
              <a:t> </a:t>
            </a:r>
            <a:r>
              <a:rPr lang="ko-KR" altLang="ko-KR" dirty="0" err="1"/>
              <a:t>Linguistics</a:t>
            </a:r>
            <a:r>
              <a:rPr lang="ko-KR" altLang="ko-KR" dirty="0"/>
              <a:t>. </a:t>
            </a:r>
            <a:r>
              <a:rPr lang="ko-KR" altLang="ko-KR" dirty="0">
                <a:hlinkClick r:id="rId4"/>
              </a:rPr>
              <a:t>https://doi.org/10.18653/v1/2020.acl-main.747</a:t>
            </a:r>
            <a:endParaRPr lang="ko-KR" altLang="ko-KR" dirty="0"/>
          </a:p>
          <a:p>
            <a:r>
              <a:rPr lang="ko-KR" altLang="ko-KR" dirty="0" err="1"/>
              <a:t>Ma</a:t>
            </a:r>
            <a:r>
              <a:rPr lang="ko-KR" altLang="ko-KR" dirty="0"/>
              <a:t>, </a:t>
            </a:r>
            <a:r>
              <a:rPr lang="ko-KR" altLang="ko-KR" dirty="0" err="1"/>
              <a:t>E</a:t>
            </a:r>
            <a:r>
              <a:rPr lang="ko-KR" altLang="ko-KR" dirty="0"/>
              <a:t>., </a:t>
            </a:r>
            <a:r>
              <a:rPr lang="ko-KR" altLang="ko-KR" dirty="0" err="1"/>
              <a:t>Cheng</a:t>
            </a:r>
            <a:r>
              <a:rPr lang="ko-KR" altLang="ko-KR" dirty="0"/>
              <a:t>, </a:t>
            </a:r>
            <a:r>
              <a:rPr lang="ko-KR" altLang="ko-KR" dirty="0" err="1"/>
              <a:t>M</a:t>
            </a:r>
            <a:r>
              <a:rPr lang="ko-KR" altLang="ko-KR" dirty="0"/>
              <a:t>., &amp; </a:t>
            </a:r>
            <a:r>
              <a:rPr lang="ko-KR" altLang="ko-KR" dirty="0" err="1"/>
              <a:t>Hsiao</a:t>
            </a:r>
            <a:r>
              <a:rPr lang="ko-KR" altLang="ko-KR" dirty="0"/>
              <a:t>, </a:t>
            </a:r>
            <a:r>
              <a:rPr lang="ko-KR" altLang="ko-KR" dirty="0" err="1"/>
              <a:t>A</a:t>
            </a:r>
            <a:r>
              <a:rPr lang="ko-KR" altLang="ko-KR" dirty="0"/>
              <a:t>. (2018). </a:t>
            </a:r>
            <a:r>
              <a:rPr lang="ko-KR" altLang="ko-KR" dirty="0" err="1"/>
              <a:t>Sentiment</a:t>
            </a:r>
            <a:r>
              <a:rPr lang="ko-KR" altLang="ko-KR" dirty="0"/>
              <a:t> </a:t>
            </a:r>
            <a:r>
              <a:rPr lang="ko-KR" altLang="ko-KR" dirty="0" err="1"/>
              <a:t>analysis</a:t>
            </a:r>
            <a:r>
              <a:rPr lang="ko-KR" altLang="ko-KR" dirty="0"/>
              <a:t> –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review</a:t>
            </a:r>
            <a:r>
              <a:rPr lang="ko-KR" altLang="ko-KR" dirty="0"/>
              <a:t> and </a:t>
            </a:r>
            <a:r>
              <a:rPr lang="ko-KR" altLang="ko-KR" dirty="0" err="1"/>
              <a:t>agenda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future</a:t>
            </a:r>
            <a:r>
              <a:rPr lang="ko-KR" altLang="ko-KR" dirty="0"/>
              <a:t> </a:t>
            </a:r>
            <a:r>
              <a:rPr lang="ko-KR" altLang="ko-KR" dirty="0" err="1"/>
              <a:t>research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hospitality</a:t>
            </a:r>
            <a:r>
              <a:rPr lang="ko-KR" altLang="ko-KR" dirty="0"/>
              <a:t> </a:t>
            </a:r>
            <a:r>
              <a:rPr lang="ko-KR" altLang="ko-KR" dirty="0" err="1"/>
              <a:t>contexts</a:t>
            </a:r>
            <a:r>
              <a:rPr lang="ko-KR" altLang="ko-KR" dirty="0"/>
              <a:t>. </a:t>
            </a:r>
            <a:r>
              <a:rPr lang="ko-KR" altLang="ko-KR" i="1" dirty="0"/>
              <a:t>International </a:t>
            </a:r>
            <a:r>
              <a:rPr lang="ko-KR" altLang="ko-KR" i="1" dirty="0" err="1"/>
              <a:t>Journal</a:t>
            </a:r>
            <a:r>
              <a:rPr lang="ko-KR" altLang="ko-KR" i="1" dirty="0"/>
              <a:t> of </a:t>
            </a:r>
            <a:r>
              <a:rPr lang="ko-KR" altLang="ko-KR" i="1" dirty="0" err="1"/>
              <a:t>Contemporary</a:t>
            </a:r>
            <a:r>
              <a:rPr lang="ko-KR" altLang="ko-KR" i="1" dirty="0"/>
              <a:t> </a:t>
            </a:r>
            <a:r>
              <a:rPr lang="ko-KR" altLang="ko-KR" i="1" dirty="0" err="1"/>
              <a:t>Hospitality</a:t>
            </a:r>
            <a:r>
              <a:rPr lang="ko-KR" altLang="ko-KR" i="1" dirty="0"/>
              <a:t> Management, 30</a:t>
            </a:r>
            <a:r>
              <a:rPr lang="ko-KR" altLang="ko-KR" dirty="0"/>
              <a:t>(11), 3287–3308. </a:t>
            </a:r>
            <a:r>
              <a:rPr lang="ko-KR" altLang="ko-KR" dirty="0">
                <a:hlinkClick r:id="rId5"/>
              </a:rPr>
              <a:t>https://doi.org/10.1108/IJCHM-10-2017-0704</a:t>
            </a:r>
            <a:endParaRPr lang="ko-KR" altLang="ko-KR" dirty="0"/>
          </a:p>
          <a:p>
            <a:r>
              <a:rPr lang="ko-KR" altLang="ko-KR" dirty="0" err="1"/>
              <a:t>Ameur</a:t>
            </a:r>
            <a:r>
              <a:rPr lang="ko-KR" altLang="ko-KR" dirty="0"/>
              <a:t>, </a:t>
            </a:r>
            <a:r>
              <a:rPr lang="ko-KR" altLang="ko-KR" dirty="0" err="1"/>
              <a:t>A</a:t>
            </a:r>
            <a:r>
              <a:rPr lang="ko-KR" altLang="ko-KR" dirty="0"/>
              <a:t>., </a:t>
            </a:r>
            <a:r>
              <a:rPr lang="ko-KR" altLang="ko-KR" dirty="0" err="1"/>
              <a:t>Hamdi</a:t>
            </a:r>
            <a:r>
              <a:rPr lang="ko-KR" altLang="ko-KR" dirty="0"/>
              <a:t>, </a:t>
            </a:r>
            <a:r>
              <a:rPr lang="ko-KR" altLang="ko-KR" dirty="0" err="1"/>
              <a:t>S</a:t>
            </a:r>
            <a:r>
              <a:rPr lang="ko-KR" altLang="ko-KR" dirty="0"/>
              <a:t>., &amp; </a:t>
            </a:r>
            <a:r>
              <a:rPr lang="ko-KR" altLang="ko-KR" dirty="0" err="1"/>
              <a:t>Ben</a:t>
            </a:r>
            <a:r>
              <a:rPr lang="ko-KR" altLang="ko-KR" dirty="0"/>
              <a:t> </a:t>
            </a:r>
            <a:r>
              <a:rPr lang="ko-KR" altLang="ko-KR" dirty="0" err="1"/>
              <a:t>Yahia</a:t>
            </a:r>
            <a:r>
              <a:rPr lang="ko-KR" altLang="ko-KR" dirty="0"/>
              <a:t>, </a:t>
            </a:r>
            <a:r>
              <a:rPr lang="ko-KR" altLang="ko-KR" dirty="0" err="1"/>
              <a:t>S</a:t>
            </a:r>
            <a:r>
              <a:rPr lang="ko-KR" altLang="ko-KR" dirty="0"/>
              <a:t>. (2023). </a:t>
            </a:r>
            <a:r>
              <a:rPr lang="ko-KR" altLang="ko-KR" dirty="0" err="1"/>
              <a:t>Sentiment</a:t>
            </a:r>
            <a:r>
              <a:rPr lang="ko-KR" altLang="ko-KR" dirty="0"/>
              <a:t> </a:t>
            </a:r>
            <a:r>
              <a:rPr lang="ko-KR" altLang="ko-KR" dirty="0" err="1"/>
              <a:t>analysis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hotel</a:t>
            </a:r>
            <a:r>
              <a:rPr lang="ko-KR" altLang="ko-KR" dirty="0"/>
              <a:t> </a:t>
            </a:r>
            <a:r>
              <a:rPr lang="ko-KR" altLang="ko-KR" dirty="0" err="1"/>
              <a:t>reviews</a:t>
            </a:r>
            <a:r>
              <a:rPr lang="ko-KR" altLang="ko-KR" dirty="0"/>
              <a:t>: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systematic</a:t>
            </a:r>
            <a:r>
              <a:rPr lang="ko-KR" altLang="ko-KR" dirty="0"/>
              <a:t> </a:t>
            </a:r>
            <a:r>
              <a:rPr lang="ko-KR" altLang="ko-KR" dirty="0" err="1"/>
              <a:t>literature</a:t>
            </a:r>
            <a:r>
              <a:rPr lang="ko-KR" altLang="ko-KR" dirty="0"/>
              <a:t> </a:t>
            </a:r>
            <a:r>
              <a:rPr lang="ko-KR" altLang="ko-KR" dirty="0" err="1"/>
              <a:t>review</a:t>
            </a:r>
            <a:r>
              <a:rPr lang="ko-KR" altLang="ko-KR" dirty="0"/>
              <a:t>. </a:t>
            </a:r>
            <a:r>
              <a:rPr lang="ko-KR" altLang="ko-KR" i="1" dirty="0"/>
              <a:t>ACM </a:t>
            </a:r>
            <a:r>
              <a:rPr lang="ko-KR" altLang="ko-KR" i="1" dirty="0" err="1"/>
              <a:t>Computing</a:t>
            </a:r>
            <a:r>
              <a:rPr lang="ko-KR" altLang="ko-KR" i="1" dirty="0"/>
              <a:t> </a:t>
            </a:r>
            <a:r>
              <a:rPr lang="ko-KR" altLang="ko-KR" i="1" dirty="0" err="1"/>
              <a:t>Surveys</a:t>
            </a:r>
            <a:r>
              <a:rPr lang="ko-KR" altLang="ko-KR" i="1" dirty="0"/>
              <a:t>, 56</a:t>
            </a:r>
            <a:r>
              <a:rPr lang="ko-KR" altLang="ko-KR" dirty="0"/>
              <a:t>(2), </a:t>
            </a:r>
            <a:r>
              <a:rPr lang="ko-KR" altLang="ko-KR" dirty="0" err="1"/>
              <a:t>Article</a:t>
            </a:r>
            <a:r>
              <a:rPr lang="ko-KR" altLang="ko-KR" dirty="0"/>
              <a:t> 51. </a:t>
            </a:r>
            <a:r>
              <a:rPr lang="ko-KR" altLang="ko-KR" dirty="0">
                <a:hlinkClick r:id="rId6"/>
              </a:rPr>
              <a:t>https://doi.org/10.1145/3605152</a:t>
            </a:r>
            <a:endParaRPr lang="en-US" altLang="ko-KR" dirty="0"/>
          </a:p>
          <a:p>
            <a:r>
              <a:rPr lang="ko-KR" altLang="ko-KR" dirty="0" err="1"/>
              <a:t>Barbieri</a:t>
            </a:r>
            <a:r>
              <a:rPr lang="ko-KR" altLang="ko-KR" dirty="0"/>
              <a:t>, </a:t>
            </a:r>
            <a:r>
              <a:rPr lang="ko-KR" altLang="ko-KR" dirty="0" err="1"/>
              <a:t>F</a:t>
            </a:r>
            <a:r>
              <a:rPr lang="ko-KR" altLang="ko-KR" dirty="0"/>
              <a:t>., </a:t>
            </a:r>
            <a:r>
              <a:rPr lang="ko-KR" altLang="ko-KR" dirty="0" err="1"/>
              <a:t>Espinosa</a:t>
            </a:r>
            <a:r>
              <a:rPr lang="ko-KR" altLang="ko-KR" dirty="0"/>
              <a:t> </a:t>
            </a:r>
            <a:r>
              <a:rPr lang="ko-KR" altLang="ko-KR" dirty="0" err="1"/>
              <a:t>Anke</a:t>
            </a:r>
            <a:r>
              <a:rPr lang="ko-KR" altLang="ko-KR" dirty="0"/>
              <a:t>, </a:t>
            </a:r>
            <a:r>
              <a:rPr lang="ko-KR" altLang="ko-KR" dirty="0" err="1"/>
              <a:t>L</a:t>
            </a:r>
            <a:r>
              <a:rPr lang="ko-KR" altLang="ko-KR" dirty="0"/>
              <a:t>., &amp; </a:t>
            </a:r>
            <a:r>
              <a:rPr lang="ko-KR" altLang="ko-KR" dirty="0" err="1"/>
              <a:t>Camacho-Collados</a:t>
            </a:r>
            <a:r>
              <a:rPr lang="ko-KR" altLang="ko-KR" dirty="0"/>
              <a:t>, </a:t>
            </a:r>
            <a:r>
              <a:rPr lang="ko-KR" altLang="ko-KR" dirty="0" err="1"/>
              <a:t>J</a:t>
            </a:r>
            <a:r>
              <a:rPr lang="ko-KR" altLang="ko-KR" dirty="0"/>
              <a:t>. (2022). XLM-T: </a:t>
            </a:r>
            <a:r>
              <a:rPr lang="ko-KR" altLang="ko-KR" dirty="0" err="1"/>
              <a:t>Multilingual</a:t>
            </a:r>
            <a:r>
              <a:rPr lang="ko-KR" altLang="ko-KR" dirty="0"/>
              <a:t> </a:t>
            </a:r>
            <a:r>
              <a:rPr lang="ko-KR" altLang="ko-KR" dirty="0" err="1"/>
              <a:t>language</a:t>
            </a:r>
            <a:r>
              <a:rPr lang="ko-KR" altLang="ko-KR" dirty="0"/>
              <a:t> </a:t>
            </a:r>
            <a:r>
              <a:rPr lang="ko-KR" altLang="ko-KR" dirty="0" err="1"/>
              <a:t>models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Twitter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sentiment</a:t>
            </a:r>
            <a:r>
              <a:rPr lang="ko-KR" altLang="ko-KR" dirty="0"/>
              <a:t> </a:t>
            </a:r>
            <a:r>
              <a:rPr lang="ko-KR" altLang="ko-KR" dirty="0" err="1"/>
              <a:t>analysis</a:t>
            </a:r>
            <a:r>
              <a:rPr lang="ko-KR" altLang="ko-KR" dirty="0"/>
              <a:t> and </a:t>
            </a:r>
            <a:r>
              <a:rPr lang="ko-KR" altLang="ko-KR" dirty="0" err="1"/>
              <a:t>beyond</a:t>
            </a:r>
            <a:r>
              <a:rPr lang="ko-KR" altLang="ko-KR" dirty="0"/>
              <a:t>.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Proceedings</a:t>
            </a:r>
            <a:r>
              <a:rPr lang="ko-KR" altLang="ko-KR" dirty="0"/>
              <a:t> of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Thirteenth</a:t>
            </a:r>
            <a:r>
              <a:rPr lang="ko-KR" altLang="ko-KR" dirty="0"/>
              <a:t> </a:t>
            </a:r>
            <a:r>
              <a:rPr lang="ko-KR" altLang="ko-KR" dirty="0" err="1"/>
              <a:t>Language</a:t>
            </a:r>
            <a:r>
              <a:rPr lang="ko-KR" altLang="ko-KR" dirty="0"/>
              <a:t> Resources and </a:t>
            </a:r>
            <a:r>
              <a:rPr lang="ko-KR" altLang="ko-KR" dirty="0" err="1"/>
              <a:t>Evaluation</a:t>
            </a:r>
            <a:r>
              <a:rPr lang="ko-KR" altLang="ko-KR" dirty="0"/>
              <a:t> </a:t>
            </a:r>
            <a:r>
              <a:rPr lang="ko-KR" altLang="ko-KR" dirty="0" err="1"/>
              <a:t>Conference</a:t>
            </a:r>
            <a:r>
              <a:rPr lang="ko-KR" altLang="ko-KR" dirty="0"/>
              <a:t> (</a:t>
            </a:r>
            <a:r>
              <a:rPr lang="ko-KR" altLang="ko-KR" dirty="0" err="1"/>
              <a:t>pp</a:t>
            </a:r>
            <a:r>
              <a:rPr lang="ko-KR" altLang="ko-KR" dirty="0"/>
              <a:t>. 258–266). </a:t>
            </a:r>
            <a:r>
              <a:rPr lang="ko-KR" altLang="ko-KR" dirty="0" err="1"/>
              <a:t>European</a:t>
            </a:r>
            <a:r>
              <a:rPr lang="ko-KR" altLang="ko-KR" dirty="0"/>
              <a:t> </a:t>
            </a:r>
            <a:r>
              <a:rPr lang="ko-KR" altLang="ko-KR" dirty="0" err="1"/>
              <a:t>Language</a:t>
            </a:r>
            <a:r>
              <a:rPr lang="ko-KR" altLang="ko-KR" dirty="0"/>
              <a:t> Resources Association.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A6E355-CF58-E3D3-274D-F10FC7BD2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8785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4279-C230-58F4-97D9-790A6A2E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FF7248-C257-C1B9-185C-67F4E2999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11F7D2-A4AB-6CD3-0905-8ADEB5FEB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Salazar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MFB,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Baraibar-Diez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Collado-Agudo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J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. CSR and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Corporate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Sustainability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: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Theoretical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and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Empirical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Approaches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Based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on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Data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Science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in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Spanish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Tourism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Companies. SUSTAINABILITY, 2025.[</a:t>
            </a:r>
            <a:r>
              <a:rPr lang="ko-KR" altLang="ko-KR" sz="1200" b="0" i="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Salazar</a:t>
            </a:r>
            <a:r>
              <a:rPr lang="ko-KR" altLang="ko-KR" sz="1200" b="0" i="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 </a:t>
            </a:r>
            <a:r>
              <a:rPr lang="ko-KR" altLang="ko-KR" sz="1200" b="0" i="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et</a:t>
            </a:r>
            <a:r>
              <a:rPr lang="ko-KR" altLang="ko-KR" sz="1200" b="0" i="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 </a:t>
            </a:r>
            <a:r>
              <a:rPr lang="ko-KR" altLang="ko-KR" sz="1200" b="0" i="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al</a:t>
            </a:r>
            <a:r>
              <a:rPr lang="ko-KR" altLang="ko-KR" sz="1200" b="0" i="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3"/>
              </a:rPr>
              <a:t>., 2025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</a:p>
          <a:p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Salazar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MFB,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Baraibar-Diez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Agudo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JC.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Exploring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the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Tourism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Sustainability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Knowledge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Network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Through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Bibliometric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Analysis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and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Computational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Literature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Review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. INTERNATIONAL JOURNAL OF TOURISM RESEARCH, 2026.[</a:t>
            </a:r>
            <a:r>
              <a:rPr lang="ko-KR" altLang="ko-KR" sz="1200" b="0" i="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Salazar</a:t>
            </a:r>
            <a:r>
              <a:rPr lang="ko-KR" altLang="ko-KR" sz="1200" b="0" i="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 </a:t>
            </a:r>
            <a:r>
              <a:rPr lang="ko-KR" altLang="ko-KR" sz="1200" b="0" i="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et</a:t>
            </a:r>
            <a:r>
              <a:rPr lang="ko-KR" altLang="ko-KR" sz="1200" b="0" i="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 </a:t>
            </a:r>
            <a:r>
              <a:rPr lang="ko-KR" altLang="ko-KR" sz="1200" b="0" i="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al</a:t>
            </a:r>
            <a:r>
              <a:rPr lang="ko-KR" altLang="ko-KR" sz="1200" b="0" i="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4"/>
              </a:rPr>
              <a:t>., 2026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</a:p>
          <a:p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Quarshie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Santoso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HB,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Ukpabi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D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.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I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Know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 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What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You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Think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About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Your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Last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Vacation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: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Topic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Modelling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Approach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for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Destination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Online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Reviews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. INFORMATION AND COMMUNICATION TECHNOLOGIES IN TOURISM 2024, ENTER 2024, 2024.[</a:t>
            </a:r>
            <a:r>
              <a:rPr lang="ko-KR" altLang="ko-KR" sz="1200" b="0" i="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5"/>
              </a:rPr>
              <a:t>Quarshie</a:t>
            </a:r>
            <a:r>
              <a:rPr lang="ko-KR" altLang="ko-KR" sz="1200" b="0" i="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5"/>
              </a:rPr>
              <a:t> </a:t>
            </a:r>
            <a:r>
              <a:rPr lang="ko-KR" altLang="ko-KR" sz="1200" b="0" i="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5"/>
              </a:rPr>
              <a:t>et</a:t>
            </a:r>
            <a:r>
              <a:rPr lang="ko-KR" altLang="ko-KR" sz="1200" b="0" i="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5"/>
              </a:rPr>
              <a:t> </a:t>
            </a:r>
            <a:r>
              <a:rPr lang="ko-KR" altLang="ko-KR" sz="1200" b="0" i="0" u="sng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5"/>
              </a:rPr>
              <a:t>al</a:t>
            </a:r>
            <a:r>
              <a:rPr lang="ko-KR" altLang="ko-KR" sz="1200" b="0" i="0" u="sng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  <a:hlinkClick r:id="rId5"/>
              </a:rPr>
              <a:t>., 2024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]</a:t>
            </a:r>
          </a:p>
          <a:p>
            <a:endParaRPr lang="en-US" altLang="ko-KR" dirty="0"/>
          </a:p>
          <a:p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Grootendorst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M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. (2022).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BERTopic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: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Neural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topic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modeling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with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class-based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TF-IDF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procedure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. </a:t>
            </a:r>
            <a:r>
              <a:rPr lang="ko-KR" altLang="ko-KR" sz="1200" b="0" i="1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arXiv</a:t>
            </a:r>
            <a:r>
              <a:rPr lang="ko-KR" altLang="ko-KR" sz="1200" b="0" i="1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ko-KR" altLang="ko-KR" sz="1200" b="0" i="1" kern="1200" dirty="0" err="1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preprint</a:t>
            </a:r>
            <a:r>
              <a:rPr lang="ko-KR" altLang="ko-KR" sz="1200" b="0" i="1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arXiv:2203.05794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McCann</a:t>
            </a:r>
            <a:r>
              <a:rPr lang="ko-KR" altLang="ko-KR" dirty="0"/>
              <a:t>, </a:t>
            </a:r>
            <a:r>
              <a:rPr lang="ko-KR" altLang="ko-KR" dirty="0" err="1"/>
              <a:t>P</a:t>
            </a:r>
            <a:r>
              <a:rPr lang="ko-KR" altLang="ko-KR" dirty="0"/>
              <a:t>. (2020). </a:t>
            </a:r>
            <a:r>
              <a:rPr lang="ko-KR" altLang="ko-KR" dirty="0" err="1"/>
              <a:t>fugashi</a:t>
            </a:r>
            <a:r>
              <a:rPr lang="ko-KR" altLang="ko-KR" dirty="0"/>
              <a:t>,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tool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tokenizing</a:t>
            </a:r>
            <a:r>
              <a:rPr lang="ko-KR" altLang="ko-KR" dirty="0"/>
              <a:t> </a:t>
            </a:r>
            <a:r>
              <a:rPr lang="ko-KR" altLang="ko-KR" dirty="0" err="1"/>
              <a:t>Japanese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Python</a:t>
            </a:r>
            <a:r>
              <a:rPr lang="ko-KR" altLang="ko-KR" dirty="0"/>
              <a:t>. </a:t>
            </a:r>
            <a:r>
              <a:rPr lang="ko-KR" altLang="ko-KR" dirty="0" err="1"/>
              <a:t>Proceedings</a:t>
            </a:r>
            <a:r>
              <a:rPr lang="ko-KR" altLang="ko-KR" dirty="0"/>
              <a:t> of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Second</a:t>
            </a:r>
            <a:r>
              <a:rPr lang="ko-KR" altLang="ko-KR" dirty="0"/>
              <a:t> </a:t>
            </a:r>
            <a:r>
              <a:rPr lang="ko-KR" altLang="ko-KR" dirty="0" err="1"/>
              <a:t>Workshop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NLP </a:t>
            </a:r>
            <a:r>
              <a:rPr lang="ko-KR" altLang="ko-KR" dirty="0" err="1"/>
              <a:t>Open</a:t>
            </a:r>
            <a:r>
              <a:rPr lang="ko-KR" altLang="ko-KR" dirty="0"/>
              <a:t> </a:t>
            </a:r>
            <a:r>
              <a:rPr lang="ko-KR" altLang="ko-KR" dirty="0" err="1"/>
              <a:t>Source</a:t>
            </a:r>
            <a:r>
              <a:rPr lang="ko-KR" altLang="ko-KR" dirty="0"/>
              <a:t> </a:t>
            </a:r>
            <a:r>
              <a:rPr lang="ko-KR" altLang="ko-KR" dirty="0" err="1"/>
              <a:t>Software</a:t>
            </a:r>
            <a:r>
              <a:rPr lang="ko-KR" altLang="ko-KR" dirty="0"/>
              <a:t>, 44–51. </a:t>
            </a:r>
            <a:r>
              <a:rPr lang="ko-KR" altLang="ko-KR" dirty="0">
                <a:hlinkClick r:id="rId6"/>
              </a:rPr>
              <a:t>https://aclanthology.org/2020.nlposs-1.7/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Lee, </a:t>
            </a:r>
            <a:r>
              <a:rPr lang="ko-KR" altLang="ko-KR" dirty="0" err="1"/>
              <a:t>M</a:t>
            </a:r>
            <a:r>
              <a:rPr lang="ko-KR" altLang="ko-KR" dirty="0"/>
              <a:t>. (2024). </a:t>
            </a:r>
            <a:r>
              <a:rPr lang="ko-KR" altLang="ko-KR" dirty="0" err="1"/>
              <a:t>Kiwi</a:t>
            </a:r>
            <a:r>
              <a:rPr lang="ko-KR" altLang="ko-KR" dirty="0"/>
              <a:t>: </a:t>
            </a:r>
            <a:r>
              <a:rPr lang="ko-KR" altLang="ko-KR" dirty="0" err="1"/>
              <a:t>Developing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Korean</a:t>
            </a:r>
            <a:r>
              <a:rPr lang="ko-KR" altLang="ko-KR" dirty="0"/>
              <a:t> </a:t>
            </a:r>
            <a:r>
              <a:rPr lang="ko-KR" altLang="ko-KR" dirty="0" err="1"/>
              <a:t>morphological</a:t>
            </a:r>
            <a:r>
              <a:rPr lang="ko-KR" altLang="ko-KR" dirty="0"/>
              <a:t> </a:t>
            </a:r>
            <a:r>
              <a:rPr lang="ko-KR" altLang="ko-KR" dirty="0" err="1"/>
              <a:t>analyzer</a:t>
            </a:r>
            <a:r>
              <a:rPr lang="ko-KR" altLang="ko-KR" dirty="0"/>
              <a:t> </a:t>
            </a:r>
            <a:r>
              <a:rPr lang="ko-KR" altLang="ko-KR" dirty="0" err="1"/>
              <a:t>based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statistical</a:t>
            </a:r>
            <a:r>
              <a:rPr lang="ko-KR" altLang="ko-KR" dirty="0"/>
              <a:t> </a:t>
            </a:r>
            <a:r>
              <a:rPr lang="ko-KR" altLang="ko-KR" dirty="0" err="1"/>
              <a:t>language</a:t>
            </a:r>
            <a:r>
              <a:rPr lang="ko-KR" altLang="ko-KR" dirty="0"/>
              <a:t> </a:t>
            </a:r>
            <a:r>
              <a:rPr lang="ko-KR" altLang="ko-KR" dirty="0" err="1"/>
              <a:t>models</a:t>
            </a:r>
            <a:r>
              <a:rPr lang="ko-KR" altLang="ko-KR" dirty="0"/>
              <a:t> and </a:t>
            </a:r>
            <a:r>
              <a:rPr lang="ko-KR" altLang="ko-KR" dirty="0" err="1"/>
              <a:t>skip-bigram</a:t>
            </a:r>
            <a:r>
              <a:rPr lang="ko-KR" altLang="ko-KR" dirty="0"/>
              <a:t>. </a:t>
            </a:r>
            <a:r>
              <a:rPr lang="ko-KR" altLang="ko-KR" dirty="0" err="1"/>
              <a:t>Korean</a:t>
            </a:r>
            <a:r>
              <a:rPr lang="ko-KR" altLang="ko-KR" dirty="0"/>
              <a:t> </a:t>
            </a:r>
            <a:r>
              <a:rPr lang="ko-KR" altLang="ko-KR" dirty="0" err="1"/>
              <a:t>Journal</a:t>
            </a:r>
            <a:r>
              <a:rPr lang="ko-KR" altLang="ko-KR" dirty="0"/>
              <a:t> of Digital </a:t>
            </a:r>
            <a:r>
              <a:rPr lang="ko-KR" altLang="ko-KR" dirty="0" err="1"/>
              <a:t>Humanities</a:t>
            </a:r>
            <a:r>
              <a:rPr lang="ko-KR" altLang="ko-KR" dirty="0"/>
              <a:t>, 1(1), 109–136. </a:t>
            </a:r>
            <a:r>
              <a:rPr lang="ko-KR" altLang="ko-KR" dirty="0">
                <a:hlinkClick r:id="rId7"/>
              </a:rPr>
              <a:t>https://accesson.kr/kjdh/v.1/1/109/43508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Sun, </a:t>
            </a:r>
            <a:r>
              <a:rPr lang="ko-KR" altLang="ko-KR" dirty="0" err="1"/>
              <a:t>J</a:t>
            </a:r>
            <a:r>
              <a:rPr lang="ko-KR" altLang="ko-KR" dirty="0"/>
              <a:t>. (2012). </a:t>
            </a:r>
            <a:r>
              <a:rPr lang="ko-KR" altLang="ko-KR" dirty="0" err="1"/>
              <a:t>jieba</a:t>
            </a:r>
            <a:r>
              <a:rPr lang="ko-KR" altLang="ko-KR" dirty="0"/>
              <a:t>: </a:t>
            </a:r>
            <a:r>
              <a:rPr lang="ko-KR" altLang="ko-KR" dirty="0" err="1"/>
              <a:t>Chinese</a:t>
            </a:r>
            <a:r>
              <a:rPr lang="ko-KR" altLang="ko-KR" dirty="0"/>
              <a:t> </a:t>
            </a:r>
            <a:r>
              <a:rPr lang="ko-KR" altLang="ko-KR" dirty="0" err="1"/>
              <a:t>text</a:t>
            </a:r>
            <a:r>
              <a:rPr lang="ko-KR" altLang="ko-KR" dirty="0"/>
              <a:t> </a:t>
            </a:r>
            <a:r>
              <a:rPr lang="ko-KR" altLang="ko-KR" dirty="0" err="1"/>
              <a:t>segmentation</a:t>
            </a:r>
            <a:r>
              <a:rPr lang="ko-KR" altLang="ko-KR" dirty="0"/>
              <a:t> [Computer </a:t>
            </a:r>
            <a:r>
              <a:rPr lang="ko-KR" altLang="ko-KR" dirty="0" err="1"/>
              <a:t>software</a:t>
            </a:r>
            <a:r>
              <a:rPr lang="ko-KR" altLang="ko-KR" dirty="0"/>
              <a:t>]. GitHub. https://github.com/fxsjy/jieba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Phatthiyaphaibun</a:t>
            </a:r>
            <a:r>
              <a:rPr lang="ko-KR" altLang="ko-KR" dirty="0"/>
              <a:t>, </a:t>
            </a:r>
            <a:r>
              <a:rPr lang="ko-KR" altLang="ko-KR" dirty="0" err="1"/>
              <a:t>W</a:t>
            </a:r>
            <a:r>
              <a:rPr lang="ko-KR" altLang="ko-KR" dirty="0"/>
              <a:t>., </a:t>
            </a:r>
            <a:r>
              <a:rPr lang="ko-KR" altLang="ko-KR" dirty="0" err="1"/>
              <a:t>Chaovavanich</a:t>
            </a:r>
            <a:r>
              <a:rPr lang="ko-KR" altLang="ko-KR" dirty="0"/>
              <a:t>, K., </a:t>
            </a:r>
            <a:r>
              <a:rPr lang="ko-KR" altLang="ko-KR" dirty="0" err="1"/>
              <a:t>Polpanumas</a:t>
            </a:r>
            <a:r>
              <a:rPr lang="ko-KR" altLang="ko-KR" dirty="0"/>
              <a:t>, C., </a:t>
            </a:r>
            <a:r>
              <a:rPr lang="ko-KR" altLang="ko-KR" dirty="0" err="1"/>
              <a:t>Suriyawongkul</a:t>
            </a:r>
            <a:r>
              <a:rPr lang="ko-KR" altLang="ko-KR" dirty="0"/>
              <a:t>, </a:t>
            </a:r>
            <a:r>
              <a:rPr lang="ko-KR" altLang="ko-KR" dirty="0" err="1"/>
              <a:t>A</a:t>
            </a:r>
            <a:r>
              <a:rPr lang="ko-KR" altLang="ko-KR" dirty="0"/>
              <a:t>., </a:t>
            </a:r>
            <a:r>
              <a:rPr lang="ko-KR" altLang="ko-KR" dirty="0" err="1"/>
              <a:t>Lowphansirikul</a:t>
            </a:r>
            <a:r>
              <a:rPr lang="ko-KR" altLang="ko-KR" dirty="0"/>
              <a:t>, </a:t>
            </a:r>
            <a:r>
              <a:rPr lang="ko-KR" altLang="ko-KR" dirty="0" err="1"/>
              <a:t>L</a:t>
            </a:r>
            <a:r>
              <a:rPr lang="ko-KR" altLang="ko-KR" dirty="0"/>
              <a:t>., &amp; </a:t>
            </a:r>
            <a:r>
              <a:rPr lang="ko-KR" altLang="ko-KR" dirty="0" err="1"/>
              <a:t>Chormai</a:t>
            </a:r>
            <a:r>
              <a:rPr lang="ko-KR" altLang="ko-KR" dirty="0"/>
              <a:t>, </a:t>
            </a:r>
            <a:r>
              <a:rPr lang="ko-KR" altLang="ko-KR" dirty="0" err="1"/>
              <a:t>P</a:t>
            </a:r>
            <a:r>
              <a:rPr lang="ko-KR" altLang="ko-KR" dirty="0"/>
              <a:t>. (2023). </a:t>
            </a:r>
            <a:r>
              <a:rPr lang="ko-KR" altLang="ko-KR" dirty="0" err="1"/>
              <a:t>PyThaiNLP</a:t>
            </a:r>
            <a:r>
              <a:rPr lang="ko-KR" altLang="ko-KR" dirty="0"/>
              <a:t>: </a:t>
            </a:r>
            <a:r>
              <a:rPr lang="ko-KR" altLang="ko-KR" dirty="0" err="1"/>
              <a:t>Thai</a:t>
            </a:r>
            <a:r>
              <a:rPr lang="ko-KR" altLang="ko-KR" dirty="0"/>
              <a:t> </a:t>
            </a:r>
            <a:r>
              <a:rPr lang="ko-KR" altLang="ko-KR" dirty="0" err="1"/>
              <a:t>natural</a:t>
            </a:r>
            <a:r>
              <a:rPr lang="ko-KR" altLang="ko-KR" dirty="0"/>
              <a:t> </a:t>
            </a:r>
            <a:r>
              <a:rPr lang="ko-KR" altLang="ko-KR" dirty="0" err="1"/>
              <a:t>language</a:t>
            </a:r>
            <a:r>
              <a:rPr lang="ko-KR" altLang="ko-KR" dirty="0"/>
              <a:t> </a:t>
            </a:r>
            <a:r>
              <a:rPr lang="ko-KR" altLang="ko-KR" dirty="0" err="1"/>
              <a:t>processing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Python</a:t>
            </a:r>
            <a:r>
              <a:rPr lang="ko-KR" altLang="ko-KR" dirty="0"/>
              <a:t>. </a:t>
            </a:r>
            <a:r>
              <a:rPr lang="ko-KR" altLang="ko-KR" dirty="0" err="1"/>
              <a:t>Proceedings</a:t>
            </a:r>
            <a:r>
              <a:rPr lang="ko-KR" altLang="ko-KR" dirty="0"/>
              <a:t> of </a:t>
            </a:r>
            <a:r>
              <a:rPr lang="ko-KR" altLang="ko-KR" dirty="0" err="1"/>
              <a:t>the</a:t>
            </a:r>
            <a:r>
              <a:rPr lang="ko-KR" altLang="ko-KR" dirty="0"/>
              <a:t> 3rd </a:t>
            </a:r>
            <a:r>
              <a:rPr lang="ko-KR" altLang="ko-KR" dirty="0" err="1"/>
              <a:t>Workshop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Natural</a:t>
            </a:r>
            <a:r>
              <a:rPr lang="ko-KR" altLang="ko-KR" dirty="0"/>
              <a:t> </a:t>
            </a:r>
            <a:r>
              <a:rPr lang="ko-KR" altLang="ko-KR" dirty="0" err="1"/>
              <a:t>Language</a:t>
            </a:r>
            <a:r>
              <a:rPr lang="ko-KR" altLang="ko-KR" dirty="0"/>
              <a:t> Processing </a:t>
            </a:r>
            <a:r>
              <a:rPr lang="ko-KR" altLang="ko-KR" dirty="0" err="1"/>
              <a:t>Open</a:t>
            </a:r>
            <a:r>
              <a:rPr lang="ko-KR" altLang="ko-KR" dirty="0"/>
              <a:t> </a:t>
            </a:r>
            <a:r>
              <a:rPr lang="ko-KR" altLang="ko-KR" dirty="0" err="1"/>
              <a:t>Source</a:t>
            </a:r>
            <a:r>
              <a:rPr lang="ko-KR" altLang="ko-KR" dirty="0"/>
              <a:t> </a:t>
            </a:r>
            <a:r>
              <a:rPr lang="ko-KR" altLang="ko-KR" dirty="0" err="1"/>
              <a:t>Software</a:t>
            </a:r>
            <a:r>
              <a:rPr lang="ko-KR" altLang="ko-KR" dirty="0"/>
              <a:t>, 25–36. </a:t>
            </a:r>
            <a:r>
              <a:rPr lang="ko-KR" altLang="ko-KR" dirty="0">
                <a:hlinkClick r:id="rId8"/>
              </a:rPr>
              <a:t>https://aclanthology.org/2023.nlposs-1.4/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Medvecki</a:t>
            </a:r>
            <a:r>
              <a:rPr lang="ko-KR" altLang="ko-KR" dirty="0"/>
              <a:t>, </a:t>
            </a:r>
            <a:r>
              <a:rPr lang="ko-KR" altLang="ko-KR" dirty="0" err="1"/>
              <a:t>D</a:t>
            </a:r>
            <a:r>
              <a:rPr lang="ko-KR" altLang="ko-KR" dirty="0"/>
              <a:t>., </a:t>
            </a:r>
            <a:r>
              <a:rPr lang="ko-KR" altLang="ko-KR" dirty="0" err="1"/>
              <a:t>Bašaragin</a:t>
            </a:r>
            <a:r>
              <a:rPr lang="ko-KR" altLang="ko-KR" dirty="0"/>
              <a:t>, </a:t>
            </a:r>
            <a:r>
              <a:rPr lang="ko-KR" altLang="ko-KR" dirty="0" err="1"/>
              <a:t>B</a:t>
            </a:r>
            <a:r>
              <a:rPr lang="ko-KR" altLang="ko-KR" dirty="0"/>
              <a:t>., </a:t>
            </a:r>
            <a:r>
              <a:rPr lang="ko-KR" altLang="ko-KR" dirty="0" err="1"/>
              <a:t>Ljajić</a:t>
            </a:r>
            <a:r>
              <a:rPr lang="ko-KR" altLang="ko-KR" dirty="0"/>
              <a:t>, </a:t>
            </a:r>
            <a:r>
              <a:rPr lang="ko-KR" altLang="ko-KR" dirty="0" err="1"/>
              <a:t>A</a:t>
            </a:r>
            <a:r>
              <a:rPr lang="ko-KR" altLang="ko-KR" dirty="0"/>
              <a:t>., &amp; </a:t>
            </a:r>
            <a:r>
              <a:rPr lang="ko-KR" altLang="ko-KR" dirty="0" err="1"/>
              <a:t>Milošević</a:t>
            </a:r>
            <a:r>
              <a:rPr lang="ko-KR" altLang="ko-KR" dirty="0"/>
              <a:t>, </a:t>
            </a:r>
            <a:r>
              <a:rPr lang="ko-KR" altLang="ko-KR" dirty="0" err="1"/>
              <a:t>N</a:t>
            </a:r>
            <a:r>
              <a:rPr lang="ko-KR" altLang="ko-KR" dirty="0"/>
              <a:t>. (2024). </a:t>
            </a:r>
            <a:r>
              <a:rPr lang="ko-KR" altLang="ko-KR" dirty="0" err="1"/>
              <a:t>Multilingual</a:t>
            </a:r>
            <a:r>
              <a:rPr lang="ko-KR" altLang="ko-KR" dirty="0"/>
              <a:t> </a:t>
            </a:r>
            <a:r>
              <a:rPr lang="ko-KR" altLang="ko-KR" dirty="0" err="1"/>
              <a:t>transformer</a:t>
            </a:r>
            <a:r>
              <a:rPr lang="ko-KR" altLang="ko-KR" dirty="0"/>
              <a:t> and </a:t>
            </a:r>
            <a:r>
              <a:rPr lang="ko-KR" altLang="ko-KR" dirty="0" err="1"/>
              <a:t>BERTopic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short</a:t>
            </a:r>
            <a:r>
              <a:rPr lang="ko-KR" altLang="ko-KR" dirty="0"/>
              <a:t> </a:t>
            </a:r>
            <a:r>
              <a:rPr lang="ko-KR" altLang="ko-KR" dirty="0" err="1"/>
              <a:t>text</a:t>
            </a:r>
            <a:r>
              <a:rPr lang="ko-KR" altLang="ko-KR" dirty="0"/>
              <a:t> </a:t>
            </a:r>
            <a:r>
              <a:rPr lang="ko-KR" altLang="ko-KR" dirty="0" err="1"/>
              <a:t>topic</a:t>
            </a:r>
            <a:r>
              <a:rPr lang="ko-KR" altLang="ko-KR" dirty="0"/>
              <a:t> </a:t>
            </a:r>
            <a:r>
              <a:rPr lang="ko-KR" altLang="ko-KR" dirty="0" err="1"/>
              <a:t>modeling</a:t>
            </a:r>
            <a:r>
              <a:rPr lang="ko-KR" altLang="ko-KR" dirty="0"/>
              <a:t>: The </a:t>
            </a:r>
            <a:r>
              <a:rPr lang="ko-KR" altLang="ko-KR" dirty="0" err="1"/>
              <a:t>case</a:t>
            </a:r>
            <a:r>
              <a:rPr lang="ko-KR" altLang="ko-KR" dirty="0"/>
              <a:t> of </a:t>
            </a:r>
            <a:r>
              <a:rPr lang="ko-KR" altLang="ko-KR" dirty="0" err="1"/>
              <a:t>Serbian</a:t>
            </a:r>
            <a:r>
              <a:rPr lang="ko-KR" altLang="ko-KR" dirty="0"/>
              <a:t>. </a:t>
            </a:r>
            <a:r>
              <a:rPr lang="ko-KR" altLang="ko-KR" dirty="0" err="1"/>
              <a:t>arXiv</a:t>
            </a:r>
            <a:r>
              <a:rPr lang="ko-KR" altLang="ko-KR" dirty="0"/>
              <a:t> </a:t>
            </a:r>
            <a:r>
              <a:rPr lang="ko-KR" altLang="ko-KR" dirty="0" err="1"/>
              <a:t>preprint</a:t>
            </a:r>
            <a:r>
              <a:rPr lang="ko-KR" altLang="ko-KR" dirty="0"/>
              <a:t> arXiv:2402.03067. </a:t>
            </a:r>
            <a:r>
              <a:rPr lang="ko-KR" altLang="ko-KR" dirty="0">
                <a:hlinkClick r:id="rId9"/>
              </a:rPr>
              <a:t>https://arxiv.org/abs/2402.03067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Espinoza</a:t>
            </a:r>
            <a:r>
              <a:rPr lang="ko-KR" altLang="ko-KR" dirty="0"/>
              <a:t>, </a:t>
            </a:r>
            <a:r>
              <a:rPr lang="ko-KR" altLang="ko-KR" dirty="0" err="1"/>
              <a:t>R</a:t>
            </a:r>
            <a:r>
              <a:rPr lang="ko-KR" altLang="ko-KR" dirty="0"/>
              <a:t>., </a:t>
            </a:r>
            <a:r>
              <a:rPr lang="ko-KR" altLang="ko-KR" dirty="0" err="1"/>
              <a:t>Kishimoto</a:t>
            </a:r>
            <a:r>
              <a:rPr lang="ko-KR" altLang="ko-KR" dirty="0"/>
              <a:t>, K., </a:t>
            </a:r>
            <a:r>
              <a:rPr lang="ko-KR" altLang="ko-KR" dirty="0" err="1"/>
              <a:t>Liu</a:t>
            </a:r>
            <a:r>
              <a:rPr lang="ko-KR" altLang="ko-KR" dirty="0"/>
              <a:t>, C., </a:t>
            </a:r>
            <a:r>
              <a:rPr lang="ko-KR" altLang="ko-KR" dirty="0" err="1"/>
              <a:t>Santos</a:t>
            </a:r>
            <a:r>
              <a:rPr lang="ko-KR" altLang="ko-KR" dirty="0"/>
              <a:t>, </a:t>
            </a:r>
            <a:r>
              <a:rPr lang="ko-KR" altLang="ko-KR" dirty="0" err="1"/>
              <a:t>L</a:t>
            </a:r>
            <a:r>
              <a:rPr lang="ko-KR" altLang="ko-KR" dirty="0"/>
              <a:t>. </a:t>
            </a:r>
            <a:r>
              <a:rPr lang="ko-KR" altLang="ko-KR" dirty="0" err="1"/>
              <a:t>H</a:t>
            </a:r>
            <a:r>
              <a:rPr lang="ko-KR" altLang="ko-KR" dirty="0"/>
              <a:t>. </a:t>
            </a:r>
            <a:r>
              <a:rPr lang="ko-KR" altLang="ko-KR" dirty="0" err="1"/>
              <a:t>O</a:t>
            </a:r>
            <a:r>
              <a:rPr lang="ko-KR" altLang="ko-KR" dirty="0"/>
              <a:t>., </a:t>
            </a:r>
            <a:r>
              <a:rPr lang="ko-KR" altLang="ko-KR" dirty="0" err="1"/>
              <a:t>et</a:t>
            </a:r>
            <a:r>
              <a:rPr lang="ko-KR" altLang="ko-KR" dirty="0"/>
              <a:t> </a:t>
            </a:r>
            <a:r>
              <a:rPr lang="ko-KR" altLang="ko-KR" dirty="0" err="1"/>
              <a:t>al</a:t>
            </a:r>
            <a:r>
              <a:rPr lang="ko-KR" altLang="ko-KR" dirty="0"/>
              <a:t>. (2025). </a:t>
            </a:r>
            <a:r>
              <a:rPr lang="ko-KR" altLang="ko-KR" dirty="0" err="1"/>
              <a:t>Leveraging</a:t>
            </a:r>
            <a:r>
              <a:rPr lang="ko-KR" altLang="ko-KR" dirty="0"/>
              <a:t> </a:t>
            </a:r>
            <a:r>
              <a:rPr lang="ko-KR" altLang="ko-KR" dirty="0" err="1"/>
              <a:t>social</a:t>
            </a:r>
            <a:r>
              <a:rPr lang="ko-KR" altLang="ko-KR" dirty="0"/>
              <a:t> </a:t>
            </a:r>
            <a:r>
              <a:rPr lang="ko-KR" altLang="ko-KR" dirty="0" err="1"/>
              <a:t>media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public</a:t>
            </a:r>
            <a:r>
              <a:rPr lang="ko-KR" altLang="ko-KR" dirty="0"/>
              <a:t> </a:t>
            </a:r>
            <a:r>
              <a:rPr lang="ko-KR" altLang="ko-KR" dirty="0" err="1"/>
              <a:t>health</a:t>
            </a:r>
            <a:r>
              <a:rPr lang="ko-KR" altLang="ko-KR" dirty="0"/>
              <a:t>: NLP </a:t>
            </a:r>
            <a:r>
              <a:rPr lang="ko-KR" altLang="ko-KR" dirty="0" err="1"/>
              <a:t>implementations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blood</a:t>
            </a:r>
            <a:r>
              <a:rPr lang="ko-KR" altLang="ko-KR" dirty="0"/>
              <a:t> </a:t>
            </a:r>
            <a:r>
              <a:rPr lang="ko-KR" altLang="ko-KR" dirty="0" err="1"/>
              <a:t>donation</a:t>
            </a:r>
            <a:r>
              <a:rPr lang="ko-KR" altLang="ko-KR" dirty="0"/>
              <a:t> </a:t>
            </a:r>
            <a:r>
              <a:rPr lang="ko-KR" altLang="ko-KR" dirty="0" err="1"/>
              <a:t>data</a:t>
            </a:r>
            <a:r>
              <a:rPr lang="ko-KR" altLang="ko-KR" dirty="0"/>
              <a:t> </a:t>
            </a:r>
            <a:r>
              <a:rPr lang="ko-KR" altLang="ko-KR" dirty="0" err="1"/>
              <a:t>analysis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Japan</a:t>
            </a:r>
            <a:r>
              <a:rPr lang="ko-KR" altLang="ko-KR" dirty="0"/>
              <a:t>. </a:t>
            </a:r>
            <a:r>
              <a:rPr lang="ko-KR" altLang="ko-KR" dirty="0" err="1"/>
              <a:t>Social</a:t>
            </a:r>
            <a:r>
              <a:rPr lang="ko-KR" altLang="ko-KR" dirty="0"/>
              <a:t> Network </a:t>
            </a:r>
            <a:r>
              <a:rPr lang="ko-KR" altLang="ko-KR" dirty="0" err="1"/>
              <a:t>Analysis</a:t>
            </a:r>
            <a:r>
              <a:rPr lang="ko-KR" altLang="ko-KR" dirty="0"/>
              <a:t> and Mining. </a:t>
            </a:r>
            <a:r>
              <a:rPr lang="ko-KR" altLang="ko-KR" dirty="0">
                <a:hlinkClick r:id="rId10"/>
              </a:rPr>
              <a:t>https://link.springer.com/article/10.1007/s13278-025-01437-8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Reimers</a:t>
            </a:r>
            <a:r>
              <a:rPr lang="ko-KR" altLang="ko-KR" dirty="0"/>
              <a:t>, </a:t>
            </a:r>
            <a:r>
              <a:rPr lang="ko-KR" altLang="ko-KR" dirty="0" err="1"/>
              <a:t>N</a:t>
            </a:r>
            <a:r>
              <a:rPr lang="ko-KR" altLang="ko-KR" dirty="0"/>
              <a:t>., &amp; </a:t>
            </a:r>
            <a:r>
              <a:rPr lang="ko-KR" altLang="ko-KR" dirty="0" err="1"/>
              <a:t>Gurevych</a:t>
            </a:r>
            <a:r>
              <a:rPr lang="ko-KR" altLang="ko-KR" dirty="0"/>
              <a:t>, </a:t>
            </a:r>
            <a:r>
              <a:rPr lang="ko-KR" altLang="ko-KR" dirty="0" err="1"/>
              <a:t>I</a:t>
            </a:r>
            <a:r>
              <a:rPr lang="ko-KR" altLang="ko-KR" dirty="0"/>
              <a:t>. (2020). </a:t>
            </a:r>
            <a:r>
              <a:rPr lang="ko-KR" altLang="ko-KR" dirty="0" err="1"/>
              <a:t>Making</a:t>
            </a:r>
            <a:r>
              <a:rPr lang="ko-KR" altLang="ko-KR" dirty="0"/>
              <a:t> </a:t>
            </a:r>
            <a:r>
              <a:rPr lang="ko-KR" altLang="ko-KR" dirty="0" err="1"/>
              <a:t>monolingual</a:t>
            </a:r>
            <a:r>
              <a:rPr lang="ko-KR" altLang="ko-KR" dirty="0"/>
              <a:t> </a:t>
            </a:r>
            <a:r>
              <a:rPr lang="ko-KR" altLang="ko-KR" dirty="0" err="1"/>
              <a:t>sentence</a:t>
            </a:r>
            <a:r>
              <a:rPr lang="ko-KR" altLang="ko-KR" dirty="0"/>
              <a:t> </a:t>
            </a:r>
            <a:r>
              <a:rPr lang="ko-KR" altLang="ko-KR" dirty="0" err="1"/>
              <a:t>embeddings</a:t>
            </a:r>
            <a:r>
              <a:rPr lang="ko-KR" altLang="ko-KR" dirty="0"/>
              <a:t> </a:t>
            </a:r>
            <a:r>
              <a:rPr lang="ko-KR" altLang="ko-KR" dirty="0" err="1"/>
              <a:t>multilingual</a:t>
            </a:r>
            <a:r>
              <a:rPr lang="ko-KR" altLang="ko-KR" dirty="0"/>
              <a:t> </a:t>
            </a:r>
            <a:r>
              <a:rPr lang="ko-KR" altLang="ko-KR" dirty="0" err="1"/>
              <a:t>using</a:t>
            </a:r>
            <a:r>
              <a:rPr lang="ko-KR" altLang="ko-KR" dirty="0"/>
              <a:t> </a:t>
            </a:r>
            <a:r>
              <a:rPr lang="ko-KR" altLang="ko-KR" dirty="0" err="1"/>
              <a:t>knowledge</a:t>
            </a:r>
            <a:r>
              <a:rPr lang="ko-KR" altLang="ko-KR" dirty="0"/>
              <a:t> </a:t>
            </a:r>
            <a:r>
              <a:rPr lang="ko-KR" altLang="ko-KR" dirty="0" err="1"/>
              <a:t>distillation</a:t>
            </a:r>
            <a:r>
              <a:rPr lang="ko-KR" altLang="ko-KR" dirty="0"/>
              <a:t>. </a:t>
            </a:r>
            <a:r>
              <a:rPr lang="ko-KR" altLang="ko-KR" dirty="0" err="1"/>
              <a:t>Proceedings</a:t>
            </a:r>
            <a:r>
              <a:rPr lang="ko-KR" altLang="ko-KR" dirty="0"/>
              <a:t> of </a:t>
            </a:r>
            <a:r>
              <a:rPr lang="ko-KR" altLang="ko-KR" dirty="0" err="1"/>
              <a:t>the</a:t>
            </a:r>
            <a:r>
              <a:rPr lang="ko-KR" altLang="ko-KR" dirty="0"/>
              <a:t> 2020 </a:t>
            </a:r>
            <a:r>
              <a:rPr lang="ko-KR" altLang="ko-KR" dirty="0" err="1"/>
              <a:t>Conference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Empirical</a:t>
            </a:r>
            <a:r>
              <a:rPr lang="ko-KR" altLang="ko-KR" dirty="0"/>
              <a:t> </a:t>
            </a:r>
            <a:r>
              <a:rPr lang="ko-KR" altLang="ko-KR" dirty="0" err="1"/>
              <a:t>Methods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Natural</a:t>
            </a:r>
            <a:r>
              <a:rPr lang="ko-KR" altLang="ko-KR" dirty="0"/>
              <a:t> </a:t>
            </a:r>
            <a:r>
              <a:rPr lang="ko-KR" altLang="ko-KR" dirty="0" err="1"/>
              <a:t>Language</a:t>
            </a:r>
            <a:r>
              <a:rPr lang="ko-KR" altLang="ko-KR" dirty="0"/>
              <a:t> Processing, 4512–4525. </a:t>
            </a:r>
            <a:r>
              <a:rPr lang="ko-KR" altLang="ko-KR" dirty="0">
                <a:hlinkClick r:id="rId11"/>
              </a:rPr>
              <a:t>https://aclanthology.org/2020.emnlp-main.365/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ko-KR" dirty="0" err="1"/>
              <a:t>Wang</a:t>
            </a:r>
            <a:r>
              <a:rPr lang="ko-KR" altLang="ko-KR" dirty="0"/>
              <a:t>, </a:t>
            </a:r>
            <a:r>
              <a:rPr lang="ko-KR" altLang="ko-KR" dirty="0" err="1"/>
              <a:t>W</a:t>
            </a:r>
            <a:r>
              <a:rPr lang="ko-KR" altLang="ko-KR" dirty="0"/>
              <a:t>., &amp; </a:t>
            </a:r>
            <a:r>
              <a:rPr lang="ko-KR" altLang="ko-KR" dirty="0" err="1"/>
              <a:t>Downey</a:t>
            </a:r>
            <a:r>
              <a:rPr lang="ko-KR" altLang="ko-KR" dirty="0"/>
              <a:t>, </a:t>
            </a:r>
            <a:r>
              <a:rPr lang="ko-KR" altLang="ko-KR" dirty="0" err="1"/>
              <a:t>J</a:t>
            </a:r>
            <a:r>
              <a:rPr lang="ko-KR" altLang="ko-KR" dirty="0"/>
              <a:t>. (2026). </a:t>
            </a:r>
            <a:r>
              <a:rPr lang="ko-KR" altLang="ko-KR" dirty="0" err="1"/>
              <a:t>Going</a:t>
            </a:r>
            <a:r>
              <a:rPr lang="ko-KR" altLang="ko-KR" dirty="0"/>
              <a:t> </a:t>
            </a:r>
            <a:r>
              <a:rPr lang="ko-KR" altLang="ko-KR" dirty="0" err="1"/>
              <a:t>beyond</a:t>
            </a:r>
            <a:r>
              <a:rPr lang="ko-KR" altLang="ko-KR" dirty="0"/>
              <a:t> </a:t>
            </a:r>
            <a:r>
              <a:rPr lang="ko-KR" altLang="ko-KR" dirty="0" err="1"/>
              <a:t>description</a:t>
            </a:r>
            <a:r>
              <a:rPr lang="ko-KR" altLang="ko-KR" dirty="0"/>
              <a:t>: </a:t>
            </a:r>
            <a:r>
              <a:rPr lang="ko-KR" altLang="ko-KR" dirty="0" err="1"/>
              <a:t>Multilingual</a:t>
            </a:r>
            <a:r>
              <a:rPr lang="ko-KR" altLang="ko-KR" dirty="0"/>
              <a:t> </a:t>
            </a:r>
            <a:r>
              <a:rPr lang="ko-KR" altLang="ko-KR" dirty="0" err="1"/>
              <a:t>topic</a:t>
            </a:r>
            <a:r>
              <a:rPr lang="ko-KR" altLang="ko-KR" dirty="0"/>
              <a:t> </a:t>
            </a:r>
            <a:r>
              <a:rPr lang="ko-KR" altLang="ko-KR" dirty="0" err="1"/>
              <a:t>modelling</a:t>
            </a:r>
            <a:r>
              <a:rPr lang="ko-KR" altLang="ko-KR" dirty="0"/>
              <a:t> and </a:t>
            </a:r>
            <a:r>
              <a:rPr lang="ko-KR" altLang="ko-KR" dirty="0" err="1"/>
              <a:t>theoretical</a:t>
            </a:r>
            <a:r>
              <a:rPr lang="ko-KR" altLang="ko-KR" dirty="0"/>
              <a:t> </a:t>
            </a:r>
            <a:r>
              <a:rPr lang="ko-KR" altLang="ko-KR" dirty="0" err="1"/>
              <a:t>integration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comparative</a:t>
            </a:r>
            <a:r>
              <a:rPr lang="ko-KR" altLang="ko-KR" dirty="0"/>
              <a:t> </a:t>
            </a:r>
            <a:r>
              <a:rPr lang="ko-KR" altLang="ko-KR" dirty="0" err="1"/>
              <a:t>media</a:t>
            </a:r>
            <a:r>
              <a:rPr lang="ko-KR" altLang="ko-KR" dirty="0"/>
              <a:t> </a:t>
            </a:r>
            <a:r>
              <a:rPr lang="ko-KR" altLang="ko-KR" dirty="0" err="1"/>
              <a:t>analysis</a:t>
            </a:r>
            <a:r>
              <a:rPr lang="ko-KR" altLang="ko-KR" dirty="0"/>
              <a:t>. </a:t>
            </a:r>
            <a:r>
              <a:rPr lang="ko-KR" altLang="ko-KR" dirty="0" err="1"/>
              <a:t>Humanities</a:t>
            </a:r>
            <a:r>
              <a:rPr lang="ko-KR" altLang="ko-KR" dirty="0"/>
              <a:t> and </a:t>
            </a:r>
            <a:r>
              <a:rPr lang="ko-KR" altLang="ko-KR" dirty="0" err="1"/>
              <a:t>Social</a:t>
            </a:r>
            <a:r>
              <a:rPr lang="ko-KR" altLang="ko-KR" dirty="0"/>
              <a:t> Sciences Communications.</a:t>
            </a:r>
          </a:p>
          <a:p>
            <a:endParaRPr lang="en-US" altLang="ko-KR" dirty="0"/>
          </a:p>
          <a:p>
            <a:r>
              <a:rPr lang="ko-KR" altLang="ko-KR" dirty="0" err="1"/>
              <a:t>Zhao</a:t>
            </a:r>
            <a:r>
              <a:rPr lang="ko-KR" altLang="ko-KR" dirty="0"/>
              <a:t>, </a:t>
            </a:r>
            <a:r>
              <a:rPr lang="ko-KR" altLang="ko-KR" dirty="0" err="1"/>
              <a:t>J</a:t>
            </a:r>
            <a:r>
              <a:rPr lang="ko-KR" altLang="ko-KR" dirty="0"/>
              <a:t>., </a:t>
            </a:r>
            <a:r>
              <a:rPr lang="ko-KR" altLang="ko-KR" dirty="0" err="1"/>
              <a:t>Zhang</a:t>
            </a:r>
            <a:r>
              <a:rPr lang="ko-KR" altLang="ko-KR" dirty="0"/>
              <a:t>, </a:t>
            </a:r>
            <a:r>
              <a:rPr lang="ko-KR" altLang="ko-KR" dirty="0" err="1"/>
              <a:t>Z</a:t>
            </a:r>
            <a:r>
              <a:rPr lang="ko-KR" altLang="ko-KR" dirty="0"/>
              <a:t>., </a:t>
            </a:r>
            <a:r>
              <a:rPr lang="ko-KR" altLang="ko-KR" dirty="0" err="1"/>
              <a:t>Feng</a:t>
            </a:r>
            <a:r>
              <a:rPr lang="ko-KR" altLang="ko-KR" dirty="0"/>
              <a:t>, </a:t>
            </a:r>
            <a:r>
              <a:rPr lang="ko-KR" altLang="ko-KR" dirty="0" err="1"/>
              <a:t>J</a:t>
            </a:r>
            <a:r>
              <a:rPr lang="ko-KR" altLang="ko-KR" dirty="0"/>
              <a:t>., &amp; </a:t>
            </a:r>
            <a:r>
              <a:rPr lang="ko-KR" altLang="ko-KR" dirty="0" err="1"/>
              <a:t>Li</a:t>
            </a:r>
            <a:r>
              <a:rPr lang="ko-KR" altLang="ko-KR" dirty="0"/>
              <a:t>, </a:t>
            </a:r>
            <a:r>
              <a:rPr lang="ko-KR" altLang="ko-KR" dirty="0" err="1"/>
              <a:t>A</a:t>
            </a:r>
            <a:r>
              <a:rPr lang="ko-KR" altLang="ko-KR" dirty="0"/>
              <a:t>. (2025). </a:t>
            </a:r>
            <a:r>
              <a:rPr lang="ko-KR" altLang="ko-KR" dirty="0" err="1"/>
              <a:t>Prioritizing</a:t>
            </a:r>
            <a:r>
              <a:rPr lang="ko-KR" altLang="ko-KR" dirty="0"/>
              <a:t> </a:t>
            </a:r>
            <a:r>
              <a:rPr lang="ko-KR" altLang="ko-KR" dirty="0" err="1"/>
              <a:t>app</a:t>
            </a:r>
            <a:r>
              <a:rPr lang="ko-KR" altLang="ko-KR" dirty="0"/>
              <a:t> </a:t>
            </a:r>
            <a:r>
              <a:rPr lang="ko-KR" altLang="ko-KR" dirty="0" err="1"/>
              <a:t>user</a:t>
            </a:r>
            <a:r>
              <a:rPr lang="ko-KR" altLang="ko-KR" dirty="0"/>
              <a:t> </a:t>
            </a:r>
            <a:r>
              <a:rPr lang="ko-KR" altLang="ko-KR" dirty="0" err="1"/>
              <a:t>reviews</a:t>
            </a:r>
            <a:r>
              <a:rPr lang="ko-KR" altLang="ko-KR" dirty="0"/>
              <a:t> </a:t>
            </a:r>
            <a:r>
              <a:rPr lang="ko-KR" altLang="ko-KR" dirty="0" err="1"/>
              <a:t>based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multidimensional</a:t>
            </a:r>
            <a:r>
              <a:rPr lang="ko-KR" altLang="ko-KR" dirty="0"/>
              <a:t> </a:t>
            </a:r>
            <a:r>
              <a:rPr lang="ko-KR" altLang="ko-KR" dirty="0" err="1"/>
              <a:t>factors</a:t>
            </a:r>
            <a:r>
              <a:rPr lang="ko-KR" altLang="ko-KR" dirty="0"/>
              <a:t>: </a:t>
            </a:r>
            <a:r>
              <a:rPr lang="ko-KR" altLang="ko-KR" dirty="0" err="1"/>
              <a:t>An</a:t>
            </a:r>
            <a:r>
              <a:rPr lang="ko-KR" altLang="ko-KR" dirty="0"/>
              <a:t> </a:t>
            </a:r>
            <a:r>
              <a:rPr lang="ko-KR" altLang="ko-KR" dirty="0" err="1"/>
              <a:t>integrated</a:t>
            </a:r>
            <a:r>
              <a:rPr lang="ko-KR" altLang="ko-KR" dirty="0"/>
              <a:t> </a:t>
            </a:r>
            <a:r>
              <a:rPr lang="ko-KR" altLang="ko-KR" dirty="0" err="1"/>
              <a:t>BERTopic</a:t>
            </a:r>
            <a:r>
              <a:rPr lang="ko-KR" altLang="ko-KR" dirty="0"/>
              <a:t>–</a:t>
            </a:r>
            <a:r>
              <a:rPr lang="ko-KR" altLang="ko-KR" dirty="0" err="1"/>
              <a:t>SnowNLP</a:t>
            </a:r>
            <a:r>
              <a:rPr lang="ko-KR" altLang="ko-KR" dirty="0"/>
              <a:t> </a:t>
            </a:r>
            <a:r>
              <a:rPr lang="ko-KR" altLang="ko-KR" dirty="0" err="1"/>
              <a:t>framework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supporting</a:t>
            </a:r>
            <a:r>
              <a:rPr lang="ko-KR" altLang="ko-KR" dirty="0"/>
              <a:t> </a:t>
            </a:r>
            <a:r>
              <a:rPr lang="ko-KR" altLang="ko-KR" dirty="0" err="1"/>
              <a:t>developer</a:t>
            </a:r>
            <a:r>
              <a:rPr lang="ko-KR" altLang="ko-KR" dirty="0"/>
              <a:t> </a:t>
            </a:r>
            <a:r>
              <a:rPr lang="ko-KR" altLang="ko-KR" dirty="0" err="1"/>
              <a:t>decisions</a:t>
            </a:r>
            <a:r>
              <a:rPr lang="ko-KR" altLang="ko-KR" dirty="0"/>
              <a:t>. IEEE </a:t>
            </a:r>
            <a:r>
              <a:rPr lang="ko-KR" altLang="ko-KR" dirty="0" err="1"/>
              <a:t>Transactions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Computational</a:t>
            </a:r>
            <a:r>
              <a:rPr lang="ko-KR" altLang="ko-KR" dirty="0"/>
              <a:t> </a:t>
            </a:r>
            <a:r>
              <a:rPr lang="ko-KR" altLang="ko-KR" dirty="0" err="1"/>
              <a:t>Social</a:t>
            </a:r>
            <a:r>
              <a:rPr lang="ko-KR" altLang="ko-KR" dirty="0"/>
              <a:t> Systems.</a:t>
            </a:r>
          </a:p>
          <a:p>
            <a:endParaRPr lang="en-US" altLang="ko-KR" dirty="0"/>
          </a:p>
          <a:p>
            <a:r>
              <a:rPr lang="ko-KR" altLang="ko-KR" dirty="0" err="1"/>
              <a:t>McInnes</a:t>
            </a:r>
            <a:r>
              <a:rPr lang="ko-KR" altLang="ko-KR" dirty="0"/>
              <a:t>, </a:t>
            </a:r>
            <a:r>
              <a:rPr lang="ko-KR" altLang="ko-KR" dirty="0" err="1"/>
              <a:t>L</a:t>
            </a:r>
            <a:r>
              <a:rPr lang="ko-KR" altLang="ko-KR" dirty="0"/>
              <a:t>., </a:t>
            </a:r>
            <a:r>
              <a:rPr lang="ko-KR" altLang="ko-KR" dirty="0" err="1"/>
              <a:t>Healy</a:t>
            </a:r>
            <a:r>
              <a:rPr lang="ko-KR" altLang="ko-KR" dirty="0"/>
              <a:t>, </a:t>
            </a:r>
            <a:r>
              <a:rPr lang="ko-KR" altLang="ko-KR" dirty="0" err="1"/>
              <a:t>J</a:t>
            </a:r>
            <a:r>
              <a:rPr lang="ko-KR" altLang="ko-KR" dirty="0"/>
              <a:t>., &amp; </a:t>
            </a:r>
            <a:r>
              <a:rPr lang="ko-KR" altLang="ko-KR" dirty="0" err="1"/>
              <a:t>Melville</a:t>
            </a:r>
            <a:r>
              <a:rPr lang="ko-KR" altLang="ko-KR" dirty="0"/>
              <a:t>, </a:t>
            </a:r>
            <a:r>
              <a:rPr lang="ko-KR" altLang="ko-KR" dirty="0" err="1"/>
              <a:t>J</a:t>
            </a:r>
            <a:r>
              <a:rPr lang="ko-KR" altLang="ko-KR" dirty="0"/>
              <a:t>. (2020). UMAP: </a:t>
            </a:r>
            <a:r>
              <a:rPr lang="ko-KR" altLang="ko-KR" dirty="0" err="1"/>
              <a:t>Uniform</a:t>
            </a:r>
            <a:r>
              <a:rPr lang="ko-KR" altLang="ko-KR" dirty="0"/>
              <a:t> </a:t>
            </a:r>
            <a:r>
              <a:rPr lang="ko-KR" altLang="ko-KR" dirty="0" err="1"/>
              <a:t>Manifold</a:t>
            </a:r>
            <a:r>
              <a:rPr lang="ko-KR" altLang="ko-KR" dirty="0"/>
              <a:t> </a:t>
            </a:r>
            <a:r>
              <a:rPr lang="ko-KR" altLang="ko-KR" dirty="0" err="1"/>
              <a:t>Approximation</a:t>
            </a:r>
            <a:r>
              <a:rPr lang="ko-KR" altLang="ko-KR" dirty="0"/>
              <a:t> and </a:t>
            </a:r>
            <a:r>
              <a:rPr lang="ko-KR" altLang="ko-KR" dirty="0" err="1"/>
              <a:t>Projection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dimension</a:t>
            </a:r>
            <a:r>
              <a:rPr lang="ko-KR" altLang="ko-KR" dirty="0"/>
              <a:t> </a:t>
            </a:r>
            <a:r>
              <a:rPr lang="ko-KR" altLang="ko-KR" dirty="0" err="1"/>
              <a:t>reduction</a:t>
            </a:r>
            <a:r>
              <a:rPr lang="ko-KR" altLang="ko-KR" dirty="0"/>
              <a:t>. </a:t>
            </a:r>
            <a:r>
              <a:rPr lang="ko-KR" altLang="ko-KR" dirty="0" err="1"/>
              <a:t>arXiv</a:t>
            </a:r>
            <a:r>
              <a:rPr lang="ko-KR" altLang="ko-KR" dirty="0"/>
              <a:t> </a:t>
            </a:r>
            <a:r>
              <a:rPr lang="ko-KR" altLang="ko-KR" dirty="0" err="1"/>
              <a:t>preprint</a:t>
            </a:r>
            <a:r>
              <a:rPr lang="ko-KR" altLang="ko-KR" dirty="0"/>
              <a:t> arXiv:1802.03426.</a:t>
            </a:r>
          </a:p>
          <a:p>
            <a:endParaRPr lang="en-US" altLang="ko-KR" dirty="0"/>
          </a:p>
          <a:p>
            <a:r>
              <a:rPr lang="ko-KR" altLang="ko-KR" dirty="0" err="1"/>
              <a:t>Campello</a:t>
            </a:r>
            <a:r>
              <a:rPr lang="ko-KR" altLang="ko-KR" dirty="0"/>
              <a:t>, </a:t>
            </a:r>
            <a:r>
              <a:rPr lang="ko-KR" altLang="ko-KR" dirty="0" err="1"/>
              <a:t>R</a:t>
            </a:r>
            <a:r>
              <a:rPr lang="ko-KR" altLang="ko-KR" dirty="0"/>
              <a:t>. </a:t>
            </a:r>
            <a:r>
              <a:rPr lang="ko-KR" altLang="ko-KR" dirty="0" err="1"/>
              <a:t>J</a:t>
            </a:r>
            <a:r>
              <a:rPr lang="ko-KR" altLang="ko-KR" dirty="0"/>
              <a:t>. </a:t>
            </a:r>
            <a:r>
              <a:rPr lang="ko-KR" altLang="ko-KR" dirty="0" err="1"/>
              <a:t>G</a:t>
            </a:r>
            <a:r>
              <a:rPr lang="ko-KR" altLang="ko-KR" dirty="0"/>
              <a:t>. </a:t>
            </a:r>
            <a:r>
              <a:rPr lang="ko-KR" altLang="ko-KR" dirty="0" err="1"/>
              <a:t>B</a:t>
            </a:r>
            <a:r>
              <a:rPr lang="ko-KR" altLang="ko-KR" dirty="0"/>
              <a:t>., </a:t>
            </a:r>
            <a:r>
              <a:rPr lang="ko-KR" altLang="ko-KR" dirty="0" err="1"/>
              <a:t>Moulavi</a:t>
            </a:r>
            <a:r>
              <a:rPr lang="ko-KR" altLang="ko-KR" dirty="0"/>
              <a:t>, </a:t>
            </a:r>
            <a:r>
              <a:rPr lang="ko-KR" altLang="ko-KR" dirty="0" err="1"/>
              <a:t>D</a:t>
            </a:r>
            <a:r>
              <a:rPr lang="ko-KR" altLang="ko-KR" dirty="0"/>
              <a:t>., </a:t>
            </a:r>
            <a:r>
              <a:rPr lang="ko-KR" altLang="ko-KR" dirty="0" err="1"/>
              <a:t>Zimek</a:t>
            </a:r>
            <a:r>
              <a:rPr lang="ko-KR" altLang="ko-KR" dirty="0"/>
              <a:t>, </a:t>
            </a:r>
            <a:r>
              <a:rPr lang="ko-KR" altLang="ko-KR" dirty="0" err="1"/>
              <a:t>A</a:t>
            </a:r>
            <a:r>
              <a:rPr lang="ko-KR" altLang="ko-KR" dirty="0"/>
              <a:t>., &amp; </a:t>
            </a:r>
            <a:r>
              <a:rPr lang="ko-KR" altLang="ko-KR" dirty="0" err="1"/>
              <a:t>Sander</a:t>
            </a:r>
            <a:r>
              <a:rPr lang="ko-KR" altLang="ko-KR" dirty="0"/>
              <a:t>, </a:t>
            </a:r>
            <a:r>
              <a:rPr lang="ko-KR" altLang="ko-KR" dirty="0" err="1"/>
              <a:t>J</a:t>
            </a:r>
            <a:r>
              <a:rPr lang="ko-KR" altLang="ko-KR" dirty="0"/>
              <a:t>. (2015). </a:t>
            </a:r>
            <a:r>
              <a:rPr lang="ko-KR" altLang="ko-KR" dirty="0" err="1"/>
              <a:t>Hierarchical</a:t>
            </a:r>
            <a:r>
              <a:rPr lang="ko-KR" altLang="ko-KR" dirty="0"/>
              <a:t> </a:t>
            </a:r>
            <a:r>
              <a:rPr lang="ko-KR" altLang="ko-KR" dirty="0" err="1"/>
              <a:t>density</a:t>
            </a:r>
            <a:r>
              <a:rPr lang="ko-KR" altLang="ko-KR" dirty="0"/>
              <a:t> </a:t>
            </a:r>
            <a:r>
              <a:rPr lang="ko-KR" altLang="ko-KR" dirty="0" err="1"/>
              <a:t>estimates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data</a:t>
            </a:r>
            <a:r>
              <a:rPr lang="ko-KR" altLang="ko-KR" dirty="0"/>
              <a:t> </a:t>
            </a:r>
            <a:r>
              <a:rPr lang="ko-KR" altLang="ko-KR" dirty="0" err="1"/>
              <a:t>clustering</a:t>
            </a:r>
            <a:r>
              <a:rPr lang="ko-KR" altLang="ko-KR" dirty="0"/>
              <a:t>, </a:t>
            </a:r>
            <a:r>
              <a:rPr lang="ko-KR" altLang="ko-KR" dirty="0" err="1"/>
              <a:t>visualization</a:t>
            </a:r>
            <a:r>
              <a:rPr lang="ko-KR" altLang="ko-KR" dirty="0"/>
              <a:t>, and </a:t>
            </a:r>
            <a:r>
              <a:rPr lang="ko-KR" altLang="ko-KR" dirty="0" err="1"/>
              <a:t>outlier</a:t>
            </a:r>
            <a:r>
              <a:rPr lang="ko-KR" altLang="ko-KR" dirty="0"/>
              <a:t> </a:t>
            </a:r>
            <a:r>
              <a:rPr lang="ko-KR" altLang="ko-KR" dirty="0" err="1"/>
              <a:t>detection</a:t>
            </a:r>
            <a:r>
              <a:rPr lang="ko-KR" altLang="ko-KR" dirty="0"/>
              <a:t>. ACM </a:t>
            </a:r>
            <a:r>
              <a:rPr lang="ko-KR" altLang="ko-KR" dirty="0" err="1"/>
              <a:t>Transactions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Knowledge</a:t>
            </a:r>
            <a:r>
              <a:rPr lang="ko-KR" altLang="ko-KR" dirty="0"/>
              <a:t> </a:t>
            </a:r>
            <a:r>
              <a:rPr lang="ko-KR" altLang="ko-KR" dirty="0" err="1"/>
              <a:t>Discovery</a:t>
            </a:r>
            <a:r>
              <a:rPr lang="ko-KR" altLang="ko-KR" dirty="0"/>
              <a:t> </a:t>
            </a:r>
            <a:r>
              <a:rPr lang="ko-KR" altLang="ko-KR" dirty="0" err="1"/>
              <a:t>from</a:t>
            </a:r>
            <a:r>
              <a:rPr lang="ko-KR" altLang="ko-KR" dirty="0"/>
              <a:t> Data, 10(1), </a:t>
            </a:r>
            <a:r>
              <a:rPr lang="ko-KR" altLang="ko-KR" dirty="0" err="1"/>
              <a:t>Article</a:t>
            </a:r>
            <a:r>
              <a:rPr lang="ko-KR" altLang="ko-KR" dirty="0"/>
              <a:t> 5.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EB24DF-6619-8D3E-0E6A-5CAF47133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0024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A8F6-11B8-AC45-A3CC-5ADFFA624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E5C67F-774D-D7BF-D93E-35D329E10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C6E67E-AAEE-1B37-F7CC-2667CF133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C64DBF-202A-7ACD-B5CC-118092A87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054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73B80-8956-80DF-C98B-E7AA55D7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F34514-3B5C-B601-08F3-6E1939B86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EC391E-9DA0-2797-E3B0-666F3324A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1D313-9FD2-F555-8B40-654A8245B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3095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98439-945D-00DE-23ED-8B8DEB396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F5ED5D-1CCD-3D1E-3CD2-9F8270EB9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D5251F-4EFB-F64C-E6FC-91C2315B9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D0DFBF-3B4B-B855-55C2-A11FAD90C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8571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7ED38-2F30-5BCB-7014-0770CB517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96DE83-6420-B720-21C3-EC6CE97D7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FC85C7-2CB2-6A4C-F9D1-E6B94EC5C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D61953-04AD-7708-7A5D-5AB176958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05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B940-67FE-140A-5216-9A838B9A4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490A93-3EEC-DBF6-CB43-150343D32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8655CA-744F-95DF-0A13-B8CCC9697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D0496-EECC-BF14-EEB4-1ECC78979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4036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E4B5-8D3D-49EF-ED6B-4BC15992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4EF1F4-1C4B-FEFE-5376-52B0FAAFA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231248-64E1-6EEF-FF27-871F042D4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A39D5A-F9E4-77DA-CACF-CD5FE490F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5093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F3C6-F8A7-91D0-7CFA-3CABECBC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4822A6-8551-B1CB-0A20-54C2DBD21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061D7E-4876-32AE-E460-6E165FA02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703B3A-A7ED-D08B-0E8D-D797E97B1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258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64A7F-F743-E3BC-EC9B-8DEA2067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48F523-74A8-4B4B-E22E-828ACFD59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0DB19A-26AC-D3FF-E5C2-2B67197CE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77251-FB92-0F63-4B5D-A20358883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3863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4E9B-F799-A38A-0384-70870211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5D61D3-7E63-5977-AC59-DE080BD9A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8631EB-AB39-5651-AC30-F3DEC9558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158E97-E1EE-4A50-DA94-6DA4D1D8D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4573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1E56-7F4F-3F68-FE2C-23204D61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1082FD-948B-F481-BB5B-F434A419A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6156CE-AB9D-4F30-D645-D77F19EF7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387BB5-9600-1CEF-27C7-49E303984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7061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F1E00-F2CF-721B-5BDF-0FBBC07D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926258-B3DC-8168-46FC-70210C80D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6508AA-DD20-0187-57B0-5562BC79E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https://www.yanolja-research.com/insight/view/674?lang=kr</a:t>
            </a:r>
          </a:p>
          <a:p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https://www.sto.or.kr/survey/2026-%ED%95%9C%EA%B5%AD-%EB%B0%8F-%EC%84%9C%EC%9A%B8-%EB%B0%A9%EB%AC%B8-%EC%99%B8%EA%B5%AD%EC%9D%B8-%EA%B4%80%EA%B4%91%EA%B0%9D-%EC%88%98_/16080</a:t>
            </a:r>
          </a:p>
          <a:p>
            <a:endParaRPr lang="en-US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그림 </a:t>
            </a:r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1.&gt; 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한국문화관광연구원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https://know.tour.go.kr/stat/tourStatSearchDis19Re.do</a:t>
            </a:r>
          </a:p>
          <a:p>
            <a:endParaRPr lang="en-US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야놀자리서치는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“관광객 수만 늘려서는 현재의 불균형을 바로잡기 </a:t>
            </a:r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어렵다”며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“외국인이 더 많이 쓰고 더 오래 머무는 방향으로의 전환이 </a:t>
            </a:r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시급하다”고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밝혔다</a:t>
            </a:r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D93411-5C8E-1679-3DE4-18BFEE74D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1114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470A-7689-E6AD-EC47-0C2DA564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F0C18A-0055-554E-9F1B-8899D07CB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6440E5-23E9-D98F-00A8-4DA39DA75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19F606-D0C7-6EF4-C83C-AE602C82E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8899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6215E-5D47-619A-68DB-77BD505DD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46091F-4F8F-BDD0-F629-47B51A9E7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8EE874-FCA2-15C7-3407-448386993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6272D3-0D18-9805-1B71-81EE096E2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7551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CAE6-7FD0-8540-9978-D36B745A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BCA875-E4FD-4418-BB93-518E1F401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5A014F-0BCE-6E80-9BBE-6BF4BBBFA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https://www.yanolja-research.com/insight/view/674?lang=kr</a:t>
            </a:r>
          </a:p>
          <a:p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https://www.sto.or.kr/survey/2026-%ED%95%9C%EA%B5%AD-%EB%B0%8F-%EC%84%9C%EC%9A%B8-%EB%B0%A9%EB%AC%B8-%EC%99%B8%EA%B5%AD%EC%9D%B8-%EA%B4%80%EA%B4%91%EA%B0%9D-%EC%88%98_/16080</a:t>
            </a:r>
          </a:p>
          <a:p>
            <a:endParaRPr lang="en-US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그림 </a:t>
            </a:r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1.&gt; 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한국문화관광연구원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MiSans Light" panose="00000400000000000000" charset="-122"/>
                <a:ea typeface="MiSans Light" panose="00000400000000000000" charset="-122"/>
                <a:cs typeface="+mn-cs"/>
              </a:rPr>
              <a:t> </a:t>
            </a:r>
            <a:r>
              <a:rPr lang="en-US" altLang="zh-CN" b="0" i="0" dirty="0">
                <a:solidFill>
                  <a:srgbClr val="595959"/>
                </a:solidFill>
                <a:effectLst/>
                <a:latin typeface="Helvetica" pitchFamily="2" charset="0"/>
              </a:rPr>
              <a:t>https://know.tour.go.kr/stat/tourStatSearchDis19Re.do</a:t>
            </a:r>
          </a:p>
          <a:p>
            <a:endParaRPr lang="en-US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야놀자리서치는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“관광객 수만 늘려서는 현재의 불균형을 바로잡기 </a:t>
            </a:r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어렵다”며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“외국인이 더 많이 쓰고 더 오래 머무는 방향으로의 전환이 </a:t>
            </a:r>
            <a:r>
              <a:rPr lang="ko-KR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시급하다”고</a:t>
            </a:r>
            <a:r>
              <a: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밝혔다</a:t>
            </a:r>
            <a:r>
              <a:rPr lang="en-US" altLang="ko-K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" altLang="zh-CN" b="0" i="0" dirty="0">
              <a:solidFill>
                <a:srgbClr val="595959"/>
              </a:solidFill>
              <a:effectLst/>
              <a:latin typeface="Helvetica" pitchFamily="2" charset="0"/>
            </a:endParaRPr>
          </a:p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7E16D4-AC17-29FF-B1C3-E64459EA2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8806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2F863-F2FD-26E4-8BA9-1753C150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DDB568-533E-607F-A002-C5C8F00DE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436DF1-FD9F-B460-DA16-97CEE6798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9BDBE-4942-01B8-FF68-6CE70354D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346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CC675-AFFB-1729-B2C9-ED68FDC2E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2BD38A-CD09-7779-A41C-F94A135F6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ADF50C-8509-0F9D-AE56-579220C1F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90D26-0384-60C0-B8AE-9841E3675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2147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B6C2-13E5-8AB0-8AA0-756322C0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04E0E5-633B-648F-5F81-BCE633119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17463D-7DDA-117B-8685-696F05317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149AB-7BD6-6F8A-A195-3C53D5030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9358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F4C8-E4C4-53C9-3B0A-77028EB5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D6CDEB-F646-B986-5BF5-46A42EE92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14B959-A6E8-3E3F-6A69-8322C652A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FE2D04-48B9-0DAB-6E5A-05C6A543A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67212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9AB78-1812-5C5E-CF44-BC5E8D117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2818A0-7FB9-74D3-ED8D-DA2CB92B8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0D81AF-9413-492E-B5A7-423DD9C88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5D2530-DD4A-7306-258E-4D0FE8B75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7240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EA6DF-9205-0A30-4F93-5F2B6A0E3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A99E77-B19A-A004-E3D9-CEC86DE4C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130F63-E18C-3ECE-0614-14DE4F8FD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E470F4-D70B-836C-8FB0-93E74D4CA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1312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BCEC-753E-FF8E-CDE7-B5E66B9B8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BBE077-2678-C118-BE07-7F150D481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F66611-1EAC-8616-4613-EC1D62AC3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78A9F-09CD-7A2F-3847-95C997FCB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9011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067F-BD31-2AEA-34B8-086DB395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673D03-D45E-A31A-BAE3-DB36A7AC5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171BFB-5CC3-12E3-6D07-ACA7938FC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3A90C1-757D-12DB-D434-A022AE5F7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4645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E4E77-CD33-725D-D9D4-8051C07F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5F28D7-08E9-DC0E-58A8-54A2EE948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673FDF-975A-35A4-FE08-7143819B5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57CF60-4141-D703-8247-C2C434DAD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1950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BDC0-67D2-3C6C-52AD-3C5EADAD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EFDBE9-F159-7165-ACF8-25B884B16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6BB99B-E6F6-4660-CDAC-D6423D478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288E9F-F295-3E65-0C03-1AEC4538F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7813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AD73-BE83-E68A-E2A7-D91173E17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AA022B-E121-530F-FDE8-20FE731CC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1BA250-1284-01EF-2E75-C17482E3C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293C2D-88DC-1E9C-31EC-D82EDA721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2871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960F2-CA2B-C184-EDB2-8240DDEE6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90C524-CFF8-DD1B-CACC-72EF38E80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559AA6-63B4-DDDA-4E43-2715D9991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9A932-94EF-243E-E671-EEF45D26A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6915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BA65-5B5B-95DC-2683-B4DC758A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8C155D-A65F-4B49-1FA6-A4666DB9B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31C9AC-6407-9BFD-095A-423CED96D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47E1A7-93A2-3936-D36C-2445D5146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4828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0B831-34ED-3DEA-F0AD-24C00F18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779ADE-DEDB-84F8-AE6D-11A500DAB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63239A-5945-46D5-B19F-A7074E3F9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195636-11CB-1103-146B-4BF6C6CB1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49960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DB7A0-8BC3-76B7-72E6-30DE3C263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D6BDA-37C7-6A4C-C766-3154D276A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FA8781-1412-7FD1-ED8D-FD8B3C752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2A61F5-940F-6058-1AD0-C296FE85E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3867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484E-0C70-80D2-DAD1-FD5314F1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B6510D-1EAC-B876-5372-E014B5879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F16BF5-C1FE-18BE-9E77-D9D6B753A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DB2A6F-A484-AAC2-E736-0789D7D72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8522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E25E3-8CC0-0AD0-524D-837C2DE40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75ECB1-D387-270B-F11A-92DC89DC7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140621-70C1-7C10-27D1-880CA29D8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1AFC8-2C66-160C-A216-5926D8419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97619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EF0D2-FDF4-927F-4108-AA5B947A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C5361D-9945-08D1-02BC-FC4436397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E3A186-EF8C-D170-E327-25C8458F9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7D02A-FA53-57D8-91D6-ADD162F7A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137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2"/>
          <p:cNvSpPr>
            <a:spLocks noGrp="1"/>
          </p:cNvSpPr>
          <p:nvPr>
            <p:ph type="pic" sz="quarter" idx="21"/>
          </p:nvPr>
        </p:nvSpPr>
        <p:spPr>
          <a:xfrm>
            <a:off x="355600" y="2193111"/>
            <a:ext cx="2429164" cy="1086952"/>
          </a:xfrm>
          <a:prstGeom prst="snip2DiagRect">
            <a:avLst/>
          </a:prstGeom>
          <a:ln>
            <a:solidFill>
              <a:srgbClr val="44D5FA"/>
            </a:solidFill>
          </a:ln>
          <a:effectLst>
            <a:outerShdw blurRad="127000" dist="127000" dir="5400000" algn="t" rotWithShape="0">
              <a:schemeClr val="accent2">
                <a:lumMod val="50000"/>
                <a:alpha val="10000"/>
              </a:schemeClr>
            </a:outerShdw>
          </a:effectLst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9" name="图片占位符 2"/>
          <p:cNvSpPr>
            <a:spLocks noGrp="1"/>
          </p:cNvSpPr>
          <p:nvPr>
            <p:ph type="pic" sz="quarter" idx="22"/>
          </p:nvPr>
        </p:nvSpPr>
        <p:spPr>
          <a:xfrm>
            <a:off x="3351068" y="2193111"/>
            <a:ext cx="2429164" cy="1086952"/>
          </a:xfrm>
          <a:prstGeom prst="snip2DiagRect">
            <a:avLst/>
          </a:prstGeom>
          <a:ln>
            <a:solidFill>
              <a:srgbClr val="44D5FA"/>
            </a:solidFill>
          </a:ln>
          <a:effectLst>
            <a:outerShdw blurRad="127000" dist="127000" dir="5400000" algn="t" rotWithShape="0">
              <a:schemeClr val="accent2">
                <a:lumMod val="50000"/>
                <a:alpha val="10000"/>
              </a:schemeClr>
            </a:outerShdw>
          </a:effectLst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10" name="图片占位符 2"/>
          <p:cNvSpPr>
            <a:spLocks noGrp="1"/>
          </p:cNvSpPr>
          <p:nvPr>
            <p:ph type="pic" sz="quarter" idx="23"/>
          </p:nvPr>
        </p:nvSpPr>
        <p:spPr>
          <a:xfrm>
            <a:off x="6346536" y="2193111"/>
            <a:ext cx="2429164" cy="1086952"/>
          </a:xfrm>
          <a:prstGeom prst="snip2DiagRect">
            <a:avLst/>
          </a:prstGeom>
          <a:ln>
            <a:solidFill>
              <a:srgbClr val="44D5FA"/>
            </a:solidFill>
          </a:ln>
          <a:effectLst>
            <a:outerShdw blurRad="127000" dist="127000" dir="5400000" algn="t" rotWithShape="0">
              <a:schemeClr val="accent2">
                <a:lumMod val="50000"/>
                <a:alpha val="10000"/>
              </a:schemeClr>
            </a:outerShdw>
          </a:effectLst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2"/>
          <p:cNvSpPr>
            <a:spLocks noGrp="1"/>
          </p:cNvSpPr>
          <p:nvPr>
            <p:ph type="pic" sz="quarter" idx="23"/>
          </p:nvPr>
        </p:nvSpPr>
        <p:spPr>
          <a:xfrm>
            <a:off x="5472547" y="1154019"/>
            <a:ext cx="3095337" cy="1514713"/>
          </a:xfrm>
          <a:prstGeom prst="snip2DiagRect">
            <a:avLst/>
          </a:prstGeom>
          <a:ln>
            <a:solidFill>
              <a:srgbClr val="44D5FA"/>
            </a:solidFill>
          </a:ln>
          <a:effectLst>
            <a:outerShdw blurRad="127000" dist="127000" dir="5400000" algn="t" rotWithShape="0">
              <a:schemeClr val="accent2">
                <a:lumMod val="50000"/>
                <a:alpha val="10000"/>
              </a:schemeClr>
            </a:outerShdw>
          </a:effectLst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2" name="图片占位符 2"/>
          <p:cNvSpPr>
            <a:spLocks noGrp="1"/>
          </p:cNvSpPr>
          <p:nvPr>
            <p:ph type="pic" sz="quarter" idx="24"/>
          </p:nvPr>
        </p:nvSpPr>
        <p:spPr>
          <a:xfrm>
            <a:off x="5472547" y="2934328"/>
            <a:ext cx="3095337" cy="1514713"/>
          </a:xfrm>
          <a:prstGeom prst="snip2DiagRect">
            <a:avLst/>
          </a:prstGeom>
          <a:ln>
            <a:solidFill>
              <a:srgbClr val="44D5FA"/>
            </a:solidFill>
          </a:ln>
          <a:effectLst>
            <a:outerShdw blurRad="127000" dist="127000" dir="5400000" algn="t" rotWithShape="0">
              <a:schemeClr val="accent2">
                <a:lumMod val="50000"/>
                <a:alpha val="10000"/>
              </a:schemeClr>
            </a:outerShdw>
          </a:effectLst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CE31C-667C-455E-B312-3B73BAEC6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MiSans Light" panose="00000400000000000000" charset="-122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ouristrecsys-sfi47ztbuvhvpopq5gin9k.streamlit.app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touristrecsys-sfi47ztbuvhvpopq5gin9k.streamlit.app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夜晚亮着灯的舞台&#10;&#10;中度可信度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3" r="27152"/>
          <a:stretch>
            <a:fillRect/>
          </a:stretch>
        </p:blipFill>
        <p:spPr>
          <a:xfrm>
            <a:off x="5847127" y="1259807"/>
            <a:ext cx="2996692" cy="2642056"/>
          </a:xfrm>
          <a:prstGeom prst="rect">
            <a:avLst/>
          </a:prstGeom>
        </p:spPr>
      </p:pic>
      <p:sp>
        <p:nvSpPr>
          <p:cNvPr id="8" name="任意多边形: 形状 7"/>
          <p:cNvSpPr/>
          <p:nvPr/>
        </p:nvSpPr>
        <p:spPr>
          <a:xfrm>
            <a:off x="3886563" y="708403"/>
            <a:ext cx="5173803" cy="3281748"/>
          </a:xfrm>
          <a:custGeom>
            <a:avLst/>
            <a:gdLst>
              <a:gd name="connsiteX0" fmla="*/ 6436154 w 9144000"/>
              <a:gd name="connsiteY0" fmla="*/ 1628732 h 5143500"/>
              <a:gd name="connsiteX1" fmla="*/ 6846435 w 9144000"/>
              <a:gd name="connsiteY1" fmla="*/ 2649167 h 5143500"/>
              <a:gd name="connsiteX2" fmla="*/ 6025873 w 9144000"/>
              <a:gd name="connsiteY2" fmla="*/ 2649167 h 5143500"/>
              <a:gd name="connsiteX3" fmla="*/ 8089090 w 9144000"/>
              <a:gd name="connsiteY3" fmla="*/ 978945 h 5143500"/>
              <a:gd name="connsiteX4" fmla="*/ 8089090 w 9144000"/>
              <a:gd name="connsiteY4" fmla="*/ 4414295 h 5143500"/>
              <a:gd name="connsiteX5" fmla="*/ 8611603 w 9144000"/>
              <a:gd name="connsiteY5" fmla="*/ 4414295 h 5143500"/>
              <a:gd name="connsiteX6" fmla="*/ 8611603 w 9144000"/>
              <a:gd name="connsiteY6" fmla="*/ 978945 h 5143500"/>
              <a:gd name="connsiteX7" fmla="*/ 6171811 w 9144000"/>
              <a:gd name="connsiteY7" fmla="*/ 978945 h 5143500"/>
              <a:gd name="connsiteX8" fmla="*/ 4790579 w 9144000"/>
              <a:gd name="connsiteY8" fmla="*/ 4414295 h 5143500"/>
              <a:gd name="connsiteX9" fmla="*/ 5316178 w 9144000"/>
              <a:gd name="connsiteY9" fmla="*/ 4414295 h 5143500"/>
              <a:gd name="connsiteX10" fmla="*/ 5815789 w 9144000"/>
              <a:gd name="connsiteY10" fmla="*/ 3171680 h 5143500"/>
              <a:gd name="connsiteX11" fmla="*/ 7056519 w 9144000"/>
              <a:gd name="connsiteY11" fmla="*/ 3171680 h 5143500"/>
              <a:gd name="connsiteX12" fmla="*/ 7556131 w 9144000"/>
              <a:gd name="connsiteY12" fmla="*/ 4414295 h 5143500"/>
              <a:gd name="connsiteX13" fmla="*/ 8081730 w 9144000"/>
              <a:gd name="connsiteY13" fmla="*/ 4414295 h 5143500"/>
              <a:gd name="connsiteX14" fmla="*/ 6700497 w 9144000"/>
              <a:gd name="connsiteY14" fmla="*/ 978945 h 5143500"/>
              <a:gd name="connsiteX15" fmla="*/ 6697411 w 9144000"/>
              <a:gd name="connsiteY15" fmla="*/ 978945 h 5143500"/>
              <a:gd name="connsiteX16" fmla="*/ 0 w 9144000"/>
              <a:gd name="connsiteY16" fmla="*/ 0 h 5143500"/>
              <a:gd name="connsiteX17" fmla="*/ 9144000 w 9144000"/>
              <a:gd name="connsiteY17" fmla="*/ 0 h 5143500"/>
              <a:gd name="connsiteX18" fmla="*/ 9144000 w 9144000"/>
              <a:gd name="connsiteY18" fmla="*/ 5143500 h 5143500"/>
              <a:gd name="connsiteX19" fmla="*/ 0 w 9144000"/>
              <a:gd name="connsiteY19" fmla="*/ 514349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6436154" y="1628732"/>
                </a:moveTo>
                <a:lnTo>
                  <a:pt x="6846435" y="2649167"/>
                </a:lnTo>
                <a:lnTo>
                  <a:pt x="6025873" y="2649167"/>
                </a:lnTo>
                <a:close/>
                <a:moveTo>
                  <a:pt x="8089090" y="978945"/>
                </a:moveTo>
                <a:lnTo>
                  <a:pt x="8089090" y="4414295"/>
                </a:lnTo>
                <a:lnTo>
                  <a:pt x="8611603" y="4414295"/>
                </a:lnTo>
                <a:lnTo>
                  <a:pt x="8611603" y="978945"/>
                </a:lnTo>
                <a:close/>
                <a:moveTo>
                  <a:pt x="6171811" y="978945"/>
                </a:moveTo>
                <a:lnTo>
                  <a:pt x="4790579" y="4414295"/>
                </a:lnTo>
                <a:lnTo>
                  <a:pt x="5316178" y="4414295"/>
                </a:lnTo>
                <a:lnTo>
                  <a:pt x="5815789" y="3171680"/>
                </a:lnTo>
                <a:lnTo>
                  <a:pt x="7056519" y="3171680"/>
                </a:lnTo>
                <a:lnTo>
                  <a:pt x="7556131" y="4414295"/>
                </a:lnTo>
                <a:lnTo>
                  <a:pt x="8081730" y="4414295"/>
                </a:lnTo>
                <a:lnTo>
                  <a:pt x="6700497" y="978945"/>
                </a:lnTo>
                <a:lnTo>
                  <a:pt x="6697411" y="978945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499"/>
                </a:lnTo>
                <a:close/>
              </a:path>
            </a:pathLst>
          </a:custGeom>
          <a:solidFill>
            <a:srgbClr val="101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300181" y="1348176"/>
            <a:ext cx="7418054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ko-KR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TripAdvisor </a:t>
            </a:r>
            <a:r>
              <a:rPr lang="ko-KR" altLang="en-US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리뷰와 공공데이터 융합 기반 </a:t>
            </a:r>
            <a:endParaRPr lang="en-US" altLang="ko-KR" sz="28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MiSans Light" panose="00000400000000000000" charset="-122"/>
            </a:endParaRPr>
          </a:p>
          <a:p>
            <a:pPr defTabSz="914400"/>
            <a:r>
              <a:rPr lang="ko-KR" altLang="en-US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한국 관광지 혼잡도 진단 및 맞춤형 여행지 </a:t>
            </a:r>
            <a:endParaRPr lang="en-US" altLang="ko-KR" sz="28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MiSans Light" panose="00000400000000000000" charset="-122"/>
            </a:endParaRPr>
          </a:p>
          <a:p>
            <a:pPr defTabSz="914400"/>
            <a:r>
              <a:rPr lang="ko-KR" altLang="en-US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추천 플랫폼</a:t>
            </a:r>
            <a:endParaRPr lang="en-US" altLang="ko-KR" sz="28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MiSans Light" panose="00000400000000000000" charset="-122"/>
            </a:endParaRPr>
          </a:p>
          <a:p>
            <a:pPr defTabSz="914400"/>
            <a:endParaRPr lang="en-US" altLang="zh-CN" sz="2800" b="1" i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MiSans Light" panose="00000400000000000000" charset="-122"/>
            </a:endParaRPr>
          </a:p>
          <a:p>
            <a:pPr algn="ctr" defTabSz="914400"/>
            <a:r>
              <a:rPr lang="en-US" altLang="ko-KR" i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-  </a:t>
            </a:r>
            <a:r>
              <a:rPr lang="ko-KR" altLang="en-US" i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데이터 분석 분야</a:t>
            </a:r>
            <a:r>
              <a:rPr lang="en-US" altLang="ko-KR" i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-</a:t>
            </a:r>
            <a:endParaRPr lang="en-US" altLang="zh-CN" i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MiSans Light" panose="00000400000000000000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220229" y="991998"/>
            <a:ext cx="8712777" cy="2998153"/>
            <a:chOff x="224227" y="992218"/>
            <a:chExt cx="8461407" cy="3086449"/>
          </a:xfrm>
        </p:grpSpPr>
        <p:cxnSp>
          <p:nvCxnSpPr>
            <p:cNvPr id="74" name="直接连接符 73"/>
            <p:cNvCxnSpPr>
              <a:cxnSpLocks/>
            </p:cNvCxnSpPr>
            <p:nvPr/>
          </p:nvCxnSpPr>
          <p:spPr>
            <a:xfrm flipH="1">
              <a:off x="224227" y="4078667"/>
              <a:ext cx="846140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>
              <a:cxnSpLocks/>
            </p:cNvCxnSpPr>
            <p:nvPr/>
          </p:nvCxnSpPr>
          <p:spPr>
            <a:xfrm flipH="1" flipV="1">
              <a:off x="233242" y="992218"/>
              <a:ext cx="8452392" cy="4069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/>
          <p:cNvCxnSpPr/>
          <p:nvPr/>
        </p:nvCxnSpPr>
        <p:spPr>
          <a:xfrm>
            <a:off x="220229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933007" y="9085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7" name="文本框 10">
            <a:extLst>
              <a:ext uri="{FF2B5EF4-FFF2-40B4-BE49-F238E27FC236}">
                <a16:creationId xmlns:a16="http://schemas.microsoft.com/office/drawing/2014/main" id="{571F3EC8-A43C-77F2-9028-E5FBEDFC1B89}"/>
              </a:ext>
            </a:extLst>
          </p:cNvPr>
          <p:cNvSpPr txBox="1"/>
          <p:nvPr/>
        </p:nvSpPr>
        <p:spPr>
          <a:xfrm>
            <a:off x="239334" y="664233"/>
            <a:ext cx="54297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kern="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제 </a:t>
            </a:r>
            <a:r>
              <a:rPr lang="en-US" altLang="ko-KR" sz="1600" b="1" kern="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4</a:t>
            </a:r>
            <a:r>
              <a:rPr lang="ko-KR" altLang="en-US" sz="1600" b="1" kern="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회 문화체육관광 인공지능데이터 활용 공모전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CD11B26F-1FE1-591C-3312-EEEAC44809BF}"/>
              </a:ext>
            </a:extLst>
          </p:cNvPr>
          <p:cNvSpPr txBox="1"/>
          <p:nvPr/>
        </p:nvSpPr>
        <p:spPr>
          <a:xfrm>
            <a:off x="7644056" y="4773148"/>
            <a:ext cx="2037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July 22,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2026</a:t>
            </a:r>
            <a:endParaRPr lang="ko-KR" altLang="en-US" sz="14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pic>
        <p:nvPicPr>
          <p:cNvPr id="21" name="그림 20" descr="텍스트, 엠블럼, 로고, 상징이(가) 표시된 사진&#10;&#10;자동 생성된 설명">
            <a:extLst>
              <a:ext uri="{FF2B5EF4-FFF2-40B4-BE49-F238E27FC236}">
                <a16:creationId xmlns:a16="http://schemas.microsoft.com/office/drawing/2014/main" id="{B989AF6F-16C3-F52D-57D6-7B58F07B99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949" y="129930"/>
            <a:ext cx="1713988" cy="417522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D049D0D6-BE05-C3A6-1B3E-8FDC48D7E4F4}"/>
              </a:ext>
            </a:extLst>
          </p:cNvPr>
          <p:cNvGrpSpPr/>
          <p:nvPr/>
        </p:nvGrpSpPr>
        <p:grpSpPr>
          <a:xfrm>
            <a:off x="322080" y="55162"/>
            <a:ext cx="3511990" cy="514521"/>
            <a:chOff x="2119383" y="171129"/>
            <a:chExt cx="3511990" cy="51452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C3C4BFF-E602-36A4-168B-B5E1D028B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82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89107" y="201541"/>
              <a:ext cx="3442266" cy="44338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B8865EE-24FB-8761-B10E-53E611ECD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rcRect r="88264"/>
            <a:stretch>
              <a:fillRect/>
            </a:stretch>
          </p:blipFill>
          <p:spPr>
            <a:xfrm>
              <a:off x="2119383" y="171129"/>
              <a:ext cx="459013" cy="514521"/>
            </a:xfrm>
            <a:prstGeom prst="rect">
              <a:avLst/>
            </a:prstGeom>
          </p:spPr>
        </p:pic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717989A2-99B1-0AAB-A73F-06645326EB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7658" y="26326"/>
            <a:ext cx="606722" cy="606722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2EEA3320-53BD-7E1D-1134-1E16182B5CDC}"/>
              </a:ext>
            </a:extLst>
          </p:cNvPr>
          <p:cNvSpPr/>
          <p:nvPr/>
        </p:nvSpPr>
        <p:spPr>
          <a:xfrm>
            <a:off x="365760" y="418665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SMART </a:t>
            </a:r>
            <a:r>
              <a:rPr lang="ko-KR" altLang="en-US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팀</a:t>
            </a:r>
            <a:endParaRPr lang="en-US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/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7" name="椭圆 16"/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/>
        </p:nvGrpSpPr>
        <p:grpSpPr>
          <a:xfrm>
            <a:off x="358775" y="705173"/>
            <a:ext cx="8426450" cy="3983064"/>
            <a:chOff x="358775" y="984537"/>
            <a:chExt cx="8183341" cy="3413843"/>
          </a:xfrm>
        </p:grpSpPr>
        <p:cxnSp>
          <p:nvCxnSpPr>
            <p:cNvPr id="74" name="直接连接符 73"/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/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29281" y="1086780"/>
            <a:ext cx="322305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dist"/>
            <a:r>
              <a:rPr lang="en-US" altLang="zh-CN" sz="2800" b="1" spc="0" dirty="0">
                <a:solidFill>
                  <a:schemeClr val="bg1"/>
                </a:solidFill>
                <a:effectLst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Table of Contents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4767" y="1929262"/>
            <a:ext cx="19507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r"/>
            <a:r>
              <a:rPr lang="en-US" altLang="zh-CN" sz="2000">
                <a:solidFill>
                  <a:srgbClr val="394B95"/>
                </a:solidFill>
              </a:rPr>
              <a:t>01.</a:t>
            </a:r>
            <a:endParaRPr lang="zh-CN" altLang="en-US" sz="2000">
              <a:solidFill>
                <a:srgbClr val="394B95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3339" y="2873607"/>
            <a:ext cx="11666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ko-KR" altLang="en-US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서론</a:t>
            </a:r>
            <a:endParaRPr lang="en-US" altLang="zh-CN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37649" y="2225817"/>
            <a:ext cx="1950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zh-CN" sz="1800">
                <a:solidFill>
                  <a:srgbClr val="44D5FA"/>
                </a:solidFill>
              </a:rPr>
              <a:t>PART ONE</a:t>
            </a:r>
            <a:endParaRPr lang="zh-CN" altLang="en-US" sz="1800">
              <a:solidFill>
                <a:srgbClr val="44D5FA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504820" y="2225817"/>
            <a:ext cx="1950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zh-CN" sz="1800">
                <a:solidFill>
                  <a:srgbClr val="44D5FA"/>
                </a:solidFill>
              </a:rPr>
              <a:t>PART TWO</a:t>
            </a:r>
            <a:endParaRPr lang="zh-CN" altLang="en-US" sz="1800">
              <a:solidFill>
                <a:srgbClr val="44D5FA"/>
              </a:solidFill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627667" y="2225817"/>
            <a:ext cx="1950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zh-CN" sz="1800" dirty="0">
                <a:solidFill>
                  <a:srgbClr val="44D5FA"/>
                </a:solidFill>
              </a:rPr>
              <a:t>PART THREE</a:t>
            </a:r>
            <a:endParaRPr lang="zh-CN" altLang="en-US" sz="1800" dirty="0">
              <a:solidFill>
                <a:srgbClr val="44D5FA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810160" y="2225817"/>
            <a:ext cx="1950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zh-CN" sz="1800" dirty="0">
                <a:solidFill>
                  <a:srgbClr val="44D5FA"/>
                </a:solidFill>
              </a:rPr>
              <a:t>PART FOUR</a:t>
            </a:r>
            <a:endParaRPr lang="zh-CN" altLang="en-US" sz="1800" dirty="0">
              <a:solidFill>
                <a:srgbClr val="44D5FA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8774" y="1928491"/>
            <a:ext cx="2028167" cy="1848379"/>
          </a:xfrm>
          <a:prstGeom prst="rect">
            <a:avLst/>
          </a:prstGeom>
          <a:noFill/>
          <a:ln w="9525">
            <a:solidFill>
              <a:srgbClr val="394B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2556372" y="1929262"/>
            <a:ext cx="19507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r"/>
            <a:r>
              <a:rPr lang="en-US" altLang="zh-CN" sz="2000">
                <a:solidFill>
                  <a:srgbClr val="394B95"/>
                </a:solidFill>
              </a:rPr>
              <a:t>02.</a:t>
            </a:r>
            <a:endParaRPr lang="zh-CN" altLang="en-US" sz="2000">
              <a:solidFill>
                <a:srgbClr val="394B95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580307" y="2871407"/>
            <a:ext cx="1436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ko-KR" altLang="en-US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lang="en-US" altLang="zh-CN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490379" y="1928491"/>
            <a:ext cx="2028167" cy="1848379"/>
          </a:xfrm>
          <a:prstGeom prst="rect">
            <a:avLst/>
          </a:prstGeom>
          <a:noFill/>
          <a:ln w="9525">
            <a:solidFill>
              <a:srgbClr val="394B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4687977" y="1929262"/>
            <a:ext cx="19507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r"/>
            <a:r>
              <a:rPr lang="en-US" altLang="zh-CN" sz="2000">
                <a:solidFill>
                  <a:srgbClr val="394B95"/>
                </a:solidFill>
              </a:rPr>
              <a:t>03.</a:t>
            </a:r>
            <a:endParaRPr lang="zh-CN" altLang="en-US" sz="2000">
              <a:solidFill>
                <a:srgbClr val="394B95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722067" y="2859048"/>
            <a:ext cx="1404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ko-KR" altLang="en-US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 방법론</a:t>
            </a:r>
            <a:endParaRPr lang="en-US" altLang="zh-CN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621984" y="1920240"/>
            <a:ext cx="2028167" cy="1848379"/>
          </a:xfrm>
          <a:prstGeom prst="rect">
            <a:avLst/>
          </a:prstGeom>
          <a:noFill/>
          <a:ln w="9525">
            <a:solidFill>
              <a:srgbClr val="394B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6819583" y="1929262"/>
            <a:ext cx="19507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r"/>
            <a:r>
              <a:rPr lang="en-US" altLang="zh-CN" sz="2000">
                <a:solidFill>
                  <a:srgbClr val="394B95"/>
                </a:solidFill>
              </a:rPr>
              <a:t>04.</a:t>
            </a:r>
            <a:endParaRPr lang="zh-CN" altLang="en-US" sz="2000">
              <a:solidFill>
                <a:srgbClr val="394B95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811058" y="2852911"/>
            <a:ext cx="18726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ko-KR" altLang="en-US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분석결과</a:t>
            </a:r>
            <a:r>
              <a:rPr lang="en-US" altLang="ko-KR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</a:p>
          <a:p>
            <a:pPr defTabSz="914400"/>
            <a:r>
              <a:rPr lang="en-US" altLang="ko-KR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&amp;</a:t>
            </a:r>
            <a:r>
              <a:rPr lang="ko-KR" altLang="en-US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시사점</a:t>
            </a:r>
            <a:endParaRPr lang="en-US" altLang="zh-CN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753590" y="1920240"/>
            <a:ext cx="2028167" cy="1848379"/>
          </a:xfrm>
          <a:prstGeom prst="rect">
            <a:avLst/>
          </a:prstGeom>
          <a:noFill/>
          <a:ln w="9525">
            <a:solidFill>
              <a:srgbClr val="394B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173FDE-21E7-E52D-F83E-8D53D304A82D}"/>
              </a:ext>
            </a:extLst>
          </p:cNvPr>
          <p:cNvSpPr txBox="1"/>
          <p:nvPr/>
        </p:nvSpPr>
        <p:spPr>
          <a:xfrm>
            <a:off x="8827189" y="4711020"/>
            <a:ext cx="2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夜晚亮着灯的舞台&#10;&#10;中度可信度描述已自动生成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3" r="27152"/>
          <a:stretch>
            <a:fillRect/>
          </a:stretch>
        </p:blipFill>
        <p:spPr>
          <a:xfrm>
            <a:off x="4746170" y="0"/>
            <a:ext cx="4397829" cy="5124659"/>
          </a:xfrm>
          <a:prstGeom prst="rect">
            <a:avLst/>
          </a:prstGeom>
        </p:spPr>
      </p:pic>
      <p:sp>
        <p:nvSpPr>
          <p:cNvPr id="8" name="任意多边形: 形状 7"/>
          <p:cNvSpPr/>
          <p:nvPr/>
        </p:nvSpPr>
        <p:spPr>
          <a:xfrm>
            <a:off x="32475" y="18841"/>
            <a:ext cx="9144000" cy="5143500"/>
          </a:xfrm>
          <a:custGeom>
            <a:avLst/>
            <a:gdLst>
              <a:gd name="connsiteX0" fmla="*/ 6436154 w 9144000"/>
              <a:gd name="connsiteY0" fmla="*/ 1628732 h 5143500"/>
              <a:gd name="connsiteX1" fmla="*/ 6846435 w 9144000"/>
              <a:gd name="connsiteY1" fmla="*/ 2649167 h 5143500"/>
              <a:gd name="connsiteX2" fmla="*/ 6025873 w 9144000"/>
              <a:gd name="connsiteY2" fmla="*/ 2649167 h 5143500"/>
              <a:gd name="connsiteX3" fmla="*/ 8089090 w 9144000"/>
              <a:gd name="connsiteY3" fmla="*/ 978945 h 5143500"/>
              <a:gd name="connsiteX4" fmla="*/ 8089090 w 9144000"/>
              <a:gd name="connsiteY4" fmla="*/ 4414295 h 5143500"/>
              <a:gd name="connsiteX5" fmla="*/ 8611603 w 9144000"/>
              <a:gd name="connsiteY5" fmla="*/ 4414295 h 5143500"/>
              <a:gd name="connsiteX6" fmla="*/ 8611603 w 9144000"/>
              <a:gd name="connsiteY6" fmla="*/ 978945 h 5143500"/>
              <a:gd name="connsiteX7" fmla="*/ 6171811 w 9144000"/>
              <a:gd name="connsiteY7" fmla="*/ 978945 h 5143500"/>
              <a:gd name="connsiteX8" fmla="*/ 4790579 w 9144000"/>
              <a:gd name="connsiteY8" fmla="*/ 4414295 h 5143500"/>
              <a:gd name="connsiteX9" fmla="*/ 5316178 w 9144000"/>
              <a:gd name="connsiteY9" fmla="*/ 4414295 h 5143500"/>
              <a:gd name="connsiteX10" fmla="*/ 5815789 w 9144000"/>
              <a:gd name="connsiteY10" fmla="*/ 3171680 h 5143500"/>
              <a:gd name="connsiteX11" fmla="*/ 7056519 w 9144000"/>
              <a:gd name="connsiteY11" fmla="*/ 3171680 h 5143500"/>
              <a:gd name="connsiteX12" fmla="*/ 7556131 w 9144000"/>
              <a:gd name="connsiteY12" fmla="*/ 4414295 h 5143500"/>
              <a:gd name="connsiteX13" fmla="*/ 8081730 w 9144000"/>
              <a:gd name="connsiteY13" fmla="*/ 4414295 h 5143500"/>
              <a:gd name="connsiteX14" fmla="*/ 6700497 w 9144000"/>
              <a:gd name="connsiteY14" fmla="*/ 978945 h 5143500"/>
              <a:gd name="connsiteX15" fmla="*/ 6697411 w 9144000"/>
              <a:gd name="connsiteY15" fmla="*/ 978945 h 5143500"/>
              <a:gd name="connsiteX16" fmla="*/ 0 w 9144000"/>
              <a:gd name="connsiteY16" fmla="*/ 0 h 5143500"/>
              <a:gd name="connsiteX17" fmla="*/ 9144000 w 9144000"/>
              <a:gd name="connsiteY17" fmla="*/ 0 h 5143500"/>
              <a:gd name="connsiteX18" fmla="*/ 9144000 w 9144000"/>
              <a:gd name="connsiteY18" fmla="*/ 5143500 h 5143500"/>
              <a:gd name="connsiteX19" fmla="*/ 0 w 9144000"/>
              <a:gd name="connsiteY19" fmla="*/ 514349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6436154" y="1628732"/>
                </a:moveTo>
                <a:lnTo>
                  <a:pt x="6846435" y="2649167"/>
                </a:lnTo>
                <a:lnTo>
                  <a:pt x="6025873" y="2649167"/>
                </a:lnTo>
                <a:close/>
                <a:moveTo>
                  <a:pt x="8089090" y="978945"/>
                </a:moveTo>
                <a:lnTo>
                  <a:pt x="8089090" y="4414295"/>
                </a:lnTo>
                <a:lnTo>
                  <a:pt x="8611603" y="4414295"/>
                </a:lnTo>
                <a:lnTo>
                  <a:pt x="8611603" y="978945"/>
                </a:lnTo>
                <a:close/>
                <a:moveTo>
                  <a:pt x="6171811" y="978945"/>
                </a:moveTo>
                <a:lnTo>
                  <a:pt x="4790579" y="4414295"/>
                </a:lnTo>
                <a:lnTo>
                  <a:pt x="5316178" y="4414295"/>
                </a:lnTo>
                <a:lnTo>
                  <a:pt x="5815789" y="3171680"/>
                </a:lnTo>
                <a:lnTo>
                  <a:pt x="7056519" y="3171680"/>
                </a:lnTo>
                <a:lnTo>
                  <a:pt x="7556131" y="4414295"/>
                </a:lnTo>
                <a:lnTo>
                  <a:pt x="8081730" y="4414295"/>
                </a:lnTo>
                <a:lnTo>
                  <a:pt x="6700497" y="978945"/>
                </a:lnTo>
                <a:lnTo>
                  <a:pt x="6697411" y="978945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499"/>
                </a:lnTo>
                <a:close/>
              </a:path>
            </a:pathLst>
          </a:custGeom>
          <a:solidFill>
            <a:srgbClr val="101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7" name="椭圆 16"/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/>
        </p:nvGrpSpPr>
        <p:grpSpPr>
          <a:xfrm>
            <a:off x="358775" y="984537"/>
            <a:ext cx="8426450" cy="3413843"/>
            <a:chOff x="358775" y="984537"/>
            <a:chExt cx="8183341" cy="3413843"/>
          </a:xfrm>
        </p:grpSpPr>
        <p:cxnSp>
          <p:nvCxnSpPr>
            <p:cNvPr id="74" name="直接连接符 73"/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/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 bwMode="auto">
          <a:xfrm>
            <a:off x="373683" y="1741084"/>
            <a:ext cx="4397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ko-KR" altLang="en-US" sz="3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서론</a:t>
            </a:r>
            <a:endParaRPr lang="en-US" altLang="zh-CN" sz="32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4985" y="2393482"/>
            <a:ext cx="3672609" cy="613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Research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Background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Research </a:t>
            </a:r>
            <a:r>
              <a:rPr lang="en-US" altLang="zh-CN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Objectives</a:t>
            </a:r>
            <a:endParaRPr lang="zh-CN" altLang="en-US" sz="3200" b="1" dirty="0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1041" y="733951"/>
            <a:ext cx="1444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dirty="0">
                <a:ln w="3175">
                  <a:noFill/>
                </a:ln>
                <a:solidFill>
                  <a:srgbClr val="394B95"/>
                </a:solidFill>
                <a:latin typeface="Montserrat Black" panose="00000A00000000000000" pitchFamily="2" charset="0"/>
                <a:ea typeface="+mj-ea"/>
                <a:sym typeface="MiSans Light" panose="00000400000000000000" charset="-122"/>
              </a:rPr>
              <a:t>01.</a:t>
            </a:r>
          </a:p>
        </p:txBody>
      </p:sp>
      <p:cxnSp>
        <p:nvCxnSpPr>
          <p:cNvPr id="20" name="直接连接符 19"/>
          <p:cNvCxnSpPr>
            <a:cxnSpLocks/>
          </p:cNvCxnSpPr>
          <p:nvPr/>
        </p:nvCxnSpPr>
        <p:spPr>
          <a:xfrm>
            <a:off x="358775" y="2385391"/>
            <a:ext cx="3760219" cy="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358775" y="3526403"/>
            <a:ext cx="107343" cy="107343"/>
          </a:xfrm>
          <a:prstGeom prst="ellipse">
            <a:avLst/>
          </a:prstGeom>
          <a:solidFill>
            <a:srgbClr val="44D5FA"/>
          </a:solidFill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60924" y="3526403"/>
            <a:ext cx="107343" cy="107343"/>
          </a:xfrm>
          <a:prstGeom prst="ellipse">
            <a:avLst/>
          </a:prstGeom>
          <a:noFill/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63073" y="3526403"/>
            <a:ext cx="107343" cy="107343"/>
          </a:xfrm>
          <a:prstGeom prst="ellipse">
            <a:avLst/>
          </a:prstGeom>
          <a:noFill/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85711" y="3373046"/>
            <a:ext cx="1950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zh-CN" sz="1800" dirty="0">
                <a:solidFill>
                  <a:srgbClr val="44D5FA"/>
                </a:solidFill>
              </a:rPr>
              <a:t>PART ONE</a:t>
            </a:r>
            <a:endParaRPr lang="zh-CN" altLang="en-US" sz="1800" dirty="0">
              <a:solidFill>
                <a:srgbClr val="44D5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01F1C-C1FA-1269-D60C-1CF7EC91C2C2}"/>
              </a:ext>
            </a:extLst>
          </p:cNvPr>
          <p:cNvSpPr txBox="1"/>
          <p:nvPr/>
        </p:nvSpPr>
        <p:spPr>
          <a:xfrm>
            <a:off x="8827189" y="4711020"/>
            <a:ext cx="2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91D1-F0E8-B22B-98E5-B2D6A3081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4ACD6D31-C9FA-50EC-D5C9-B796FCBED665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197A535-0BE3-030C-50E2-2A652A955A07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7481080B-0C50-030F-9569-107471153214}"/>
              </a:ext>
            </a:extLst>
          </p:cNvPr>
          <p:cNvGrpSpPr/>
          <p:nvPr/>
        </p:nvGrpSpPr>
        <p:grpSpPr>
          <a:xfrm>
            <a:off x="358775" y="705172"/>
            <a:ext cx="8426450" cy="4383287"/>
            <a:chOff x="358775" y="984537"/>
            <a:chExt cx="8183341" cy="34830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82F38B57-A817-06E7-9EE4-80EA24B786FA}"/>
                </a:ext>
              </a:extLst>
            </p:cNvPr>
            <p:cNvCxnSpPr/>
            <p:nvPr/>
          </p:nvCxnSpPr>
          <p:spPr>
            <a:xfrm flipH="1">
              <a:off x="358775" y="44675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0E30FBB7-DEF3-9E7D-5D00-5682EA66C533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0AA35666-42B8-1FC1-4CD0-17C2D4554C9E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414802AD-85F6-135A-C779-2BE6A01149F7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0B2CEBBF-2A70-83CE-718E-2D71EBBCFA45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5C0ABDB-8129-B6D3-435C-81A7CF813B4D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555282-27A5-4859-CCE2-3EC0EE347B5F}"/>
              </a:ext>
            </a:extLst>
          </p:cNvPr>
          <p:cNvSpPr/>
          <p:nvPr/>
        </p:nvSpPr>
        <p:spPr>
          <a:xfrm>
            <a:off x="358774" y="159622"/>
            <a:ext cx="52027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Research Background </a:t>
            </a:r>
            <a:r>
              <a:rPr lang="ko-KR" altLang="en-US" sz="2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 배경</a:t>
            </a:r>
            <a:endParaRPr lang="zh-CN" altLang="en-US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95AEDACF-B017-0B65-176E-EA377752B5D1}"/>
              </a:ext>
            </a:extLst>
          </p:cNvPr>
          <p:cNvSpPr/>
          <p:nvPr/>
        </p:nvSpPr>
        <p:spPr>
          <a:xfrm>
            <a:off x="311967" y="862237"/>
            <a:ext cx="50997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한국 </a:t>
            </a:r>
            <a:r>
              <a:rPr lang="ko-KR" altLang="en-US" sz="2000" b="1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인바운드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관광 성장과 문제점</a:t>
            </a:r>
          </a:p>
        </p:txBody>
      </p:sp>
      <p:sp>
        <p:nvSpPr>
          <p:cNvPr id="5" name="文本框 20">
            <a:extLst>
              <a:ext uri="{FF2B5EF4-FFF2-40B4-BE49-F238E27FC236}">
                <a16:creationId xmlns:a16="http://schemas.microsoft.com/office/drawing/2014/main" id="{7E3738F8-AFFB-9FBB-C32A-D763BFEF11C7}"/>
              </a:ext>
            </a:extLst>
          </p:cNvPr>
          <p:cNvSpPr txBox="1"/>
          <p:nvPr/>
        </p:nvSpPr>
        <p:spPr>
          <a:xfrm>
            <a:off x="405583" y="1219408"/>
            <a:ext cx="6430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방한 </a:t>
            </a:r>
            <a:r>
              <a:rPr lang="ko-KR" altLang="en-US" sz="14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외래객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사상 최초 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2,000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만 명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시대 진입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야놀자리서치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2026).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2024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년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관광 수지 적자 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100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억 달러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약 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13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조 원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초과로 역대 최고 수준 기록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국내 인프라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만족도 저하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경제 선순환 불발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야놀자리서치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2026).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외래객의 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76.8%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가 서울 및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특정 명소에만 편중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서울관광재단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2026; Zhang et al., 2026).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소셜 미디어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(Reddit)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분석 기반 외국인 불만 요인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야놀자리서치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2026).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디지털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(27.8%) &gt;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관광정보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안내 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(16.4%)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&gt;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교통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(13.1%) &gt;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결제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(12.0%)</a:t>
            </a:r>
            <a:endParaRPr lang="en-US" altLang="ko-KR" sz="14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72B06B8-D1B8-D00F-E085-66162B6C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94" y="3336533"/>
            <a:ext cx="2542120" cy="139439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D24C029-1D06-455C-484D-62B5191634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065" y="3305747"/>
            <a:ext cx="2589417" cy="140473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F1E469A-85A5-E936-1DEF-241E1CC19815}"/>
              </a:ext>
            </a:extLst>
          </p:cNvPr>
          <p:cNvSpPr txBox="1"/>
          <p:nvPr/>
        </p:nvSpPr>
        <p:spPr>
          <a:xfrm>
            <a:off x="5788413" y="4730927"/>
            <a:ext cx="3104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>
              <a:buNone/>
            </a:pP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3 &gt;2024-2026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년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해외여행객 입국 현황 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및</a:t>
            </a:r>
            <a:endParaRPr lang="en-US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0" marR="0" indent="0" algn="ctr" fontAlgn="base">
              <a:buNone/>
            </a:pP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전년동월대비성장률 </a:t>
            </a:r>
            <a:endParaRPr lang="ko-KR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11A897-0EED-4550-C697-617BF9098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263" y="725614"/>
            <a:ext cx="1818814" cy="22610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DF0696-52BF-0F50-588D-6C91B108D6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274"/>
          <a:stretch>
            <a:fillRect/>
          </a:stretch>
        </p:blipFill>
        <p:spPr>
          <a:xfrm>
            <a:off x="3212479" y="3329854"/>
            <a:ext cx="2358439" cy="1394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44845D-DD9B-7341-11E2-59FBBB6791A1}"/>
              </a:ext>
            </a:extLst>
          </p:cNvPr>
          <p:cNvSpPr txBox="1"/>
          <p:nvPr/>
        </p:nvSpPr>
        <p:spPr>
          <a:xfrm>
            <a:off x="508519" y="4729291"/>
            <a:ext cx="22857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1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한국 </a:t>
            </a:r>
            <a:r>
              <a:rPr lang="ko-KR" altLang="en-US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인바운드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관광 예측 </a:t>
            </a:r>
            <a:endParaRPr lang="ko-KR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DF8BB-9B49-5B75-9DA2-57FD52F6D8F0}"/>
              </a:ext>
            </a:extLst>
          </p:cNvPr>
          <p:cNvSpPr txBox="1"/>
          <p:nvPr/>
        </p:nvSpPr>
        <p:spPr>
          <a:xfrm>
            <a:off x="3375215" y="4736128"/>
            <a:ext cx="2214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2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한국 </a:t>
            </a:r>
            <a:r>
              <a:rPr lang="ko-KR" altLang="en-US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인바운드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관광 예측 </a:t>
            </a:r>
            <a:endParaRPr lang="ko-KR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39DBF2-56CF-07D7-76D0-00DDE230C1F1}"/>
              </a:ext>
            </a:extLst>
          </p:cNvPr>
          <p:cNvSpPr txBox="1"/>
          <p:nvPr/>
        </p:nvSpPr>
        <p:spPr>
          <a:xfrm>
            <a:off x="6475709" y="2959127"/>
            <a:ext cx="24278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4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한국 </a:t>
            </a:r>
            <a:r>
              <a:rPr lang="ko-KR" altLang="en-US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인바운드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관광 불만요인</a:t>
            </a:r>
            <a:endParaRPr lang="ko-KR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9673D-657D-1379-AD23-1D6F30E4EDF8}"/>
              </a:ext>
            </a:extLst>
          </p:cNvPr>
          <p:cNvSpPr txBox="1"/>
          <p:nvPr/>
        </p:nvSpPr>
        <p:spPr>
          <a:xfrm>
            <a:off x="8827189" y="4711020"/>
            <a:ext cx="2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593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CD503-2332-1B48-9A54-4962C2EB2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BC5156-DA17-26DD-AD3A-B41DA18E6E83}"/>
              </a:ext>
            </a:extLst>
          </p:cNvPr>
          <p:cNvSpPr/>
          <p:nvPr/>
        </p:nvSpPr>
        <p:spPr>
          <a:xfrm>
            <a:off x="6435150" y="2661833"/>
            <a:ext cx="1524000" cy="14670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Tourism for Inclusive Growth – The Global Write">
            <a:extLst>
              <a:ext uri="{FF2B5EF4-FFF2-40B4-BE49-F238E27FC236}">
                <a16:creationId xmlns:a16="http://schemas.microsoft.com/office/drawing/2014/main" id="{EDF3C424-C96F-E593-59E3-B5C024C7D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942" y="2189923"/>
            <a:ext cx="2324928" cy="2324928"/>
          </a:xfrm>
          <a:prstGeom prst="rect">
            <a:avLst/>
          </a:prstGeom>
        </p:spPr>
      </p:pic>
      <p:grpSp>
        <p:nvGrpSpPr>
          <p:cNvPr id="10" name="Group 4">
            <a:extLst>
              <a:ext uri="{FF2B5EF4-FFF2-40B4-BE49-F238E27FC236}">
                <a16:creationId xmlns:a16="http://schemas.microsoft.com/office/drawing/2014/main" id="{539E9B87-EE73-D05D-02D6-FB106AB6E559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D8B22228-329A-CEC8-14CB-AF62A1BDBD6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689364E-A90B-CF04-3609-B94E7BA3A154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04D2335E-0263-7240-8D37-4ACF79F82C6F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A21F259-503C-51F8-87CC-BF85B5E56F9A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99C73BE2-E324-F25E-066C-0C6F35CC01AB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2D81348-905F-9106-8D62-042C880C2B7B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7CD27A14-C607-653F-4CDA-291D5C054B5A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8C709E10-5F36-FC8D-A5AD-67FED9D85256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77DC8C71-58F5-C5E5-D2FD-75029C6A5F2D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EF8793DF-C662-EB1F-C12A-2EC3E6F07506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749FDED-CC98-4FC1-E2FE-E64538729DE0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66BCF1FA-6B15-8C8E-8748-C9C509BBFD08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B5F4099-7F26-FA64-0D56-A9FD1EFE57BB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E2ED7BCE-3979-B2B0-C1DA-FEDD1DF81048}"/>
              </a:ext>
            </a:extLst>
          </p:cNvPr>
          <p:cNvSpPr/>
          <p:nvPr/>
        </p:nvSpPr>
        <p:spPr>
          <a:xfrm>
            <a:off x="325956" y="846745"/>
            <a:ext cx="50997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글로벌 관광산업의 복합적 도전 과제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" name="文本框 20">
            <a:extLst>
              <a:ext uri="{FF2B5EF4-FFF2-40B4-BE49-F238E27FC236}">
                <a16:creationId xmlns:a16="http://schemas.microsoft.com/office/drawing/2014/main" id="{74D4B623-F34A-43E8-5106-66BC9BE6D194}"/>
              </a:ext>
            </a:extLst>
          </p:cNvPr>
          <p:cNvSpPr txBox="1"/>
          <p:nvPr/>
        </p:nvSpPr>
        <p:spPr>
          <a:xfrm>
            <a:off x="518319" y="1214306"/>
            <a:ext cx="8181849" cy="2529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endParaRPr lang="en" altLang="zh-CN" sz="1800" dirty="0">
              <a:solidFill>
                <a:srgbClr val="00B0F0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관광객 집중에 따른 공간적 불균형 및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인기 관광지의 과밀화 심화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(Iversen et al., 2026; Zhang et al., 2026).</a:t>
            </a:r>
            <a:endParaRPr lang="en-US" altLang="ko-KR" sz="105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4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관광 경험의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개별화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다양화 요구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동시 증대 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(Borowiecki et al., 2026).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기존 방법론의 한계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(Wang et al., 2026; Liu-Lastres &amp; Pratt, 2026)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의존 데이터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설문조사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통계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단순 관찰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등 정적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주관적 데이터 기반</a:t>
            </a:r>
            <a:endParaRPr lang="en-US" altLang="ko-KR" sz="14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전통적 한계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공간적 세분화 미흡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이용자 다양성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다국어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반영 불가</a:t>
            </a:r>
            <a:endParaRPr lang="en-US" altLang="ko-KR" sz="1400" b="1" dirty="0">
              <a:solidFill>
                <a:schemeClr val="accent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E9B4DEFF-FA0E-0048-330F-4F154F7D6A55}"/>
              </a:ext>
            </a:extLst>
          </p:cNvPr>
          <p:cNvSpPr/>
          <p:nvPr/>
        </p:nvSpPr>
        <p:spPr>
          <a:xfrm>
            <a:off x="358774" y="159622"/>
            <a:ext cx="52027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Research Background </a:t>
            </a:r>
            <a:r>
              <a:rPr lang="ko-KR" altLang="en-US" sz="2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 배경</a:t>
            </a:r>
            <a:endParaRPr lang="zh-CN" altLang="en-US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E5191-B421-ADC5-369E-BF4FC06BB7B7}"/>
              </a:ext>
            </a:extLst>
          </p:cNvPr>
          <p:cNvSpPr txBox="1"/>
          <p:nvPr/>
        </p:nvSpPr>
        <p:spPr>
          <a:xfrm>
            <a:off x="8827189" y="4711020"/>
            <a:ext cx="2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5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7B2177-96F9-BAE4-A9AE-E69013D111EB}"/>
              </a:ext>
            </a:extLst>
          </p:cNvPr>
          <p:cNvSpPr txBox="1"/>
          <p:nvPr/>
        </p:nvSpPr>
        <p:spPr>
          <a:xfrm>
            <a:off x="5603396" y="4534452"/>
            <a:ext cx="310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>
              <a:buNone/>
            </a:pP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5 &gt; UN Tourism Sustainable </a:t>
            </a:r>
            <a:b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</a:b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Development Goals</a:t>
            </a:r>
            <a:endParaRPr lang="ko-KR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6" name="사다리꼴 15">
            <a:extLst>
              <a:ext uri="{FF2B5EF4-FFF2-40B4-BE49-F238E27FC236}">
                <a16:creationId xmlns:a16="http://schemas.microsoft.com/office/drawing/2014/main" id="{4567A88E-EEFD-BE21-5E88-BC2C3C27A15E}"/>
              </a:ext>
            </a:extLst>
          </p:cNvPr>
          <p:cNvSpPr/>
          <p:nvPr/>
        </p:nvSpPr>
        <p:spPr>
          <a:xfrm rot="3146065">
            <a:off x="6227883" y="3600454"/>
            <a:ext cx="502680" cy="541454"/>
          </a:xfrm>
          <a:prstGeom prst="trapezoid">
            <a:avLst>
              <a:gd name="adj" fmla="val 25990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다리꼴 19">
            <a:extLst>
              <a:ext uri="{FF2B5EF4-FFF2-40B4-BE49-F238E27FC236}">
                <a16:creationId xmlns:a16="http://schemas.microsoft.com/office/drawing/2014/main" id="{AE86FF7B-18C5-06EB-48C2-ED3F8CAFA3C6}"/>
              </a:ext>
            </a:extLst>
          </p:cNvPr>
          <p:cNvSpPr/>
          <p:nvPr/>
        </p:nvSpPr>
        <p:spPr>
          <a:xfrm rot="20930921">
            <a:off x="7081323" y="3940167"/>
            <a:ext cx="502680" cy="541454"/>
          </a:xfrm>
          <a:prstGeom prst="trapezoid">
            <a:avLst>
              <a:gd name="adj" fmla="val 25990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87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B896B-A5F4-9C29-E0DF-CC22AA20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CAFB1E29-FF26-C9F1-A806-F4E4BB45E9F9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2452E319-1442-F4E7-0799-FC33332F04F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1C597D6-CEEC-DED9-DB5C-B9E650DFF459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07EEB3B-4845-91CD-E55C-77E516B7C161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9A640FE-C30C-252E-8F41-7511D63E556D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B085C41C-E131-A822-36B4-C8D8AECA0DF9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36DABBE-95A9-5518-C75D-08A592244EE9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2CDB429-65F6-BAA2-B7E3-DBC0A26E228F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01647E3-D6ED-A643-D489-F09740045A2F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BEF33F8D-4745-07DA-7A59-B2FE80677655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F6AFD07F-034A-15FF-4642-F666AA940277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170634B4-EB07-EC00-4BDC-FBF30EA4438D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4BD214A4-72A8-A3B6-CC77-A919DCDDCBF3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284C364-8693-5AF3-C377-BCF37379445D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E29EAE56-E2BC-8A7E-65B7-781AE6E4A5CB}"/>
              </a:ext>
            </a:extLst>
          </p:cNvPr>
          <p:cNvSpPr/>
          <p:nvPr/>
        </p:nvSpPr>
        <p:spPr>
          <a:xfrm>
            <a:off x="334119" y="851175"/>
            <a:ext cx="50997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 패러다임의 최신 전환 방향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" name="文本框 20">
            <a:extLst>
              <a:ext uri="{FF2B5EF4-FFF2-40B4-BE49-F238E27FC236}">
                <a16:creationId xmlns:a16="http://schemas.microsoft.com/office/drawing/2014/main" id="{29627A27-5009-F17E-F26C-1A537FBA8084}"/>
              </a:ext>
            </a:extLst>
          </p:cNvPr>
          <p:cNvSpPr txBox="1"/>
          <p:nvPr/>
        </p:nvSpPr>
        <p:spPr>
          <a:xfrm>
            <a:off x="542226" y="1326937"/>
            <a:ext cx="8181849" cy="3795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관광객 심리 및 문화적 니즈 추출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전통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LDA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토픽 모델링 대신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XLM-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RoBERTa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BERTopic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최신 알고리즘 활용 감성 및 토픽 모델링 분석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(Tekin et al., 2026; </a:t>
            </a:r>
            <a:r>
              <a:rPr lang="en-US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Kaliba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동적 혼잡도 및 이동 패턴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: GIS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기반 공간분석 기법 적용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(Meng et al., 2026; Zhang et al., 2026).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맞춤형 서비스 혁신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: ABSA(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속성 기반 감성분석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),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하이브리드 추천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LLM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기반 속성 추천 알고리즘 활용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Puttinaovarat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2026; Xu et al., 2026; Danish et al., 2026).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44D5FA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대규모 </a:t>
            </a:r>
            <a:r>
              <a:rPr lang="en-US" altLang="ko-KR" sz="1400" b="1" dirty="0">
                <a:solidFill>
                  <a:srgbClr val="44D5FA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UGC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온라인 리뷰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SNS) + </a:t>
            </a:r>
            <a:r>
              <a:rPr lang="ko-KR" altLang="en-US" sz="1400" b="1" dirty="0">
                <a:solidFill>
                  <a:srgbClr val="44D5FA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공공데이터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교통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숙박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음식점 등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의 융합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연구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; AI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기반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자연어처리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+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지리공간 통계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의 결합으로 정량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정성적 통합 분석 연구 부상 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(Sun et al., 2026; Jiang et al., 2025; </a:t>
            </a:r>
            <a:r>
              <a:rPr lang="en-US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Kwanyou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2026).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8165DDFF-ED6A-4FAC-66F0-6BCDEF427564}"/>
              </a:ext>
            </a:extLst>
          </p:cNvPr>
          <p:cNvSpPr/>
          <p:nvPr/>
        </p:nvSpPr>
        <p:spPr>
          <a:xfrm>
            <a:off x="358774" y="159622"/>
            <a:ext cx="52027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Research Background </a:t>
            </a:r>
            <a:r>
              <a:rPr lang="ko-KR" altLang="en-US" sz="2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 배경</a:t>
            </a:r>
            <a:endParaRPr lang="zh-CN" altLang="en-US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3222A-AA63-E7CE-4C4A-54262D0D8FCF}"/>
              </a:ext>
            </a:extLst>
          </p:cNvPr>
          <p:cNvSpPr txBox="1"/>
          <p:nvPr/>
        </p:nvSpPr>
        <p:spPr>
          <a:xfrm>
            <a:off x="8827189" y="4711020"/>
            <a:ext cx="2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6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753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FD99C-00BC-C5E0-286E-E491B717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D10E850E-3866-AF3B-F697-138332A7BA96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AF78D8AF-FE8D-146A-F2EE-9EB9EEF6322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332A877-1452-BEFC-8C2F-C85531CE41A7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C26A876-FE03-80BD-C20E-15E219AEF9CC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9D88C66-FC73-5845-2630-96DC25FB375F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9A2E9BC2-2673-4D62-F592-6C70C5BDD206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7E2FACD-862A-ED97-F296-E7E506E5B63D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0F7FD452-9E32-8ED1-74A2-101856EBC4E5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2E90F7E-274A-4AD8-58D0-0412D685F51A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C309F6D0-DDD1-2149-8945-BFBAE2773F20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BCA5EB9-1DE3-A0E9-51AA-70F91E8CCA71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BF648C2-DD95-BFEF-2D28-041DEE17E4D7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10622DEB-615A-AFE3-70D1-DCD0C8B875AB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F278099-2636-D084-ABD7-38B070362292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D9CE71-E9C4-278E-E4A7-CBB1D516749D}"/>
              </a:ext>
            </a:extLst>
          </p:cNvPr>
          <p:cNvSpPr/>
          <p:nvPr/>
        </p:nvSpPr>
        <p:spPr>
          <a:xfrm>
            <a:off x="358774" y="159622"/>
            <a:ext cx="65041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Research Objectives  </a:t>
            </a:r>
            <a:r>
              <a:rPr lang="ko-KR" altLang="en-US" sz="2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 목적</a:t>
            </a:r>
            <a:endParaRPr lang="zh-CN" altLang="en-US" sz="24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0F578C8-CC2C-2292-2385-541C2C91A1C7}"/>
              </a:ext>
            </a:extLst>
          </p:cNvPr>
          <p:cNvGrpSpPr/>
          <p:nvPr/>
        </p:nvGrpSpPr>
        <p:grpSpPr>
          <a:xfrm>
            <a:off x="597845" y="877321"/>
            <a:ext cx="7919801" cy="3787260"/>
            <a:chOff x="602229" y="1093518"/>
            <a:chExt cx="3027379" cy="2117162"/>
          </a:xfrm>
        </p:grpSpPr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A4BB8D9-8F02-D33C-26F5-CA1D8EAE4926}"/>
                </a:ext>
              </a:extLst>
            </p:cNvPr>
            <p:cNvSpPr txBox="1"/>
            <p:nvPr/>
          </p:nvSpPr>
          <p:spPr>
            <a:xfrm>
              <a:off x="602229" y="1137430"/>
              <a:ext cx="3027379" cy="2073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TripAdvisor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의 한국 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58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개 </a:t>
              </a:r>
              <a:r>
                <a:rPr lang="en-US" altLang="ko-KR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Traveler's Choice </a:t>
              </a:r>
              <a:r>
                <a:rPr lang="ko-KR" altLang="en-US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어워드 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2025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년 수상 목적지를 대상으로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, </a:t>
              </a:r>
              <a:r>
                <a:rPr lang="ko-KR" altLang="en-US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다국어 리뷰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(2004~2026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년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, 116,806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건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)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와 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관광숙박업</a:t>
              </a:r>
              <a:r>
                <a:rPr lang="en-US" altLang="ko-KR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·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교통</a:t>
              </a:r>
              <a:r>
                <a:rPr lang="en-US" altLang="ko-KR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·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음식점 등 </a:t>
              </a:r>
              <a:r>
                <a:rPr lang="ko-KR" altLang="en-US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공공데이터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4</a:t>
              </a:r>
              <a:r>
                <a:rPr lang="ko-KR" altLang="en-US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종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을 공간적으로 결합한 통합 데이터셋을 구축하여 관광지 혼잡도와 공간 분포를 체계적으로 진단한다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.</a:t>
              </a:r>
            </a:p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endPara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endParaRPr>
            </a:p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XLM-</a:t>
              </a:r>
              <a:r>
                <a:rPr lang="en-US" altLang="ko-KR" sz="1400" b="1" dirty="0" err="1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RoBERTa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기반 감성분석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,</a:t>
              </a:r>
              <a:r>
                <a:rPr lang="en-US" altLang="ko-KR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BERTopic</a:t>
              </a:r>
              <a:r>
                <a:rPr lang="en-US" altLang="ko-KR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토픽모델링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공간 통계 및 과밀화 경보지수 등 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AI·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공간분석 기법을 적용하여 </a:t>
              </a:r>
              <a:r>
                <a:rPr lang="ko-KR" altLang="en-US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인기관광지별 장단점</a:t>
              </a:r>
              <a:r>
                <a:rPr lang="en-US" altLang="ko-KR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, </a:t>
              </a:r>
              <a:r>
                <a:rPr lang="ko-KR" altLang="en-US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위험요인 및 관광객 경험 세부 속성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을</a:t>
              </a:r>
              <a:r>
                <a:rPr lang="ko-KR" altLang="en-US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정밀하게 진단한다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.</a:t>
              </a:r>
            </a:p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endPara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endParaRPr>
            </a:p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en-US" altLang="ko-KR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ABSA </a:t>
              </a:r>
              <a:r>
                <a:rPr lang="ko-KR" altLang="en-US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속성기반 감성분석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, GIS, 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혼잡도 및 사용자 선호를 </a:t>
              </a:r>
              <a:r>
                <a:rPr lang="ko-KR" altLang="en-US" sz="1400" b="1" dirty="0">
                  <a:solidFill>
                    <a:schemeClr val="accent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융합한 속성 단위의 맞춤형 관광지 추천 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알고리즘 및 플랫폼을 개발한다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.</a:t>
              </a:r>
            </a:p>
            <a:p>
              <a:endPara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endParaRPr>
            </a:p>
            <a:p>
              <a:b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</a:br>
              <a:r>
                <a:rPr lang="ko-KR" altLang="en-US" sz="1400" b="1" dirty="0">
                  <a:solidFill>
                    <a:srgbClr val="44D5FA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실제 관광객 리뷰 데이터 기반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의 공간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·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경험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·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혼잡 관리 모델과 </a:t>
              </a:r>
              <a:r>
                <a:rPr lang="ko-KR" altLang="en-US" sz="1400" b="1" dirty="0">
                  <a:solidFill>
                    <a:srgbClr val="44D5FA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맞춤형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 한국 관광지 추천시스템을 제안하여 </a:t>
              </a:r>
              <a:r>
                <a:rPr lang="ko-KR" altLang="en-US" sz="1400" b="1" dirty="0">
                  <a:solidFill>
                    <a:srgbClr val="44D5FA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한국 관광의 디지털 전환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과 지속가능성을 제고하고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, </a:t>
              </a:r>
              <a:r>
                <a:rPr lang="en-US" altLang="ko-KR" sz="1400" b="1" dirty="0">
                  <a:solidFill>
                    <a:srgbClr val="44D5FA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UN Tourism SDG 11(</a:t>
              </a:r>
              <a:r>
                <a:rPr lang="ko-KR" altLang="en-US" sz="1400" b="1" dirty="0">
                  <a:solidFill>
                    <a:srgbClr val="44D5FA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지속가능한 도시와 공동체</a:t>
              </a:r>
              <a:r>
                <a:rPr lang="en-US" altLang="ko-KR" sz="1400" b="1" dirty="0">
                  <a:solidFill>
                    <a:srgbClr val="44D5FA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) 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및 </a:t>
              </a:r>
              <a:r>
                <a:rPr lang="en-US" altLang="ko-KR" sz="1400" b="1" dirty="0">
                  <a:solidFill>
                    <a:srgbClr val="44D5FA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8 (</a:t>
              </a:r>
              <a:r>
                <a:rPr lang="ko-KR" altLang="en-US" sz="1400" b="1" dirty="0">
                  <a:solidFill>
                    <a:srgbClr val="44D5FA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양질의 일자리와 경제성장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) </a:t>
              </a:r>
              <a:r>
                <a:rPr lang="ko-KR" altLang="en-US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달성에 기여하고자 한다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676290C9-F583-C772-46FC-A0AF004E48A4}"/>
                </a:ext>
              </a:extLst>
            </p:cNvPr>
            <p:cNvSpPr/>
            <p:nvPr/>
          </p:nvSpPr>
          <p:spPr>
            <a:xfrm>
              <a:off x="625181" y="1093518"/>
              <a:ext cx="1931859" cy="2403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/>
              <a:endParaRPr lang="zh-CN" altLang="en-US" sz="20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lt"/>
              </a:endParaRPr>
            </a:p>
          </p:txBody>
        </p:sp>
      </p:grp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AA7298A4-FA66-F1E9-214E-2FAAD461A6EC}"/>
              </a:ext>
            </a:extLst>
          </p:cNvPr>
          <p:cNvSpPr/>
          <p:nvPr/>
        </p:nvSpPr>
        <p:spPr>
          <a:xfrm>
            <a:off x="4361932" y="3406192"/>
            <a:ext cx="420136" cy="239546"/>
          </a:xfrm>
          <a:prstGeom prst="downArrow">
            <a:avLst>
              <a:gd name="adj1" fmla="val 49474"/>
              <a:gd name="adj2" fmla="val 5764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DB97E-7AF4-3CC8-A248-12F323C97CF0}"/>
              </a:ext>
            </a:extLst>
          </p:cNvPr>
          <p:cNvSpPr txBox="1"/>
          <p:nvPr/>
        </p:nvSpPr>
        <p:spPr>
          <a:xfrm>
            <a:off x="8827189" y="4711020"/>
            <a:ext cx="2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7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440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夜晚亮着灯的舞台&#10;&#10;中度可信度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3" r="27152"/>
          <a:stretch>
            <a:fillRect/>
          </a:stretch>
        </p:blipFill>
        <p:spPr>
          <a:xfrm>
            <a:off x="4746170" y="0"/>
            <a:ext cx="4397829" cy="5124659"/>
          </a:xfrm>
          <a:prstGeom prst="rect">
            <a:avLst/>
          </a:prstGeom>
        </p:spPr>
      </p:pic>
      <p:sp>
        <p:nvSpPr>
          <p:cNvPr id="8" name="任意多边形: 形状 7"/>
          <p:cNvSpPr/>
          <p:nvPr/>
        </p:nvSpPr>
        <p:spPr>
          <a:xfrm>
            <a:off x="0" y="0"/>
            <a:ext cx="9144000" cy="5143500"/>
          </a:xfrm>
          <a:custGeom>
            <a:avLst/>
            <a:gdLst>
              <a:gd name="connsiteX0" fmla="*/ 6436154 w 9144000"/>
              <a:gd name="connsiteY0" fmla="*/ 1628732 h 5143500"/>
              <a:gd name="connsiteX1" fmla="*/ 6846435 w 9144000"/>
              <a:gd name="connsiteY1" fmla="*/ 2649167 h 5143500"/>
              <a:gd name="connsiteX2" fmla="*/ 6025873 w 9144000"/>
              <a:gd name="connsiteY2" fmla="*/ 2649167 h 5143500"/>
              <a:gd name="connsiteX3" fmla="*/ 8089090 w 9144000"/>
              <a:gd name="connsiteY3" fmla="*/ 978945 h 5143500"/>
              <a:gd name="connsiteX4" fmla="*/ 8089090 w 9144000"/>
              <a:gd name="connsiteY4" fmla="*/ 4414295 h 5143500"/>
              <a:gd name="connsiteX5" fmla="*/ 8611603 w 9144000"/>
              <a:gd name="connsiteY5" fmla="*/ 4414295 h 5143500"/>
              <a:gd name="connsiteX6" fmla="*/ 8611603 w 9144000"/>
              <a:gd name="connsiteY6" fmla="*/ 978945 h 5143500"/>
              <a:gd name="connsiteX7" fmla="*/ 6171811 w 9144000"/>
              <a:gd name="connsiteY7" fmla="*/ 978945 h 5143500"/>
              <a:gd name="connsiteX8" fmla="*/ 4790579 w 9144000"/>
              <a:gd name="connsiteY8" fmla="*/ 4414295 h 5143500"/>
              <a:gd name="connsiteX9" fmla="*/ 5316178 w 9144000"/>
              <a:gd name="connsiteY9" fmla="*/ 4414295 h 5143500"/>
              <a:gd name="connsiteX10" fmla="*/ 5815789 w 9144000"/>
              <a:gd name="connsiteY10" fmla="*/ 3171680 h 5143500"/>
              <a:gd name="connsiteX11" fmla="*/ 7056519 w 9144000"/>
              <a:gd name="connsiteY11" fmla="*/ 3171680 h 5143500"/>
              <a:gd name="connsiteX12" fmla="*/ 7556131 w 9144000"/>
              <a:gd name="connsiteY12" fmla="*/ 4414295 h 5143500"/>
              <a:gd name="connsiteX13" fmla="*/ 8081730 w 9144000"/>
              <a:gd name="connsiteY13" fmla="*/ 4414295 h 5143500"/>
              <a:gd name="connsiteX14" fmla="*/ 6700497 w 9144000"/>
              <a:gd name="connsiteY14" fmla="*/ 978945 h 5143500"/>
              <a:gd name="connsiteX15" fmla="*/ 6697411 w 9144000"/>
              <a:gd name="connsiteY15" fmla="*/ 978945 h 5143500"/>
              <a:gd name="connsiteX16" fmla="*/ 0 w 9144000"/>
              <a:gd name="connsiteY16" fmla="*/ 0 h 5143500"/>
              <a:gd name="connsiteX17" fmla="*/ 9144000 w 9144000"/>
              <a:gd name="connsiteY17" fmla="*/ 0 h 5143500"/>
              <a:gd name="connsiteX18" fmla="*/ 9144000 w 9144000"/>
              <a:gd name="connsiteY18" fmla="*/ 5143500 h 5143500"/>
              <a:gd name="connsiteX19" fmla="*/ 0 w 9144000"/>
              <a:gd name="connsiteY19" fmla="*/ 514349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6436154" y="1628732"/>
                </a:moveTo>
                <a:lnTo>
                  <a:pt x="6846435" y="2649167"/>
                </a:lnTo>
                <a:lnTo>
                  <a:pt x="6025873" y="2649167"/>
                </a:lnTo>
                <a:close/>
                <a:moveTo>
                  <a:pt x="8089090" y="978945"/>
                </a:moveTo>
                <a:lnTo>
                  <a:pt x="8089090" y="4414295"/>
                </a:lnTo>
                <a:lnTo>
                  <a:pt x="8611603" y="4414295"/>
                </a:lnTo>
                <a:lnTo>
                  <a:pt x="8611603" y="978945"/>
                </a:lnTo>
                <a:close/>
                <a:moveTo>
                  <a:pt x="6171811" y="978945"/>
                </a:moveTo>
                <a:lnTo>
                  <a:pt x="4790579" y="4414295"/>
                </a:lnTo>
                <a:lnTo>
                  <a:pt x="5316178" y="4414295"/>
                </a:lnTo>
                <a:lnTo>
                  <a:pt x="5815789" y="3171680"/>
                </a:lnTo>
                <a:lnTo>
                  <a:pt x="7056519" y="3171680"/>
                </a:lnTo>
                <a:lnTo>
                  <a:pt x="7556131" y="4414295"/>
                </a:lnTo>
                <a:lnTo>
                  <a:pt x="8081730" y="4414295"/>
                </a:lnTo>
                <a:lnTo>
                  <a:pt x="6700497" y="978945"/>
                </a:lnTo>
                <a:lnTo>
                  <a:pt x="6697411" y="978945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499"/>
                </a:lnTo>
                <a:close/>
              </a:path>
            </a:pathLst>
          </a:custGeom>
          <a:solidFill>
            <a:srgbClr val="101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7" name="椭圆 16"/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/>
        </p:nvGrpSpPr>
        <p:grpSpPr>
          <a:xfrm>
            <a:off x="358775" y="984537"/>
            <a:ext cx="8426450" cy="3413843"/>
            <a:chOff x="358775" y="984537"/>
            <a:chExt cx="8183341" cy="3413843"/>
          </a:xfrm>
        </p:grpSpPr>
        <p:cxnSp>
          <p:nvCxnSpPr>
            <p:cNvPr id="74" name="直接连接符 73"/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/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 bwMode="auto">
          <a:xfrm>
            <a:off x="456251" y="2015204"/>
            <a:ext cx="7582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ko-KR" altLang="en-US" sz="2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lang="en-US" altLang="zh-CN" sz="24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0539" y="773054"/>
            <a:ext cx="1901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7200" dirty="0">
                <a:ln w="3175">
                  <a:noFill/>
                </a:ln>
                <a:solidFill>
                  <a:srgbClr val="394B95"/>
                </a:solidFill>
                <a:latin typeface="Montserrat Black" panose="00000A00000000000000" pitchFamily="2" charset="0"/>
                <a:ea typeface="+mj-ea"/>
                <a:sym typeface="MiSans Light" panose="00000400000000000000" charset="-122"/>
              </a:rPr>
              <a:t>02.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355600" y="2586175"/>
            <a:ext cx="2925114" cy="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358775" y="3526403"/>
            <a:ext cx="107343" cy="107343"/>
          </a:xfrm>
          <a:prstGeom prst="ellipse">
            <a:avLst/>
          </a:prstGeom>
          <a:solidFill>
            <a:srgbClr val="44D5FA"/>
          </a:solidFill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60924" y="3526403"/>
            <a:ext cx="107343" cy="107343"/>
          </a:xfrm>
          <a:prstGeom prst="ellipse">
            <a:avLst/>
          </a:prstGeom>
          <a:noFill/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63073" y="3526403"/>
            <a:ext cx="107343" cy="107343"/>
          </a:xfrm>
          <a:prstGeom prst="ellipse">
            <a:avLst/>
          </a:prstGeom>
          <a:noFill/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85711" y="3373046"/>
            <a:ext cx="1950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zh-CN" sz="1800">
                <a:solidFill>
                  <a:srgbClr val="44D5FA"/>
                </a:solidFill>
              </a:rPr>
              <a:t>PART TWO</a:t>
            </a:r>
            <a:endParaRPr lang="zh-CN" altLang="en-US" sz="1800">
              <a:solidFill>
                <a:srgbClr val="44D5FA"/>
              </a:solidFill>
            </a:endParaRPr>
          </a:p>
        </p:txBody>
      </p:sp>
      <p:sp>
        <p:nvSpPr>
          <p:cNvPr id="28" name="矩形 6">
            <a:extLst>
              <a:ext uri="{FF2B5EF4-FFF2-40B4-BE49-F238E27FC236}">
                <a16:creationId xmlns:a16="http://schemas.microsoft.com/office/drawing/2014/main" id="{08171935-2AB4-4810-9B03-9A7E851CB3C5}"/>
              </a:ext>
            </a:extLst>
          </p:cNvPr>
          <p:cNvSpPr/>
          <p:nvPr/>
        </p:nvSpPr>
        <p:spPr>
          <a:xfrm>
            <a:off x="414985" y="2579753"/>
            <a:ext cx="3672609" cy="333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B71E2-9A32-E83B-3EF8-A22EFE0D9064}"/>
              </a:ext>
            </a:extLst>
          </p:cNvPr>
          <p:cNvSpPr txBox="1"/>
          <p:nvPr/>
        </p:nvSpPr>
        <p:spPr>
          <a:xfrm>
            <a:off x="8827189" y="4711020"/>
            <a:ext cx="2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8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6A2C-5218-1419-E285-B386B7E4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1BFE40F5-CF7C-2087-F791-77C53490E910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6B916D0B-D81D-BE44-3C2B-68E695009E9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A4F2CC8F-19CE-0C1B-CA98-CF68B7C8AC8E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9702471-8833-CD36-109D-3A31D84B24E7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9294CA3-F63B-D759-13D6-09B005C295F0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F3207F2E-C73F-DAA0-0B06-B41B2576F6B2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A1D8A54-5007-E04D-245E-6355F46C1A07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FCE4545-585C-625F-095C-5F3BEDC1CCC4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651CA84-B277-78B6-5F09-FCE8F0AA1C8F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C9D475FB-58FB-62B2-1030-17C2204045F8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BA6B126-AF94-B21E-07EE-5B4EE61B5655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888AA474-5EA7-C12E-D0E8-0BCE24CCA3AD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4BD00E71-8487-8882-E7A0-B6750FFD0468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144673B-CB3D-C888-255A-2D250B6D1084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3D9069-2234-AF09-D4EB-C65CF5DCFF70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 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112C283B-F507-F2F7-CB5A-512C81AFC7F4}"/>
              </a:ext>
            </a:extLst>
          </p:cNvPr>
          <p:cNvSpPr/>
          <p:nvPr/>
        </p:nvSpPr>
        <p:spPr>
          <a:xfrm>
            <a:off x="518319" y="869790"/>
            <a:ext cx="55481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다국어 감성분석 및 </a:t>
            </a:r>
            <a:r>
              <a:rPr lang="ko-KR" altLang="ko-KR" sz="20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토픽 모델링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분석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20">
            <a:extLst>
              <a:ext uri="{FF2B5EF4-FFF2-40B4-BE49-F238E27FC236}">
                <a16:creationId xmlns:a16="http://schemas.microsoft.com/office/drawing/2014/main" id="{D93242CD-BC67-EA0B-4356-3761A4C30126}"/>
              </a:ext>
            </a:extLst>
          </p:cNvPr>
          <p:cNvSpPr txBox="1"/>
          <p:nvPr/>
        </p:nvSpPr>
        <p:spPr>
          <a:xfrm>
            <a:off x="676547" y="1938388"/>
            <a:ext cx="790952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최근 관광 리뷰 감성 분석 및 토픽 모델링은 </a:t>
            </a:r>
            <a:r>
              <a:rPr lang="ko-KR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관광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지</a:t>
            </a:r>
            <a:r>
              <a:rPr lang="ko-KR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 관리, 목적지 이미지 분석, 서비스 개선</a:t>
            </a:r>
            <a:r>
              <a:rPr lang="ko-KR" altLang="ko-KR" sz="1400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등 다양한 분야에서 핵심 연구로 자리 잡음 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Tekin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et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al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., 2026; </a:t>
            </a:r>
            <a:r>
              <a:rPr lang="ko-KR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Kaliba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et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al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., 2026; </a:t>
            </a:r>
            <a:r>
              <a:rPr lang="ko-KR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He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&amp; </a:t>
            </a:r>
            <a:r>
              <a:rPr lang="ko-KR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Zhang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2026; </a:t>
            </a:r>
            <a:r>
              <a:rPr lang="ko-KR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Barrera-Barrera</a:t>
            </a:r>
            <a:r>
              <a:rPr lang="ko-KR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2026)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ko-KR" sz="14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다국어 대규모 리뷰를 대상으로 </a:t>
            </a:r>
            <a:r>
              <a:rPr lang="ko-KR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BERT, XLM-</a:t>
            </a:r>
            <a:r>
              <a:rPr lang="ko-KR" altLang="ko-KR" sz="14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RoBERTa</a:t>
            </a:r>
            <a:r>
              <a:rPr lang="ko-KR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ko-KR" sz="14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BERTopic</a:t>
            </a:r>
            <a:r>
              <a:rPr lang="ko-KR" altLang="ko-KR" sz="1400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등 최신 알고리즘을 활용하여, 관광 경험의 </a:t>
            </a:r>
            <a:r>
              <a:rPr lang="ko-KR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강점, 약점, 세부적 트렌드</a:t>
            </a:r>
            <a:r>
              <a:rPr lang="ko-KR" altLang="ko-KR" sz="1400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를 </a:t>
            </a:r>
            <a:r>
              <a:rPr lang="ko-KR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정량적으로 진단하고 있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다</a:t>
            </a:r>
            <a:r>
              <a:rPr lang="ko-KR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ko-KR" sz="11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Jiang</a:t>
            </a:r>
            <a:r>
              <a:rPr lang="ko-KR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et</a:t>
            </a:r>
            <a:r>
              <a:rPr lang="ko-KR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al</a:t>
            </a:r>
            <a:r>
              <a:rPr lang="ko-KR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., 2025; </a:t>
            </a:r>
            <a:r>
              <a:rPr lang="ko-KR" altLang="ko-KR" sz="11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Ali</a:t>
            </a:r>
            <a:r>
              <a:rPr lang="ko-KR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et</a:t>
            </a:r>
            <a:r>
              <a:rPr lang="ko-KR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al</a:t>
            </a:r>
            <a:r>
              <a:rPr lang="ko-KR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., 2022)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en-US" altLang="ko-KR" sz="16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C8A5E-07A6-3791-E15D-7055BDDA08D6}"/>
              </a:ext>
            </a:extLst>
          </p:cNvPr>
          <p:cNvSpPr txBox="1"/>
          <p:nvPr/>
        </p:nvSpPr>
        <p:spPr>
          <a:xfrm>
            <a:off x="8827189" y="4711020"/>
            <a:ext cx="2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9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828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/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/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/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/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 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" name="矩形 21"/>
          <p:cNvSpPr/>
          <p:nvPr/>
        </p:nvSpPr>
        <p:spPr>
          <a:xfrm>
            <a:off x="518319" y="869790"/>
            <a:ext cx="80144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다국어 감성분석 및 </a:t>
            </a:r>
            <a:r>
              <a:rPr lang="ko-KR" altLang="ko-KR" sz="20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토픽 모델링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분석 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20">
            <a:extLst>
              <a:ext uri="{FF2B5EF4-FFF2-40B4-BE49-F238E27FC236}">
                <a16:creationId xmlns:a16="http://schemas.microsoft.com/office/drawing/2014/main" id="{03695D5D-76F9-9B92-3D74-4F84446A46D8}"/>
              </a:ext>
            </a:extLst>
          </p:cNvPr>
          <p:cNvSpPr txBox="1"/>
          <p:nvPr/>
        </p:nvSpPr>
        <p:spPr>
          <a:xfrm>
            <a:off x="611277" y="1434517"/>
            <a:ext cx="790952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BERT, </a:t>
            </a:r>
            <a:r>
              <a:rPr lang="ko-KR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BERTopic</a:t>
            </a: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LDA, CNN, GRU 등 </a:t>
            </a:r>
            <a:r>
              <a:rPr lang="ko-KR" altLang="ko-KR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딥러닝과</a:t>
            </a: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 토픽 모델링 기법을 결합한 복합 분석</a:t>
            </a: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프레임워크가 관광 </a:t>
            </a: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리뷰의 감성 극성 및 세부 주제 도출의 정확도</a:t>
            </a: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를 크게 </a:t>
            </a: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향상</a:t>
            </a: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시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길 수 있다</a:t>
            </a: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Tekin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et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al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., 2026;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Habbat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&amp;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Nouri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2024;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Liu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et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al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., 2026)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감성 분석과 토픽 모델링을 결합하여 서비스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환경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문화 등 다양한 속성별로 관광객의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실제 경험과 만족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불만 요인을 다각도로 도출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하였으며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이를 기반으로 데이터 중심의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맞춤형 개선 방향을 구체적으로 제시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할 수 있다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en-US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Kaliba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et al., 2026; Jiang et al., 2025; Wang et al., 2024).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ABSA(Aspect-Based Sentiment Analysis)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를 비롯하여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IPA(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중요도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-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실행도 분석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), AIPA, IPCA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등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속성 단위 감성 및 분석 기법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과 결합한 융합 연구가 지속적으로 증가하고 있으며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이는 관광산업의 실무적 의사결정에 직접적으로 활용되고 있다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(Cheng et al., 2024; </a:t>
            </a:r>
            <a:r>
              <a:rPr lang="en-US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Shahhosseini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&amp; Nasr, 2024).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TripAdvisor, Booking.com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등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다국어 리뷰 빅데이터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를 수집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활용한 연구를 통해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다양한 국가 및 문화권 관광객들의 주된 관심사와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목적지 평가 차이를 체계적으로 비교 분석할 수 있다</a:t>
            </a:r>
            <a:r>
              <a:rPr lang="ko-KR" altLang="en-US" sz="1200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(He &amp; Zhang, 2026; Wang et al., 2024).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관광지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호텔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특화 관광 경험 등 구체적이고 특정적인 맥락 안에서 감성 극성과 주요 이슈들을 정밀하게 분석하여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현장 실무에서 즉각 도입 가능한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실질적인 개선 방안을 도출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할 수 있다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(Barrera-Barrera, 2026; Lin et al., 2025).</a:t>
            </a:r>
            <a:endParaRPr lang="ko-KR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90EFF-A013-73B9-AE27-ED9186F26578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10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01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/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/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358775" y="705172"/>
            <a:ext cx="8426450" cy="4246210"/>
            <a:chOff x="358775" y="984537"/>
            <a:chExt cx="8183341" cy="3374122"/>
          </a:xfrm>
        </p:grpSpPr>
        <p:cxnSp>
          <p:nvCxnSpPr>
            <p:cNvPr id="74" name="直接连接符 73"/>
            <p:cNvCxnSpPr/>
            <p:nvPr/>
          </p:nvCxnSpPr>
          <p:spPr>
            <a:xfrm flipH="1">
              <a:off x="358775" y="4358659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/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1"/>
          <p:cNvSpPr/>
          <p:nvPr/>
        </p:nvSpPr>
        <p:spPr>
          <a:xfrm>
            <a:off x="470262" y="738538"/>
            <a:ext cx="49542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주요 선행연구 표 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5" name="矩形 1">
            <a:extLst>
              <a:ext uri="{FF2B5EF4-FFF2-40B4-BE49-F238E27FC236}">
                <a16:creationId xmlns:a16="http://schemas.microsoft.com/office/drawing/2014/main" id="{11C39C86-6790-4EF6-BF92-46FB2F641658}"/>
              </a:ext>
            </a:extLst>
          </p:cNvPr>
          <p:cNvSpPr/>
          <p:nvPr/>
        </p:nvSpPr>
        <p:spPr>
          <a:xfrm>
            <a:off x="358774" y="159622"/>
            <a:ext cx="5236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</a:t>
            </a: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BEC4CC9-A82E-E1FD-09B4-5C06B8006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790976"/>
              </p:ext>
            </p:extLst>
          </p:nvPr>
        </p:nvGraphicFramePr>
        <p:xfrm>
          <a:off x="703585" y="1366633"/>
          <a:ext cx="7886700" cy="208788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857881">
                  <a:extLst>
                    <a:ext uri="{9D8B030D-6E8A-4147-A177-3AD203B41FA5}">
                      <a16:colId xmlns:a16="http://schemas.microsoft.com/office/drawing/2014/main" val="3790302581"/>
                    </a:ext>
                  </a:extLst>
                </a:gridCol>
                <a:gridCol w="1964987">
                  <a:extLst>
                    <a:ext uri="{9D8B030D-6E8A-4147-A177-3AD203B41FA5}">
                      <a16:colId xmlns:a16="http://schemas.microsoft.com/office/drawing/2014/main" val="2365728768"/>
                    </a:ext>
                  </a:extLst>
                </a:gridCol>
                <a:gridCol w="1945532">
                  <a:extLst>
                    <a:ext uri="{9D8B030D-6E8A-4147-A177-3AD203B41FA5}">
                      <a16:colId xmlns:a16="http://schemas.microsoft.com/office/drawing/2014/main" val="1580546476"/>
                    </a:ext>
                  </a:extLst>
                </a:gridCol>
                <a:gridCol w="2118300">
                  <a:extLst>
                    <a:ext uri="{9D8B030D-6E8A-4147-A177-3AD203B41FA5}">
                      <a16:colId xmlns:a16="http://schemas.microsoft.com/office/drawing/2014/main" val="249246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400" b="1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저자/연도</a:t>
                      </a:r>
                      <a:endParaRPr lang="ko-KR" sz="1400" b="1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400" b="1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데이터 샘플</a:t>
                      </a:r>
                      <a:endParaRPr lang="ko-KR" sz="1400" b="1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400" b="1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분석방법</a:t>
                      </a:r>
                      <a:endParaRPr lang="ko-KR" sz="1400" b="1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400" b="1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주요결과</a:t>
                      </a:r>
                      <a:endParaRPr lang="ko-KR" sz="1400" b="1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07464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Tekin et al. (2026)</a:t>
                      </a:r>
                      <a:endParaRPr 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Google </a:t>
                      </a: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Maps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/WhatsApp 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리뷰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BERT, </a:t>
                      </a:r>
                      <a:r>
                        <a:rPr lang="ko-KR" altLang="en-US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토픽분류</a:t>
                      </a:r>
                      <a:endParaRPr lang="ko-KR" altLang="en-US" sz="1200" b="0" kern="120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altLang="en-US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감성 기반 자동 행정서비스 개선</a:t>
                      </a:r>
                      <a:endParaRPr lang="ko-KR" altLang="en-US" sz="1200" b="0" kern="120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34275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Kaliba et al. (2026)</a:t>
                      </a:r>
                      <a:endParaRPr 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TripAdvisor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다국어 리뷰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BERTopic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감성분석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altLang="en-US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신뢰</a:t>
                      </a:r>
                      <a:r>
                        <a:rPr lang="en-US" altLang="ko-KR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만족도 증진</a:t>
                      </a:r>
                      <a:endParaRPr lang="ko-KR" altLang="en-US" sz="1200" b="0" kern="120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2673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He &amp; Zhang (2026)</a:t>
                      </a:r>
                      <a:endParaRPr 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박물관 온라인 리뷰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SnowNLP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, LDA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altLang="en-US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문화</a:t>
                      </a:r>
                      <a:r>
                        <a:rPr lang="en-US" altLang="ko-KR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서비스 중심 긍정평가</a:t>
                      </a:r>
                      <a:endParaRPr lang="ko-KR" altLang="en-US" sz="1200" b="0" kern="120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86041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Barrera (2026)</a:t>
                      </a:r>
                      <a:endParaRPr 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바르셀로나 관광지 리뷰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LDA, </a:t>
                      </a:r>
                      <a:r>
                        <a:rPr lang="ko-KR" altLang="en-US" sz="1200" b="0" kern="120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감성분석</a:t>
                      </a:r>
                      <a:endParaRPr lang="ko-KR" altLang="en-US" sz="1200" b="0" kern="120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매력요소 및 개선점 도출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6140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Jiang et al. (2025)</a:t>
                      </a:r>
                      <a:endParaRPr 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하얼빈 관광 리뷰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LDA, </a:t>
                      </a: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SnowNLP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감성 기반 경쟁력 진단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53960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Ali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et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(2022)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Marrakech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리뷰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LDA, 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감성분석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서비스 경험 개선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6079531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2C570C-6EB2-C578-0D13-91CDEAF89C60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11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Shape 19">
            <a:extLst>
              <a:ext uri="{FF2B5EF4-FFF2-40B4-BE49-F238E27FC236}">
                <a16:creationId xmlns:a16="http://schemas.microsoft.com/office/drawing/2014/main" id="{096A5A25-41A5-E7D2-AB9C-6985BEE93CA1}"/>
              </a:ext>
            </a:extLst>
          </p:cNvPr>
          <p:cNvSpPr/>
          <p:nvPr/>
        </p:nvSpPr>
        <p:spPr>
          <a:xfrm>
            <a:off x="664970" y="3633909"/>
            <a:ext cx="7963930" cy="1125356"/>
          </a:xfrm>
          <a:prstGeom prst="roundRect">
            <a:avLst>
              <a:gd name="adj" fmla="val 4571"/>
            </a:avLst>
          </a:prstGeom>
          <a:noFill/>
          <a:ln w="12700">
            <a:solidFill>
              <a:srgbClr val="D9532E"/>
            </a:solidFill>
            <a:prstDash val="solid"/>
          </a:ln>
        </p:spPr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속성 단위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(ABSA) 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및 </a:t>
            </a:r>
            <a:r>
              <a:rPr lang="ko-KR" altLang="en-US" sz="1200" b="1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멀티모달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감성 분석 등 세분화된 체계 미흡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Shahhosseini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&amp; Nasr, 2024; Soleymani et al., 2017).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비영어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200" b="1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저자원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언어 리뷰 분석 정확도와 실무 </a:t>
            </a:r>
            <a:r>
              <a:rPr lang="ko-KR" altLang="en-US" sz="1200" b="1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적용성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한계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Habbat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&amp; Nouri, 2024).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감성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토픽 분석과 실제 공간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서비스 최적화의 연계부족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(Tekin et al., 2026).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융합형 플랫폼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공공데이터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+UGC+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추천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의 적용 사례 부족</a:t>
            </a:r>
            <a:r>
              <a:rPr lang="en-US" altLang="ko-KR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.</a:t>
            </a:r>
            <a:endParaRPr lang="en" altLang="zh-CN" sz="1200" b="1" i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581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B8BD0-955D-8662-DAAA-024C9E26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9DAEB366-7786-9C50-C9C1-8CD87EE12B6E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D10829AD-F161-15D5-337B-95E3CEBA4DE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A6034A2-701D-7255-DCC2-C8C12FCD36CA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42AA615-36DE-4EE0-7A09-AA330357920C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A0E210F-ED72-CE55-0091-78BF07ED6D80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BF32C193-D4FD-37E4-130E-3D846B989A23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D1B1457-E4D9-C684-4FBA-99AA0D95D9D7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A5FDD28-9EA1-3D2C-345F-91C9B3797E77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602464-0A0A-3C74-44B0-A62BBD34DC18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0837BB94-2DAF-9826-BDD8-8A9DB1C78FAF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9CF21F9B-40D3-FF89-A93A-DB3A3E45F2DD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8E462433-7405-B19D-DA11-E6600CDBBE3C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D6F560CB-1D5C-B0B2-E9AC-B9130BC83D8F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54F540B-214A-084B-CDAF-B08DB58B2CAF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851263FE-CECC-5396-B333-4D0F0B0CFC13}"/>
              </a:ext>
            </a:extLst>
          </p:cNvPr>
          <p:cNvSpPr/>
          <p:nvPr/>
        </p:nvSpPr>
        <p:spPr>
          <a:xfrm>
            <a:off x="518319" y="869790"/>
            <a:ext cx="4086384" cy="400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관광 리뷰 기반 시공간 분석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20">
            <a:extLst>
              <a:ext uri="{FF2B5EF4-FFF2-40B4-BE49-F238E27FC236}">
                <a16:creationId xmlns:a16="http://schemas.microsoft.com/office/drawing/2014/main" id="{778A28DB-65A8-BFCE-8F1A-D73749ED2201}"/>
              </a:ext>
            </a:extLst>
          </p:cNvPr>
          <p:cNvSpPr txBox="1"/>
          <p:nvPr/>
        </p:nvSpPr>
        <p:spPr>
          <a:xfrm>
            <a:off x="608117" y="1372059"/>
            <a:ext cx="7909529" cy="250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6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최근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관광 리뷰와 시공간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Spatio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-Temporal)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데이터 분석을 융합하는 연구가 급증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(Meng et al., 2026; </a:t>
            </a:r>
            <a:r>
              <a:rPr lang="en-US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Kwanyou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2026; Liu &amp; Liu, 2026).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O-D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(Origin-Destination) Movement,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접근성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(Accessibility),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혼잡도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(Overcrowding), </a:t>
            </a:r>
            <a:r>
              <a:rPr lang="ko-KR" altLang="en-US" sz="14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히트맵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(Heatmap),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 통계 등 다양한 기법이 관광지 특성 분석과 지속가능 관광 관리에 적용되고 있다 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(Zhang et al., 2026; Noufe et al., 2026; Barrera-Barrera, 2026).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온라인 리뷰와 공공데이터를 결합하여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관광객의 이동 패턴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공간적 혼잡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접근성 문제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그리고 서비스 품질의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시공간적 차이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를</a:t>
            </a:r>
            <a:r>
              <a:rPr lang="ko-KR" altLang="en-US" sz="1400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정밀하게 진단하는 사례가 늘고 있다 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(Meng et al., 2026; </a:t>
            </a:r>
            <a:r>
              <a:rPr lang="en-US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Kwanyou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2026).</a:t>
            </a:r>
            <a:endParaRPr lang="en" altLang="zh-CN" sz="1400" i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21D84641-B518-B6FF-A444-271A492E39FC}"/>
              </a:ext>
            </a:extLst>
          </p:cNvPr>
          <p:cNvSpPr/>
          <p:nvPr/>
        </p:nvSpPr>
        <p:spPr>
          <a:xfrm>
            <a:off x="358774" y="159622"/>
            <a:ext cx="5236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 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0CF7C-28D6-597B-9244-CF32D2606D77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12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22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E004-037A-3280-BD93-F03383836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6F365B65-5AD4-F349-A669-4C0C4D578167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48611CF5-D544-390C-4875-2DB57918754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7104E46-27F7-6F38-8E52-EB0BE751F77E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9F2F4D9B-AA69-37ED-2548-24C57842B14C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A9ED67B-573E-AE9A-4650-A886EBE2DD1B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082634E7-A0AA-50B2-D3F8-1888088B36A0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0E735BA-FCBD-E1F4-EA98-243DDE723D71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9D96BA22-9D01-604F-63E4-951CCB3A0DEB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7497934E-7418-80F7-B593-5472E1F0D179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3FB4F45-260D-E835-09C2-78501753C967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AC4FBE93-05B3-0D4E-7B66-B4E9EC6EED26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A0ACD4B9-784C-1AAC-CF1A-1C0F0357180C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5B96523B-0AC3-ED18-4747-CA0AA1D235AE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8F593A7-5BD9-2E47-5F21-63F8C0EB12E9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05E9E326-FECA-595B-1D21-5539590DE859}"/>
              </a:ext>
            </a:extLst>
          </p:cNvPr>
          <p:cNvSpPr/>
          <p:nvPr/>
        </p:nvSpPr>
        <p:spPr>
          <a:xfrm>
            <a:off x="518319" y="793509"/>
            <a:ext cx="4086384" cy="400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관광 리뷰 기반 시공간 분석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20">
            <a:extLst>
              <a:ext uri="{FF2B5EF4-FFF2-40B4-BE49-F238E27FC236}">
                <a16:creationId xmlns:a16="http://schemas.microsoft.com/office/drawing/2014/main" id="{9E194990-258F-EFFE-595F-19760B1CDCC6}"/>
              </a:ext>
            </a:extLst>
          </p:cNvPr>
          <p:cNvSpPr txBox="1"/>
          <p:nvPr/>
        </p:nvSpPr>
        <p:spPr>
          <a:xfrm>
            <a:off x="553434" y="1503296"/>
            <a:ext cx="79095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온라인 리뷰의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텍스트 마이닝 결과와 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GIS,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네트워크 분석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 접근성 지표를 결합</a:t>
            </a:r>
            <a:r>
              <a:rPr lang="ko-KR" altLang="en-US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하여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관광지별 공간적 강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약점 및 혼잡 리스크를 체계적으로 진단하는 접근이 확산되고 있다 </a:t>
            </a:r>
            <a:r>
              <a:rPr lang="en-US" altLang="ko-KR" sz="105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(Meng et al., 2026; Zhang et al., 2026).</a:t>
            </a:r>
          </a:p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대규모 리뷰 데이터에서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교통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접근성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혼잡 등 공간적 이슈에 대한 감성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토픽 분석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을 실시하여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서비스 개선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수요 분산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지속가능 관광 관리로 연결시키는 연구가 활발한다 </a:t>
            </a:r>
            <a:r>
              <a:rPr lang="en-US" altLang="ko-KR" sz="105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(Liu &amp; Liu, 2026; </a:t>
            </a:r>
            <a:r>
              <a:rPr lang="en-US" altLang="ko-KR" sz="105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Kwanyou</a:t>
            </a:r>
            <a:r>
              <a:rPr lang="en-US" altLang="ko-KR" sz="105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2026).</a:t>
            </a:r>
            <a:endParaRPr lang="en-US" altLang="ko-KR" sz="1200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Crowding Grammar Model, Quadrant Analysis, Sentiment-risk Indicator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등 새로운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감성 융합 지표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가 개발되고 있으며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심리적 혼잡도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주관적 혼잡 체감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),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 분포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이용자 유형별 차이 등 세부적 이슈가 다각도로 분석되고 있다 </a:t>
            </a:r>
            <a:r>
              <a:rPr lang="en-US" altLang="ko-KR" sz="105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05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Kwanyou</a:t>
            </a:r>
            <a:r>
              <a:rPr lang="en-US" altLang="ko-KR" sz="105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2026; Meng et al., 2026).</a:t>
            </a:r>
          </a:p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접근성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(Accessibility)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과 서비스 품질의 공간적 불균형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목적지 등급과 실제 평가의 괴리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대중교통과 관광지 네트워크의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시공간적 최적화 방안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이</a:t>
            </a:r>
            <a:r>
              <a:rPr lang="ko-KR" altLang="en-US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제시되고 있다 </a:t>
            </a:r>
            <a:r>
              <a:rPr lang="en-US" altLang="ko-KR" sz="105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(Noufe et al., 2026; Barrera-Barrera, 2026).</a:t>
            </a:r>
          </a:p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기술적으론 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NLP, </a:t>
            </a:r>
            <a:r>
              <a:rPr lang="ko-KR" altLang="en-US" sz="120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히트맵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 클러스터링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O-D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플로우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GIS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네트워크 분석 등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다양한 공간통계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·AI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기반 기법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이 활용되고 있다 </a:t>
            </a:r>
            <a:r>
              <a:rPr lang="en-US" altLang="ko-KR" sz="105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(Sharma et al., 2026; Zhang et al., 2026).</a:t>
            </a:r>
            <a:endParaRPr lang="en-US" altLang="ko-KR" sz="1200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324D5043-8EFC-FE89-AFC5-1D37D6DFA561}"/>
              </a:ext>
            </a:extLst>
          </p:cNvPr>
          <p:cNvSpPr/>
          <p:nvPr/>
        </p:nvSpPr>
        <p:spPr>
          <a:xfrm>
            <a:off x="358774" y="159622"/>
            <a:ext cx="5236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 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785FB8-B483-103F-BC87-0F5AB95B5AAE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13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217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35093-B3B3-83F6-9547-60895E05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FF6B0087-5270-6E03-B046-CE8B20E39C75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751C067E-7131-0317-674A-7665204993D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824639B-92BF-E890-2406-6C3CDB4C3E58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AE2FF49-A4FC-358E-7022-7445AC398F91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AA45FE99-0A64-4892-6924-7522EACBD121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C30DE143-2AA4-74F6-B168-96EB66227C4A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38A9CE6-EB55-D4C8-14F5-A427A2245BB8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73587208-71CF-D616-E568-C3E474534449}"/>
              </a:ext>
            </a:extLst>
          </p:cNvPr>
          <p:cNvGrpSpPr/>
          <p:nvPr/>
        </p:nvGrpSpPr>
        <p:grpSpPr>
          <a:xfrm>
            <a:off x="358775" y="705172"/>
            <a:ext cx="8426450" cy="4246210"/>
            <a:chOff x="358775" y="984537"/>
            <a:chExt cx="8183341" cy="3374122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9E10E697-DE58-1212-BD1D-A3C578DC0496}"/>
                </a:ext>
              </a:extLst>
            </p:cNvPr>
            <p:cNvCxnSpPr/>
            <p:nvPr/>
          </p:nvCxnSpPr>
          <p:spPr>
            <a:xfrm flipH="1">
              <a:off x="358775" y="4358659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C531226-0A50-B57A-2CEA-725C15F20B63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51049FA7-35F6-60DA-018C-051249C6D697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99F8905-85E1-7B0F-01B8-66CABE980DCA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4E31C8EE-9E6D-82A4-25B4-D13486AAAC7C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79719EC-579F-8BCD-200F-B9071D73F865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A09806DA-6D25-6775-F2A9-9B9460D88DBA}"/>
              </a:ext>
            </a:extLst>
          </p:cNvPr>
          <p:cNvSpPr/>
          <p:nvPr/>
        </p:nvSpPr>
        <p:spPr>
          <a:xfrm>
            <a:off x="518319" y="869790"/>
            <a:ext cx="49542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주요 선행연구 표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5A49DA9-9C25-A07A-6062-4B8160AE5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610614"/>
              </p:ext>
            </p:extLst>
          </p:nvPr>
        </p:nvGraphicFramePr>
        <p:xfrm>
          <a:off x="518319" y="1317945"/>
          <a:ext cx="8222897" cy="22860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819281">
                  <a:extLst>
                    <a:ext uri="{9D8B030D-6E8A-4147-A177-3AD203B41FA5}">
                      <a16:colId xmlns:a16="http://schemas.microsoft.com/office/drawing/2014/main" val="910089623"/>
                    </a:ext>
                  </a:extLst>
                </a:gridCol>
                <a:gridCol w="1957470">
                  <a:extLst>
                    <a:ext uri="{9D8B030D-6E8A-4147-A177-3AD203B41FA5}">
                      <a16:colId xmlns:a16="http://schemas.microsoft.com/office/drawing/2014/main" val="3995487827"/>
                    </a:ext>
                  </a:extLst>
                </a:gridCol>
                <a:gridCol w="2221171">
                  <a:extLst>
                    <a:ext uri="{9D8B030D-6E8A-4147-A177-3AD203B41FA5}">
                      <a16:colId xmlns:a16="http://schemas.microsoft.com/office/drawing/2014/main" val="1726742437"/>
                    </a:ext>
                  </a:extLst>
                </a:gridCol>
                <a:gridCol w="2224975">
                  <a:extLst>
                    <a:ext uri="{9D8B030D-6E8A-4147-A177-3AD203B41FA5}">
                      <a16:colId xmlns:a16="http://schemas.microsoft.com/office/drawing/2014/main" val="3755095968"/>
                    </a:ext>
                  </a:extLst>
                </a:gridCol>
              </a:tblGrid>
              <a:tr h="123092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저자/연도</a:t>
                      </a:r>
                      <a:endParaRPr lang="ko-KR" sz="1200" b="1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데이터 샘플</a:t>
                      </a:r>
                      <a:endParaRPr lang="ko-KR" sz="1200" b="1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분석방법</a:t>
                      </a:r>
                      <a:endParaRPr lang="ko-KR" sz="1200" b="1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주요결과</a:t>
                      </a:r>
                      <a:endParaRPr lang="ko-KR" sz="1200" b="1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087238"/>
                  </a:ext>
                </a:extLst>
              </a:tr>
              <a:tr h="20998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Meng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</a:t>
                      </a:r>
                      <a:r>
                        <a:rPr lang="ko-KR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우한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관광지·온라인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리뷰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GIS 네트워크, 접근성 분석, 텍스트마이닝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등급-접근성 불일치, 공간·심리적 접근성 진단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63040051"/>
                  </a:ext>
                </a:extLst>
              </a:tr>
              <a:tr h="20998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Kwanyou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</a:t>
                      </a:r>
                      <a:r>
                        <a:rPr lang="ko-KR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태국 관광지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TripAdvisor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리뷰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Crowding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Grammar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Model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, NLP,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히트맵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군집별 혼잡 체감·심리적 혼잡 분석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23654531"/>
                  </a:ext>
                </a:extLst>
              </a:tr>
              <a:tr h="20998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Liu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&amp;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Liu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</a:t>
                      </a:r>
                      <a:r>
                        <a:rPr lang="ko-KR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중국 명승지 Ctrip 리뷰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토픽모델, 감성분석,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Sentiment-risk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접근성·서비스별 감성 리스크 진단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03924342"/>
                  </a:ext>
                </a:extLst>
              </a:tr>
              <a:tr h="20998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Zhang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</a:t>
                      </a:r>
                      <a:r>
                        <a:rPr lang="ko-KR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중국 공연관광 리뷰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감성분석, 공간 분석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공간별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만족도·접근성·연계성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평가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54315968"/>
                  </a:ext>
                </a:extLst>
              </a:tr>
              <a:tr h="123092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Sharma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</a:t>
                      </a:r>
                      <a:r>
                        <a:rPr lang="ko-KR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인도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관광가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리뷰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STM, LLM 감성, 메타데이터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시공간 혼잡,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체류·이동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리듬 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20681076"/>
                  </a:ext>
                </a:extLst>
              </a:tr>
            </a:tbl>
          </a:graphicData>
        </a:graphic>
      </p:graphicFrame>
      <p:sp>
        <p:nvSpPr>
          <p:cNvPr id="6" name="矩形 1">
            <a:extLst>
              <a:ext uri="{FF2B5EF4-FFF2-40B4-BE49-F238E27FC236}">
                <a16:creationId xmlns:a16="http://schemas.microsoft.com/office/drawing/2014/main" id="{4C90E1D7-8571-299D-008C-E6228DC2E79C}"/>
              </a:ext>
            </a:extLst>
          </p:cNvPr>
          <p:cNvSpPr/>
          <p:nvPr/>
        </p:nvSpPr>
        <p:spPr>
          <a:xfrm>
            <a:off x="358774" y="159622"/>
            <a:ext cx="5236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 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Shape 19">
            <a:extLst>
              <a:ext uri="{FF2B5EF4-FFF2-40B4-BE49-F238E27FC236}">
                <a16:creationId xmlns:a16="http://schemas.microsoft.com/office/drawing/2014/main" id="{C447EA25-71DC-DBB9-9279-616FC6CD978A}"/>
              </a:ext>
            </a:extLst>
          </p:cNvPr>
          <p:cNvSpPr/>
          <p:nvPr/>
        </p:nvSpPr>
        <p:spPr>
          <a:xfrm>
            <a:off x="656918" y="3707557"/>
            <a:ext cx="7963930" cy="1125356"/>
          </a:xfrm>
          <a:prstGeom prst="roundRect">
            <a:avLst>
              <a:gd name="adj" fmla="val 4571"/>
            </a:avLst>
          </a:prstGeom>
          <a:noFill/>
          <a:ln w="12700">
            <a:solidFill>
              <a:srgbClr val="D9532E"/>
            </a:solidFill>
            <a:prstDash val="solid"/>
          </a:ln>
        </p:spPr>
        <p:txBody>
          <a:bodyPr/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온라인 리뷰의 공간정보와 실제 이동데이터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교통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GPS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등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연계 및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O-D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분석 연구는 부족 </a:t>
            </a:r>
            <a:r>
              <a:rPr lang="en-US" altLang="ko-KR" sz="105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(Meng et al., 2026).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심리적 혼잡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(Perceived Overcrowding)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등 주관적 공간 데이터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감성 통합 연구가 미흡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Kwanyou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2026).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분석 결과를  플랫폼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맞춤형 추천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혼잡 알림 등 서비스로 연계한 적용 사례가 드묾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감성 분석과 실제 정책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인프라 개선 연계 필요성 지속 대두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(Liu &amp; Liu, 2026).</a:t>
            </a:r>
            <a:endParaRPr lang="en" altLang="zh-CN" sz="1200" i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23E41-D34A-2058-B32D-EBFE643489FE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14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791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6F8D-E696-4923-B70D-04166ECF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8496F8CC-14E6-EEE5-D4EC-4E32565B5959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6EDC8536-B658-19FF-7268-8FF92D92649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539A680-45D2-D89A-720A-85F77816D2B2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3DA8C17-34C3-6162-687A-586163BAA09E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37BFBFCE-C085-002C-2C65-8B47644BC29B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9DD778F0-E703-01D9-F2FA-4CE8DE957322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39BE946-AD03-290C-1E63-36A4A8B7C535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5CA1BCC5-3786-8158-D47B-DCD1453B261E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9CD1BF0-F9BB-FE8B-A36B-A037894CDD37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1704CBA-499D-CA3C-0846-BDDDD96C1339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35193140-C7DD-D3B1-5063-379160BA4505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C5323E51-CF92-CB4A-FEAB-2219C00EA45F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F5C7AB0B-164B-AF01-4252-0DED54888181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72C5564-0AC3-89AD-ED35-E794CDD657E0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0AB80C11-CCFD-BDF6-BC70-064A133CB112}"/>
              </a:ext>
            </a:extLst>
          </p:cNvPr>
          <p:cNvSpPr/>
          <p:nvPr/>
        </p:nvSpPr>
        <p:spPr>
          <a:xfrm>
            <a:off x="518319" y="869790"/>
            <a:ext cx="4086384" cy="400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관광지 추천 시스템 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20">
            <a:extLst>
              <a:ext uri="{FF2B5EF4-FFF2-40B4-BE49-F238E27FC236}">
                <a16:creationId xmlns:a16="http://schemas.microsoft.com/office/drawing/2014/main" id="{901EB891-AA6E-7A63-3DE9-2B2EDC8DB1C8}"/>
              </a:ext>
            </a:extLst>
          </p:cNvPr>
          <p:cNvSpPr txBox="1"/>
          <p:nvPr/>
        </p:nvSpPr>
        <p:spPr>
          <a:xfrm>
            <a:off x="584533" y="1069844"/>
            <a:ext cx="7909529" cy="1792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관광지 추천 시스템 연구는 빅데이터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인공지능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감성분석 등 첨단기술을 바탕으로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맞춤형 여행지 추천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속성기반 추천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사용자 선호 반영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등 다양한 혁신적 접근을 시도하고 있다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Puttinaovarat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2026; Majeed et al., 2026; Xu et al., 2026).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특히 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Aspect-Based Sentiment Analysis(ABSA),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위치 정보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추천 알고리즘 융합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을</a:t>
            </a:r>
            <a:r>
              <a:rPr lang="ko-KR" altLang="en-US" sz="1400" dirty="0">
                <a:solidFill>
                  <a:srgbClr val="00B0F0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통해 추천의 정밀도와 사용자 만족도를 높이고 있고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하이브리드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딥러닝 기반 모델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대형 언어모델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(LLM)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활용 등 기술적 진화가 두드러진다 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(Tran &amp; Tran, 2026; Danish et al., 2026).</a:t>
            </a:r>
            <a:endParaRPr lang="en" altLang="zh-CN" sz="1400" i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D336712A-A821-1F13-11CD-EB95400D6707}"/>
              </a:ext>
            </a:extLst>
          </p:cNvPr>
          <p:cNvSpPr/>
          <p:nvPr/>
        </p:nvSpPr>
        <p:spPr>
          <a:xfrm>
            <a:off x="358774" y="159622"/>
            <a:ext cx="5236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 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F65ABE2-CB23-70B9-C553-4F6598F878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76" t="8756" r="12127" b="8137"/>
          <a:stretch>
            <a:fillRect/>
          </a:stretch>
        </p:blipFill>
        <p:spPr>
          <a:xfrm>
            <a:off x="3405279" y="2922222"/>
            <a:ext cx="3117668" cy="18789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858BCC-4673-1A8F-1DDF-E39B6CB99279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15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548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B23E-6AE5-31A5-97EA-40B8D8EB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8D9B01D0-1921-9843-FF29-4F80424B8ED1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4946E37C-247D-4D4D-3CDD-5A12031F1D5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7AE8AE0-92B2-6295-625D-F41276FC4221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771DD82-497E-AAED-1A50-A64760D30DE5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AD52CEB-AD04-6C53-58FB-DC52A181D225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9955C0EE-2FFE-8693-CDE3-CFD736444720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7AD81A2-67CA-0A9A-2CA8-13FCB8C5D5BC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4AA30D3-5002-E0EC-255D-FD5FFC8E5528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B7717DBC-EE2C-C5F1-1EE1-B5AFAAB07F7F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37D6D5D-0F00-9379-18F0-5D0818047492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BF410CD-4605-0E70-E33C-83869A9EE2DD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1A877ED-D1C9-AB19-6475-2BE84AFA78AA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D5056A74-9350-BB7F-0895-89A67B62CE28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3BF0466-88DE-BA24-9C33-EE6490A58900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F71CC026-2D4F-F9BF-6327-71F2975F50F5}"/>
              </a:ext>
            </a:extLst>
          </p:cNvPr>
          <p:cNvSpPr/>
          <p:nvPr/>
        </p:nvSpPr>
        <p:spPr>
          <a:xfrm>
            <a:off x="518319" y="869790"/>
            <a:ext cx="4086384" cy="400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관광지 추천 시스템 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20">
            <a:extLst>
              <a:ext uri="{FF2B5EF4-FFF2-40B4-BE49-F238E27FC236}">
                <a16:creationId xmlns:a16="http://schemas.microsoft.com/office/drawing/2014/main" id="{759417D2-16AB-973A-6E88-BB828987AE69}"/>
              </a:ext>
            </a:extLst>
          </p:cNvPr>
          <p:cNvSpPr txBox="1"/>
          <p:nvPr/>
        </p:nvSpPr>
        <p:spPr>
          <a:xfrm>
            <a:off x="611277" y="1641146"/>
            <a:ext cx="7909529" cy="290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GIS,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연관규칙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협업필터링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딥러닝 등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다양한 </a:t>
            </a:r>
            <a:r>
              <a:rPr lang="ko-KR" altLang="en-US" sz="1200" b="1" dirty="0" err="1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데이터마이닝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·AI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접근이 관광지 추천 시스템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에 적용되어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공간정보와 사용자 선호를 결합한 맞춤형 추천이 </a:t>
            </a:r>
            <a:r>
              <a:rPr lang="ko-KR" altLang="en-US" sz="120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가능해졌다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0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00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Puttinaovarat</a:t>
            </a:r>
            <a:r>
              <a:rPr lang="en-US" altLang="ko-KR" sz="10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2026; Majeed et al., 2026).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ABSA, SBERT, BERT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등 최신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감성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속성 분석 알고리즘이 추천 시스템에 통합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되어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리뷰 내 개별 속성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감정의 정밀 분석을 통한 맞춤형 추천 정확도가 향상되고 있다 </a:t>
            </a:r>
            <a:r>
              <a:rPr lang="en-US" altLang="ko-KR" sz="105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(Xu et al., 2026; Danish et al., 2026; Tran &amp; Tran, 2026).</a:t>
            </a:r>
            <a:endParaRPr lang="en-US" altLang="ko-KR" sz="1200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하이브리드 추천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여러 필터링 기술 융합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), </a:t>
            </a:r>
            <a:r>
              <a:rPr lang="ko-KR" altLang="en-US" sz="120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멀티태스크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그래프 신경망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대형 언어모델 기반 추천이 데이터 희소성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콜드스타트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등 기존 한계를 극복하는 데 기여한다 </a:t>
            </a:r>
            <a:r>
              <a:rPr lang="en-US" altLang="ko-KR" sz="10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(Majeed et al., 2026; Danish et al., 2026).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다국어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저자원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환경에서의 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ABSA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성능 개선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속성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카테고리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의견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감성 </a:t>
            </a:r>
            <a:r>
              <a:rPr lang="ko-KR" altLang="en-US" sz="1200" b="1" dirty="0" err="1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추출등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세분화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된 분석 기법이 개발되고 있다 </a:t>
            </a:r>
            <a:r>
              <a:rPr lang="en-US" altLang="ko-KR" sz="10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(Xu et al., 2026; </a:t>
            </a:r>
            <a:r>
              <a:rPr lang="en-US" altLang="ko-KR" sz="1000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Fehle</a:t>
            </a:r>
            <a:r>
              <a:rPr lang="en-US" altLang="ko-KR" sz="10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2026).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추천 시스템의 투명성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설명가능성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실제 사용자 만족도 평가</a:t>
            </a:r>
            <a:r>
              <a:rPr lang="en-US" altLang="ko-KR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플랫폼</a:t>
            </a:r>
            <a:r>
              <a:rPr lang="en-US" altLang="ko-KR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b="1" dirty="0">
                <a:ln w="19050">
                  <a:noFill/>
                </a:ln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알고리즘의 실증 적용 </a:t>
            </a:r>
            <a:r>
              <a:rPr lang="ko-KR" altLang="en-US" sz="120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등이 중요한 연구 트렌드로 부각되고 있다 </a:t>
            </a:r>
            <a:r>
              <a:rPr lang="en-US" altLang="ko-KR" sz="1050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(Danish et al., 2026).</a:t>
            </a:r>
            <a:endParaRPr lang="en-US" altLang="ko-KR" sz="1200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295A197F-D443-8F59-46B5-9AA0C0E401C7}"/>
              </a:ext>
            </a:extLst>
          </p:cNvPr>
          <p:cNvSpPr/>
          <p:nvPr/>
        </p:nvSpPr>
        <p:spPr>
          <a:xfrm>
            <a:off x="358774" y="159622"/>
            <a:ext cx="5236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 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B3D3C-9888-CFB9-902A-E64270ED599F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16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883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21EDC-F176-3215-E6B6-8A202A32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5FEDB15F-C9CD-A735-E539-ECBE77006CBE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9B116369-398E-6F5E-23C4-D3E65E8B2E8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5DCB3EC-A5F4-A3FE-9FAC-8F13BD7A94F4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665ABCC-431F-473E-530D-02718B5678B3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E7D5FD4E-48D0-C734-8581-ED46BC9F965F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4684764D-13DA-DD82-CA1E-1C35723D356E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FC19237-E3EF-3FB4-EB96-C530E9454B35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92EB28E7-C3D7-4694-ADC1-45D51DB5AFAD}"/>
              </a:ext>
            </a:extLst>
          </p:cNvPr>
          <p:cNvGrpSpPr/>
          <p:nvPr/>
        </p:nvGrpSpPr>
        <p:grpSpPr>
          <a:xfrm>
            <a:off x="358775" y="705172"/>
            <a:ext cx="8426450" cy="4246210"/>
            <a:chOff x="358775" y="984537"/>
            <a:chExt cx="8183341" cy="3374122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392F735-EFAE-1AE9-AC09-BD0964AE16C3}"/>
                </a:ext>
              </a:extLst>
            </p:cNvPr>
            <p:cNvCxnSpPr/>
            <p:nvPr/>
          </p:nvCxnSpPr>
          <p:spPr>
            <a:xfrm flipH="1">
              <a:off x="358775" y="4358659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D5E06B34-4A14-2659-15D9-2CBCCA80C395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8AFDF72-1AAE-A399-9350-64DE70685BEF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08660ED-62F6-7841-5E44-C1B9EB0509E2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F3B8FA8-7BDE-683D-9930-0BD092BA3B84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4C983BF-1270-8750-8E39-D9F35BD30AC7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6E4F1796-8BD4-00E5-18ED-D379BD936CA9}"/>
              </a:ext>
            </a:extLst>
          </p:cNvPr>
          <p:cNvSpPr/>
          <p:nvPr/>
        </p:nvSpPr>
        <p:spPr>
          <a:xfrm>
            <a:off x="518319" y="869790"/>
            <a:ext cx="49542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주요 선행연구 표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CBB8FB2-2629-AC8A-3735-D1E79F6FA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230220"/>
              </p:ext>
            </p:extLst>
          </p:nvPr>
        </p:nvGraphicFramePr>
        <p:xfrm>
          <a:off x="628650" y="1454309"/>
          <a:ext cx="7886700" cy="291084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308409400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51565918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9438742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217015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저자/연도</a:t>
                      </a:r>
                      <a:endParaRPr lang="ko-KR" sz="1200" b="1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데이터 샘플</a:t>
                      </a:r>
                      <a:endParaRPr lang="ko-KR" sz="1200" b="1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분석방법</a:t>
                      </a:r>
                      <a:endParaRPr lang="ko-KR" sz="1200" b="1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주요결과</a:t>
                      </a:r>
                      <a:endParaRPr lang="ko-KR" sz="1200" b="1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592812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Puttinaovarat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관광지·GIS·사용자 데이터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GIS, 연관규칙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위치 기반 맞춤형 추천, 공간분산 지원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19022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Majeed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</a:t>
                      </a:r>
                      <a:r>
                        <a:rPr lang="ko-KR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TripAdvisor 리뷰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하이브리드 추천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콜드스타트·희소성 극복, 추천정확도 향상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4676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Xu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</a:t>
                      </a:r>
                      <a:r>
                        <a:rPr lang="ko-KR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관광 리뷰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ABSA(ACOSLLM), 대형언어모델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속성-카테고리-의견-감성 정밀추출, 성능우수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02786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Danish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al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</a:t>
                      </a:r>
                      <a:r>
                        <a:rPr lang="ko-KR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IMDb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Amazon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리뷰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SBERT, ABSA,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협업필터링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설명가능·감성융합 추천, 실제 만족도 높음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9747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Tran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&amp;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Tran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 (</a:t>
                      </a:r>
                      <a:r>
                        <a:rPr lang="ko-KR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호치민 호텔 리뷰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PhoBERT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sz="1200" b="0" dirty="0" err="1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BiLSTM</a:t>
                      </a:r>
                      <a:r>
                        <a:rPr lang="ko-KR" sz="1200" b="0" dirty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, ABSA</a:t>
                      </a:r>
                      <a:endParaRPr lang="ko-KR" sz="1200" b="0" i="0" dirty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0">
                          <a:solidFill>
                            <a:schemeClr val="bg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베트남어 ABSA, 속성별 감성·추천 정확도 향상</a:t>
                      </a:r>
                      <a:endParaRPr lang="ko-KR" sz="1200" b="0" i="0">
                        <a:solidFill>
                          <a:schemeClr val="bg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22646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 dirty="0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본 연구</a:t>
                      </a:r>
                      <a:endParaRPr lang="ko-KR" sz="1200" b="1" i="0" dirty="0">
                        <a:solidFill>
                          <a:schemeClr val="accent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한국 58개 관광지 다국어 리뷰+4종 공공데이터</a:t>
                      </a:r>
                      <a:endParaRPr lang="ko-KR" sz="1200" b="1" i="0">
                        <a:solidFill>
                          <a:schemeClr val="accent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 dirty="0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XLM-</a:t>
                      </a:r>
                      <a:r>
                        <a:rPr lang="ko-KR" sz="1200" b="1" dirty="0" err="1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RoBERTa</a:t>
                      </a:r>
                      <a:r>
                        <a:rPr lang="ko-KR" sz="1200" b="1" dirty="0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sz="1200" b="1" dirty="0" err="1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BERTopic</a:t>
                      </a:r>
                      <a:r>
                        <a:rPr lang="ko-KR" sz="1200" b="1" dirty="0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, ABSA, GIS, 공간결합</a:t>
                      </a:r>
                      <a:endParaRPr lang="ko-KR" sz="1200" b="1" i="0" dirty="0">
                        <a:solidFill>
                          <a:schemeClr val="accent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ko-KR" sz="1200" b="1" dirty="0" err="1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다국어·공공데이터</a:t>
                      </a:r>
                      <a:r>
                        <a:rPr lang="ko-KR" sz="1200" b="1" dirty="0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융합, </a:t>
                      </a:r>
                      <a:r>
                        <a:rPr lang="ko-KR" sz="1200" b="1" dirty="0" err="1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속성·공간</a:t>
                      </a:r>
                      <a:r>
                        <a:rPr lang="ko-KR" sz="1200" b="1" dirty="0">
                          <a:solidFill>
                            <a:schemeClr val="accent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기반 추천</a:t>
                      </a:r>
                      <a:endParaRPr lang="ko-KR" sz="1200" b="1" i="0" dirty="0">
                        <a:solidFill>
                          <a:schemeClr val="accent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93799514"/>
                  </a:ext>
                </a:extLst>
              </a:tr>
            </a:tbl>
          </a:graphicData>
        </a:graphic>
      </p:graphicFrame>
      <p:sp>
        <p:nvSpPr>
          <p:cNvPr id="5" name="矩形 1">
            <a:extLst>
              <a:ext uri="{FF2B5EF4-FFF2-40B4-BE49-F238E27FC236}">
                <a16:creationId xmlns:a16="http://schemas.microsoft.com/office/drawing/2014/main" id="{A5D9222F-3CA2-5BB2-11FC-394A6AAE066B}"/>
              </a:ext>
            </a:extLst>
          </p:cNvPr>
          <p:cNvSpPr/>
          <p:nvPr/>
        </p:nvSpPr>
        <p:spPr>
          <a:xfrm>
            <a:off x="358774" y="159622"/>
            <a:ext cx="5236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 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3E6B4-6433-422C-62FB-9611B2C7D825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17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869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637F2-0832-D24A-E7CE-326C985E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E19D8BE3-50AA-F8F9-3AC0-846CDF1C9129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04F1B551-B41A-0F0A-0D16-186BDC0FDC5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B233625-1E82-957F-7783-9AD23A7270C2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2654A6FA-19E0-11FB-6782-A1BBA3DF6B87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F61B61A-F80F-1EFF-A073-D20E876F2EC4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E8847FBB-1CF8-E671-7D80-1CB0007E387F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CE42B0A-2F9F-ADEC-A88E-7D52D4F77587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C24D792-B838-65EC-EC6A-3B6F32C409B4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92AD61C7-E40C-4AE5-93F6-1A728CA5FFA2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F4442689-2D3F-C307-8FC3-3E09F034ADF8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3CBDD9B4-71F5-D065-D73A-610D54E3BD73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87297B14-C425-9484-6D43-17048AE9367F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AEDFA2A6-E8A2-6A1E-8ED1-14C4476E8E9D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3B7F4B7-FA71-99EF-2557-DF47D7A41D76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矩形 21">
            <a:extLst>
              <a:ext uri="{FF2B5EF4-FFF2-40B4-BE49-F238E27FC236}">
                <a16:creationId xmlns:a16="http://schemas.microsoft.com/office/drawing/2014/main" id="{C09DD193-EB67-ED52-A68B-1F9A0A0E8CCD}"/>
              </a:ext>
            </a:extLst>
          </p:cNvPr>
          <p:cNvSpPr/>
          <p:nvPr/>
        </p:nvSpPr>
        <p:spPr>
          <a:xfrm>
            <a:off x="518319" y="869790"/>
            <a:ext cx="4086384" cy="400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관광지 추천 시스템 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6" name="文本框 20">
            <a:extLst>
              <a:ext uri="{FF2B5EF4-FFF2-40B4-BE49-F238E27FC236}">
                <a16:creationId xmlns:a16="http://schemas.microsoft.com/office/drawing/2014/main" id="{0F8808D9-621A-1E61-6459-3B66F5619103}"/>
              </a:ext>
            </a:extLst>
          </p:cNvPr>
          <p:cNvSpPr txBox="1"/>
          <p:nvPr/>
        </p:nvSpPr>
        <p:spPr>
          <a:xfrm>
            <a:off x="499678" y="3423940"/>
            <a:ext cx="813272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ABSA,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대형 언어모델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GIS 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연계 등 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기술 적용 및 사용자 맞춤형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속성 기반 추천의 실용성 부각</a:t>
            </a:r>
            <a:r>
              <a:rPr lang="en-US" altLang="ko-KR" sz="14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본 연구는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TripAdvisor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다국어 리뷰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+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공공데이터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+ABSA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기반 속성 추천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XLM-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RoBERTa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BERTopic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공간분석등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통해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플랫폼 구축 속성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선호 융합형 추천 시스템을 국내 관광지에 실증적으로 구현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기존 연구의 한계를 극복함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.</a:t>
            </a:r>
            <a:endParaRPr lang="en" altLang="zh-CN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文本框 20">
            <a:extLst>
              <a:ext uri="{FF2B5EF4-FFF2-40B4-BE49-F238E27FC236}">
                <a16:creationId xmlns:a16="http://schemas.microsoft.com/office/drawing/2014/main" id="{2E1FCE53-326C-8A2C-152E-CBA8B674C2C2}"/>
              </a:ext>
            </a:extLst>
          </p:cNvPr>
          <p:cNvSpPr txBox="1"/>
          <p:nvPr/>
        </p:nvSpPr>
        <p:spPr>
          <a:xfrm>
            <a:off x="608117" y="1372059"/>
            <a:ext cx="7909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6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연구 공백</a:t>
            </a:r>
            <a:endParaRPr lang="en-US" altLang="ko-KR" sz="16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7007237-22A5-C8DD-27FE-63959652CBE0}"/>
              </a:ext>
            </a:extLst>
          </p:cNvPr>
          <p:cNvSpPr/>
          <p:nvPr/>
        </p:nvSpPr>
        <p:spPr>
          <a:xfrm>
            <a:off x="4265314" y="2962970"/>
            <a:ext cx="449317" cy="42283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7CA6AB95-985B-CEC6-83FC-92F72949BAEA}"/>
              </a:ext>
            </a:extLst>
          </p:cNvPr>
          <p:cNvSpPr/>
          <p:nvPr/>
        </p:nvSpPr>
        <p:spPr>
          <a:xfrm>
            <a:off x="358774" y="159622"/>
            <a:ext cx="5236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Literature Review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선행연구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1" name="Shape 19">
            <a:extLst>
              <a:ext uri="{FF2B5EF4-FFF2-40B4-BE49-F238E27FC236}">
                <a16:creationId xmlns:a16="http://schemas.microsoft.com/office/drawing/2014/main" id="{65152F52-08CA-45AF-E153-516910051DAF}"/>
              </a:ext>
            </a:extLst>
          </p:cNvPr>
          <p:cNvSpPr/>
          <p:nvPr/>
        </p:nvSpPr>
        <p:spPr>
          <a:xfrm>
            <a:off x="557333" y="1736695"/>
            <a:ext cx="7963930" cy="1125356"/>
          </a:xfrm>
          <a:prstGeom prst="roundRect">
            <a:avLst>
              <a:gd name="adj" fmla="val 4571"/>
            </a:avLst>
          </a:prstGeom>
          <a:noFill/>
          <a:ln w="12700">
            <a:solidFill>
              <a:srgbClr val="D9532E"/>
            </a:solidFill>
            <a:prstDash val="solid"/>
          </a:ln>
        </p:spPr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리뷰 기반 추천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텍스트 내 세부 속성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상황별 맞춤 추천의 실증적 적용 사례는 아직 제한적이다 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(Xu et al., 2026).</a:t>
            </a: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ABSA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와 추천 시스템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공간정보 연동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플랫폼 내 적용사례가 많지 않음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다국어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저자원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환경에서 추천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감성분석 모델의 일반화 가능성과 실제 </a:t>
            </a:r>
            <a:r>
              <a:rPr lang="ko-KR" alt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적용성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추가 연구 필요 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05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Fehle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et al., 2026).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추천 시스템의 설명가능성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신뢰도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사용자 인터페이스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설계 등 아직 도전과제임 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(Danish et al., 2026).</a:t>
            </a:r>
            <a:endParaRPr lang="en" altLang="zh-CN" sz="1200" i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0A8434-7C09-A2FB-4467-15D390331965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18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332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8F589-1AE3-82B0-E1DD-C7BFBD32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5CFFC780-369C-621C-E97D-982761A3DE60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DD2A5E5-D260-1CEB-0AC8-72FE0698DC19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99E383B1-2BA3-37E5-070A-95583D25AAF2}"/>
              </a:ext>
            </a:extLst>
          </p:cNvPr>
          <p:cNvCxnSpPr/>
          <p:nvPr/>
        </p:nvCxnSpPr>
        <p:spPr>
          <a:xfrm flipH="1">
            <a:off x="358774" y="5106720"/>
            <a:ext cx="8426450" cy="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5A6795BE-8922-1246-17C3-171771E33A9E}"/>
              </a:ext>
            </a:extLst>
          </p:cNvPr>
          <p:cNvCxnSpPr>
            <a:cxnSpLocks/>
          </p:cNvCxnSpPr>
          <p:nvPr/>
        </p:nvCxnSpPr>
        <p:spPr>
          <a:xfrm>
            <a:off x="358774" y="25269"/>
            <a:ext cx="1" cy="5118231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AA2FB81-0FF9-9477-D720-EDF8993886AE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164788F7-682D-0244-0421-B4A1E01CD275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D7497B3-9044-20B7-5DC8-6BA24679BC05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9DE613-35A3-680C-613B-3D4B3A304CA5}"/>
              </a:ext>
            </a:extLst>
          </p:cNvPr>
          <p:cNvSpPr/>
          <p:nvPr/>
        </p:nvSpPr>
        <p:spPr>
          <a:xfrm>
            <a:off x="6342618" y="2359436"/>
            <a:ext cx="2244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en-US" altLang="ko-KR" sz="16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5</a:t>
            </a:r>
            <a:r>
              <a:rPr lang="ko-KR" altLang="en-US" sz="16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단계 순차적 통합 분석 </a:t>
            </a:r>
            <a:endParaRPr lang="en-US" altLang="ko-KR" sz="16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  <a:p>
            <a:pPr algn="ctr" defTabSz="914400"/>
            <a:r>
              <a:rPr lang="ko-KR" altLang="en-US" sz="16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프레임워크</a:t>
            </a:r>
            <a:endParaRPr lang="zh-CN" altLang="en-US" sz="16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5DBD29-5F12-2AE2-351C-74BF397B7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3" y="50539"/>
            <a:ext cx="6076855" cy="5020556"/>
          </a:xfrm>
          <a:prstGeom prst="rect">
            <a:avLst/>
          </a:prstGeom>
        </p:spPr>
      </p:pic>
      <p:cxnSp>
        <p:nvCxnSpPr>
          <p:cNvPr id="5" name="直接连接符 73">
            <a:extLst>
              <a:ext uri="{FF2B5EF4-FFF2-40B4-BE49-F238E27FC236}">
                <a16:creationId xmlns:a16="http://schemas.microsoft.com/office/drawing/2014/main" id="{583BD36E-AF83-DB8C-9D6B-4F0551895706}"/>
              </a:ext>
            </a:extLst>
          </p:cNvPr>
          <p:cNvCxnSpPr/>
          <p:nvPr/>
        </p:nvCxnSpPr>
        <p:spPr>
          <a:xfrm flipH="1">
            <a:off x="358774" y="25269"/>
            <a:ext cx="8426450" cy="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B8252F-B39B-9FA6-F828-6CDC561693AA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19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149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44F1-A197-A9A4-FB4E-53AA436E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夜晚亮着灯的舞台&#10;&#10;中度可信度描述已自动生成">
            <a:extLst>
              <a:ext uri="{FF2B5EF4-FFF2-40B4-BE49-F238E27FC236}">
                <a16:creationId xmlns:a16="http://schemas.microsoft.com/office/drawing/2014/main" id="{63F24417-E804-C219-F63D-C8B64272CD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3" r="27152"/>
          <a:stretch>
            <a:fillRect/>
          </a:stretch>
        </p:blipFill>
        <p:spPr>
          <a:xfrm>
            <a:off x="4746170" y="0"/>
            <a:ext cx="4397829" cy="5124659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71ED1C5-13CA-F2B4-380D-706DCD9CD1C5}"/>
              </a:ext>
            </a:extLst>
          </p:cNvPr>
          <p:cNvSpPr/>
          <p:nvPr/>
        </p:nvSpPr>
        <p:spPr>
          <a:xfrm>
            <a:off x="11248" y="-20341"/>
            <a:ext cx="9144000" cy="5143500"/>
          </a:xfrm>
          <a:custGeom>
            <a:avLst/>
            <a:gdLst>
              <a:gd name="connsiteX0" fmla="*/ 6436154 w 9144000"/>
              <a:gd name="connsiteY0" fmla="*/ 1628732 h 5143500"/>
              <a:gd name="connsiteX1" fmla="*/ 6846435 w 9144000"/>
              <a:gd name="connsiteY1" fmla="*/ 2649167 h 5143500"/>
              <a:gd name="connsiteX2" fmla="*/ 6025873 w 9144000"/>
              <a:gd name="connsiteY2" fmla="*/ 2649167 h 5143500"/>
              <a:gd name="connsiteX3" fmla="*/ 8089090 w 9144000"/>
              <a:gd name="connsiteY3" fmla="*/ 978945 h 5143500"/>
              <a:gd name="connsiteX4" fmla="*/ 8089090 w 9144000"/>
              <a:gd name="connsiteY4" fmla="*/ 4414295 h 5143500"/>
              <a:gd name="connsiteX5" fmla="*/ 8611603 w 9144000"/>
              <a:gd name="connsiteY5" fmla="*/ 4414295 h 5143500"/>
              <a:gd name="connsiteX6" fmla="*/ 8611603 w 9144000"/>
              <a:gd name="connsiteY6" fmla="*/ 978945 h 5143500"/>
              <a:gd name="connsiteX7" fmla="*/ 6171811 w 9144000"/>
              <a:gd name="connsiteY7" fmla="*/ 978945 h 5143500"/>
              <a:gd name="connsiteX8" fmla="*/ 4790579 w 9144000"/>
              <a:gd name="connsiteY8" fmla="*/ 4414295 h 5143500"/>
              <a:gd name="connsiteX9" fmla="*/ 5316178 w 9144000"/>
              <a:gd name="connsiteY9" fmla="*/ 4414295 h 5143500"/>
              <a:gd name="connsiteX10" fmla="*/ 5815789 w 9144000"/>
              <a:gd name="connsiteY10" fmla="*/ 3171680 h 5143500"/>
              <a:gd name="connsiteX11" fmla="*/ 7056519 w 9144000"/>
              <a:gd name="connsiteY11" fmla="*/ 3171680 h 5143500"/>
              <a:gd name="connsiteX12" fmla="*/ 7556131 w 9144000"/>
              <a:gd name="connsiteY12" fmla="*/ 4414295 h 5143500"/>
              <a:gd name="connsiteX13" fmla="*/ 8081730 w 9144000"/>
              <a:gd name="connsiteY13" fmla="*/ 4414295 h 5143500"/>
              <a:gd name="connsiteX14" fmla="*/ 6700497 w 9144000"/>
              <a:gd name="connsiteY14" fmla="*/ 978945 h 5143500"/>
              <a:gd name="connsiteX15" fmla="*/ 6697411 w 9144000"/>
              <a:gd name="connsiteY15" fmla="*/ 978945 h 5143500"/>
              <a:gd name="connsiteX16" fmla="*/ 0 w 9144000"/>
              <a:gd name="connsiteY16" fmla="*/ 0 h 5143500"/>
              <a:gd name="connsiteX17" fmla="*/ 9144000 w 9144000"/>
              <a:gd name="connsiteY17" fmla="*/ 0 h 5143500"/>
              <a:gd name="connsiteX18" fmla="*/ 9144000 w 9144000"/>
              <a:gd name="connsiteY18" fmla="*/ 5143500 h 5143500"/>
              <a:gd name="connsiteX19" fmla="*/ 0 w 9144000"/>
              <a:gd name="connsiteY19" fmla="*/ 514349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6436154" y="1628732"/>
                </a:moveTo>
                <a:lnTo>
                  <a:pt x="6846435" y="2649167"/>
                </a:lnTo>
                <a:lnTo>
                  <a:pt x="6025873" y="2649167"/>
                </a:lnTo>
                <a:close/>
                <a:moveTo>
                  <a:pt x="8089090" y="978945"/>
                </a:moveTo>
                <a:lnTo>
                  <a:pt x="8089090" y="4414295"/>
                </a:lnTo>
                <a:lnTo>
                  <a:pt x="8611603" y="4414295"/>
                </a:lnTo>
                <a:lnTo>
                  <a:pt x="8611603" y="978945"/>
                </a:lnTo>
                <a:close/>
                <a:moveTo>
                  <a:pt x="6171811" y="978945"/>
                </a:moveTo>
                <a:lnTo>
                  <a:pt x="4790579" y="4414295"/>
                </a:lnTo>
                <a:lnTo>
                  <a:pt x="5316178" y="4414295"/>
                </a:lnTo>
                <a:lnTo>
                  <a:pt x="5815789" y="3171680"/>
                </a:lnTo>
                <a:lnTo>
                  <a:pt x="7056519" y="3171680"/>
                </a:lnTo>
                <a:lnTo>
                  <a:pt x="7556131" y="4414295"/>
                </a:lnTo>
                <a:lnTo>
                  <a:pt x="8081730" y="4414295"/>
                </a:lnTo>
                <a:lnTo>
                  <a:pt x="6700497" y="978945"/>
                </a:lnTo>
                <a:lnTo>
                  <a:pt x="6697411" y="978945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499"/>
                </a:lnTo>
                <a:close/>
              </a:path>
            </a:pathLst>
          </a:custGeom>
          <a:solidFill>
            <a:srgbClr val="101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나눔고딕" pitchFamily="2" charset="-127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F92929CD-09C3-B886-3A5C-6F4B519D803B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221086F6-E912-5D92-40B3-661BB935B92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44CDE06-B046-24C1-7CBE-E7B95C9CA2D4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24161EEF-4FEC-947E-CE84-849C61B9F74A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1D56333B-0F9E-A0F2-33FD-D3CF9E09D7C2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4D9D4E77-9533-98F6-B239-989779ED4020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86B781D-74BE-D8A3-6EED-EEC115C6447D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2331A25-9B96-28CA-DE2B-39EFF58A6999}"/>
              </a:ext>
            </a:extLst>
          </p:cNvPr>
          <p:cNvGrpSpPr/>
          <p:nvPr/>
        </p:nvGrpSpPr>
        <p:grpSpPr>
          <a:xfrm>
            <a:off x="358775" y="984537"/>
            <a:ext cx="8426450" cy="3413843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5939454-2C12-3941-6A16-857BBB6652E4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F1C76A95-F0BE-EB66-540F-BBC26C2426F1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382D1A8-B80A-265D-2A28-188A15791CFE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8362E459-2E8C-43E8-D2EF-E489FFE56F99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61B4059-5FB9-143B-7EF0-B26BCE504D16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8A97D05-81B5-C692-0496-EDAE82818F15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D57CED-D32A-C929-AF4B-F37D72FA3589}"/>
              </a:ext>
            </a:extLst>
          </p:cNvPr>
          <p:cNvSpPr/>
          <p:nvPr/>
        </p:nvSpPr>
        <p:spPr bwMode="auto">
          <a:xfrm>
            <a:off x="456251" y="2015204"/>
            <a:ext cx="7582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ko-KR" altLang="en-US" sz="2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lang="en-US" altLang="zh-CN" sz="24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769017-5CB7-6DAA-CA9C-7791B6BB7B91}"/>
              </a:ext>
            </a:extLst>
          </p:cNvPr>
          <p:cNvSpPr txBox="1"/>
          <p:nvPr/>
        </p:nvSpPr>
        <p:spPr>
          <a:xfrm>
            <a:off x="260539" y="773054"/>
            <a:ext cx="1901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7200" dirty="0">
                <a:ln w="3175">
                  <a:noFill/>
                </a:ln>
                <a:solidFill>
                  <a:srgbClr val="394B95"/>
                </a:solidFill>
                <a:latin typeface="Montserrat Black" panose="00000A00000000000000" pitchFamily="2" charset="0"/>
                <a:ea typeface="+mj-ea"/>
                <a:sym typeface="MiSans Light" panose="00000400000000000000" charset="-122"/>
              </a:rPr>
              <a:t>03.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2C8F21E-7DC1-20BF-9578-2371C360F3E1}"/>
              </a:ext>
            </a:extLst>
          </p:cNvPr>
          <p:cNvCxnSpPr/>
          <p:nvPr/>
        </p:nvCxnSpPr>
        <p:spPr>
          <a:xfrm>
            <a:off x="355600" y="2586175"/>
            <a:ext cx="2925114" cy="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A2692FCB-6870-AC31-08E6-723E231C47CD}"/>
              </a:ext>
            </a:extLst>
          </p:cNvPr>
          <p:cNvSpPr/>
          <p:nvPr/>
        </p:nvSpPr>
        <p:spPr>
          <a:xfrm>
            <a:off x="358775" y="3526403"/>
            <a:ext cx="107343" cy="107343"/>
          </a:xfrm>
          <a:prstGeom prst="ellipse">
            <a:avLst/>
          </a:prstGeom>
          <a:solidFill>
            <a:srgbClr val="44D5FA"/>
          </a:solidFill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9147541-7324-6A33-BF51-40F8BF0CCF2D}"/>
              </a:ext>
            </a:extLst>
          </p:cNvPr>
          <p:cNvSpPr/>
          <p:nvPr/>
        </p:nvSpPr>
        <p:spPr>
          <a:xfrm>
            <a:off x="660924" y="3526403"/>
            <a:ext cx="107343" cy="107343"/>
          </a:xfrm>
          <a:prstGeom prst="ellipse">
            <a:avLst/>
          </a:prstGeom>
          <a:noFill/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3D00796-8025-D3D2-FE34-349894E6D480}"/>
              </a:ext>
            </a:extLst>
          </p:cNvPr>
          <p:cNvSpPr/>
          <p:nvPr/>
        </p:nvSpPr>
        <p:spPr>
          <a:xfrm>
            <a:off x="963073" y="3526403"/>
            <a:ext cx="107343" cy="107343"/>
          </a:xfrm>
          <a:prstGeom prst="ellipse">
            <a:avLst/>
          </a:prstGeom>
          <a:noFill/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BE173C5-9D11-336C-CB29-0B89D646A774}"/>
              </a:ext>
            </a:extLst>
          </p:cNvPr>
          <p:cNvSpPr txBox="1"/>
          <p:nvPr/>
        </p:nvSpPr>
        <p:spPr>
          <a:xfrm>
            <a:off x="1185711" y="3373046"/>
            <a:ext cx="1950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zh-CN" sz="1800" dirty="0">
                <a:solidFill>
                  <a:srgbClr val="44D5FA"/>
                </a:solidFill>
              </a:rPr>
              <a:t>PART Three</a:t>
            </a:r>
            <a:endParaRPr lang="zh-CN" altLang="en-US" sz="1800" dirty="0">
              <a:solidFill>
                <a:srgbClr val="44D5FA"/>
              </a:solidFill>
            </a:endParaRPr>
          </a:p>
        </p:txBody>
      </p:sp>
      <p:sp>
        <p:nvSpPr>
          <p:cNvPr id="28" name="矩形 6">
            <a:extLst>
              <a:ext uri="{FF2B5EF4-FFF2-40B4-BE49-F238E27FC236}">
                <a16:creationId xmlns:a16="http://schemas.microsoft.com/office/drawing/2014/main" id="{641D1D93-5646-E7C5-B256-0D76EE073501}"/>
              </a:ext>
            </a:extLst>
          </p:cNvPr>
          <p:cNvSpPr/>
          <p:nvPr/>
        </p:nvSpPr>
        <p:spPr>
          <a:xfrm>
            <a:off x="414985" y="2579753"/>
            <a:ext cx="3672609" cy="610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Methodology</a:t>
            </a: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E37F9-F4DC-163D-6BC1-6DC2D5E5741E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20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696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A7D33-F77A-4DD2-173D-30C1EF26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1CC1562A-714B-0A1D-62B1-E60789C0D678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A9FE601D-0AF3-F162-7C63-FC6255B5C67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DF086A2-BB8B-C6CB-5F49-CD5BEF333C87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5A9179B-8839-6A0E-ECBB-FDB654CC178C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4266875-FF65-3217-E79C-5E4049537F80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F2EE1C79-7A16-5064-79F5-EBFF6E61E382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86B6AC9-D5BB-862D-6D49-6A492773F6DC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6E2AC02-2ED4-6465-DA16-09A75F2B2E84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5C06136-D94A-0079-BDF7-CA6F56094D6D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DFA3B210-6BB6-46BD-7D77-5D87E701954D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4384313-8F81-AA35-0534-B6CE742AEB7C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EEE4909E-68F8-E352-DD90-8AF65E165552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E2904C13-E595-CBF9-17C3-8D765B786E4F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B8A0E92-DC39-4F13-C02E-FD87579AA6CC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45760B-93BC-115D-3D20-BDC4D35CDD3C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矩形 21">
            <a:extLst>
              <a:ext uri="{FF2B5EF4-FFF2-40B4-BE49-F238E27FC236}">
                <a16:creationId xmlns:a16="http://schemas.microsoft.com/office/drawing/2014/main" id="{37A7F78C-4423-479F-5D2F-ED735D36B6C0}"/>
              </a:ext>
            </a:extLst>
          </p:cNvPr>
          <p:cNvSpPr/>
          <p:nvPr/>
        </p:nvSpPr>
        <p:spPr>
          <a:xfrm>
            <a:off x="518319" y="869790"/>
            <a:ext cx="5206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데이터 개요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177CF4F5-5D8F-DA23-7678-2614A65633B9}"/>
              </a:ext>
            </a:extLst>
          </p:cNvPr>
          <p:cNvSpPr/>
          <p:nvPr/>
        </p:nvSpPr>
        <p:spPr>
          <a:xfrm>
            <a:off x="355599" y="1434517"/>
            <a:ext cx="1920240" cy="100584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7F2973C1-A226-E635-B6EB-429CA174440E}"/>
              </a:ext>
            </a:extLst>
          </p:cNvPr>
          <p:cNvSpPr/>
          <p:nvPr/>
        </p:nvSpPr>
        <p:spPr>
          <a:xfrm>
            <a:off x="410463" y="1507669"/>
            <a:ext cx="181051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58개</a:t>
            </a:r>
            <a:endParaRPr lang="en-US" sz="2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8750B90-B638-7D1F-B490-F98F2B351957}"/>
              </a:ext>
            </a:extLst>
          </p:cNvPr>
          <p:cNvSpPr/>
          <p:nvPr/>
        </p:nvSpPr>
        <p:spPr>
          <a:xfrm>
            <a:off x="430785" y="2117397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66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분석 대상 한국 관광지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B9DB7655-F495-8E25-3D6D-0B35737195B7}"/>
              </a:ext>
            </a:extLst>
          </p:cNvPr>
          <p:cNvSpPr/>
          <p:nvPr/>
        </p:nvSpPr>
        <p:spPr>
          <a:xfrm>
            <a:off x="2587416" y="1434517"/>
            <a:ext cx="1920240" cy="100584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924A806-0A3C-C2FC-1F2A-00A861B6A4F9}"/>
              </a:ext>
            </a:extLst>
          </p:cNvPr>
          <p:cNvSpPr/>
          <p:nvPr/>
        </p:nvSpPr>
        <p:spPr>
          <a:xfrm>
            <a:off x="2642280" y="1507669"/>
            <a:ext cx="181051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116,806건</a:t>
            </a:r>
            <a:endParaRPr lang="en-US" sz="2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CF6763A-8747-84BE-1B63-E83CBC324A56}"/>
              </a:ext>
            </a:extLst>
          </p:cNvPr>
          <p:cNvSpPr/>
          <p:nvPr/>
        </p:nvSpPr>
        <p:spPr>
          <a:xfrm>
            <a:off x="2618276" y="2143958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3D566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다국어</a:t>
            </a:r>
            <a:r>
              <a:rPr lang="en-US" sz="1050" dirty="0">
                <a:solidFill>
                  <a:srgbClr val="3D566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(27</a:t>
            </a:r>
            <a:r>
              <a:rPr lang="ko-KR" altLang="en-US" sz="1050" dirty="0">
                <a:solidFill>
                  <a:srgbClr val="3D566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개</a:t>
            </a:r>
            <a:r>
              <a:rPr lang="en-US" altLang="ko-KR" sz="1050" dirty="0">
                <a:solidFill>
                  <a:srgbClr val="3D566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)</a:t>
            </a:r>
            <a:r>
              <a:rPr lang="en-US" sz="1050" dirty="0">
                <a:solidFill>
                  <a:srgbClr val="3D566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리뷰 총계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54EA8C17-2F62-7957-A0D5-F55D4514E394}"/>
              </a:ext>
            </a:extLst>
          </p:cNvPr>
          <p:cNvSpPr/>
          <p:nvPr/>
        </p:nvSpPr>
        <p:spPr>
          <a:xfrm>
            <a:off x="4829388" y="1434517"/>
            <a:ext cx="1920240" cy="100584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8BCCAEF-7BFB-F0D9-1D97-DD20D0207807}"/>
              </a:ext>
            </a:extLst>
          </p:cNvPr>
          <p:cNvSpPr/>
          <p:nvPr/>
        </p:nvSpPr>
        <p:spPr>
          <a:xfrm>
            <a:off x="4884252" y="1507669"/>
            <a:ext cx="181051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2004~2026</a:t>
            </a:r>
            <a:endParaRPr lang="en-US" sz="2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30B0BA52-0ABF-5057-5F9A-C82A18F3B68C}"/>
              </a:ext>
            </a:extLst>
          </p:cNvPr>
          <p:cNvSpPr/>
          <p:nvPr/>
        </p:nvSpPr>
        <p:spPr>
          <a:xfrm>
            <a:off x="4904710" y="2171290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66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수집 기간 (22년)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EA3DDB72-AA14-285D-3E1F-73BAF214B7EA}"/>
              </a:ext>
            </a:extLst>
          </p:cNvPr>
          <p:cNvSpPr/>
          <p:nvPr/>
        </p:nvSpPr>
        <p:spPr>
          <a:xfrm>
            <a:off x="7076439" y="1434517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3415FA9E-0974-30B5-5787-7A88DABE01B0}"/>
              </a:ext>
            </a:extLst>
          </p:cNvPr>
          <p:cNvSpPr/>
          <p:nvPr/>
        </p:nvSpPr>
        <p:spPr>
          <a:xfrm>
            <a:off x="7131303" y="1507669"/>
            <a:ext cx="158191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4종</a:t>
            </a:r>
            <a:endParaRPr lang="en-US" sz="2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EE588FD2-3D09-1511-8BE0-7FBE7F49CA8C}"/>
              </a:ext>
            </a:extLst>
          </p:cNvPr>
          <p:cNvSpPr/>
          <p:nvPr/>
        </p:nvSpPr>
        <p:spPr>
          <a:xfrm>
            <a:off x="7131303" y="2143958"/>
            <a:ext cx="15819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3D566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공공데이터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9DD186C6-C75A-D46E-2E18-866D12C423E7}"/>
              </a:ext>
            </a:extLst>
          </p:cNvPr>
          <p:cNvSpPr/>
          <p:nvPr/>
        </p:nvSpPr>
        <p:spPr>
          <a:xfrm>
            <a:off x="355599" y="2586661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공공데이터 구성</a:t>
            </a:r>
            <a:endParaRPr lang="en-US" sz="13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45" name="Table 0">
            <a:extLst>
              <a:ext uri="{FF2B5EF4-FFF2-40B4-BE49-F238E27FC236}">
                <a16:creationId xmlns:a16="http://schemas.microsoft.com/office/drawing/2014/main" id="{3DFD55FB-60C1-1C1D-5BAC-E3CC54D6C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599126"/>
              </p:ext>
            </p:extLst>
          </p:nvPr>
        </p:nvGraphicFramePr>
        <p:xfrm>
          <a:off x="355599" y="2970709"/>
          <a:ext cx="8412480" cy="16230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데이터 종류</a:t>
                      </a:r>
                      <a:endParaRPr lang="en-US" sz="1050" dirty="0"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출처 및 활용 목적</a:t>
                      </a:r>
                      <a:endParaRPr lang="en-US" sz="1050" dirty="0"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TripAdvisor 리뷰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Traveler's Choice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어워드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2025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년 수상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한국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58개 주요 관광지 다국어 리뷰 (크롤링)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관광숙박업 통계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문화체육관광부 — 숙박시설 위치·수 (시설밀도 계산)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버스정류장 위치정보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국토교통부 — 정류장 좌표 (접근성 계산)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지하철역 위치정보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국토교통부 — 역 좌표 (접근성 계산)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일반음식점 데이터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  <a:cs typeface="Calibri" pitchFamily="34" charset="-120"/>
                        </a:rPr>
                        <a:t>공공데이터포털 — 음식점 위치·수 (시설밀도 계산)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75850F-A35F-4C4A-AA79-7AA1CC20CBA8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21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42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412F8-6EFC-5B00-A8C1-464BF13F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3211DDC6-BC35-6C12-3A67-9808D7D6D1BC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78282029-7FC0-DD7A-B01D-EAB95096D56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ACC475C7-1093-465E-28C7-41156F8D1B9B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2BFE775-56D8-419D-4287-5548A4F437BB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A9E1318-B75C-3130-3AD0-66488A407266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5A3B78D1-292C-D92B-BCBB-E94DFEB1A556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112CF23-E03C-64DE-53D8-CEC4DF1CB2D7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7C13988-BDC5-F9A8-A8BC-CF273BE61F45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2266790-7D77-863B-AB71-0F7CF635439A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E3ED9DB-E618-432D-E0B5-9E3B0DB7DC15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4870831-B37E-FDCB-7A2C-302B0F87D6F0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728FCFBC-264B-FDC8-870A-67E0E0D78967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722E8E5A-5F54-C663-168F-B1D6772E29AF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EEA0A28-0CF9-1A12-5989-26E672F7403B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8E19B6-4349-8CA4-E512-A74788AED221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35AE55E-E999-37D7-4131-B6D890F18523}"/>
              </a:ext>
            </a:extLst>
          </p:cNvPr>
          <p:cNvSpPr/>
          <p:nvPr/>
        </p:nvSpPr>
        <p:spPr>
          <a:xfrm>
            <a:off x="365760" y="960120"/>
            <a:ext cx="1600200" cy="365760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94BA895-039D-654E-0BA7-37810FA4B8D7}"/>
              </a:ext>
            </a:extLst>
          </p:cNvPr>
          <p:cNvSpPr/>
          <p:nvPr/>
        </p:nvSpPr>
        <p:spPr>
          <a:xfrm>
            <a:off x="365760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1단계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4F6972B-2BD0-9163-748B-988BFEC99F21}"/>
              </a:ext>
            </a:extLst>
          </p:cNvPr>
          <p:cNvSpPr/>
          <p:nvPr/>
        </p:nvSpPr>
        <p:spPr>
          <a:xfrm>
            <a:off x="438912" y="1557528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데이터</a:t>
            </a: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수집</a:t>
            </a:r>
            <a:r>
              <a:rPr lang="zh-CN" altLang="en-US" sz="1400" b="1" dirty="0">
                <a:solidFill>
                  <a:srgbClr val="FFFFFF"/>
                </a:solidFill>
                <a:latin typeface="나눔고딕" pitchFamily="2" charset="-127"/>
                <a:ea typeface="Cambria" pitchFamily="34" charset="-122"/>
                <a:cs typeface="Cambria" pitchFamily="34" charset="-120"/>
              </a:rPr>
              <a:t>， </a:t>
            </a:r>
            <a:r>
              <a:rPr lang="ko-KR" alt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공공데이터 병합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&amp; 전처리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7B562C95-52DC-F576-FA0F-A1BF87EDC299}"/>
              </a:ext>
            </a:extLst>
          </p:cNvPr>
          <p:cNvSpPr/>
          <p:nvPr/>
        </p:nvSpPr>
        <p:spPr>
          <a:xfrm>
            <a:off x="438912" y="2286000"/>
            <a:ext cx="1453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TripAdvisor </a:t>
            </a:r>
            <a:r>
              <a:rPr lang="en-US" sz="1050" dirty="0" err="1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크롤링</a:t>
            </a:r>
            <a:r>
              <a:rPr lang="ko-KR" alt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공공데이터 수집 및 병합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다국어 전처리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이중트랙 방식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CEBCD2A-0718-E5A4-4DA8-B38EE29F5ACC}"/>
              </a:ext>
            </a:extLst>
          </p:cNvPr>
          <p:cNvSpPr/>
          <p:nvPr/>
        </p:nvSpPr>
        <p:spPr>
          <a:xfrm>
            <a:off x="1965960" y="26060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9C4E4A6A-EB6C-7FFB-E24D-5FEFE641F574}"/>
              </a:ext>
            </a:extLst>
          </p:cNvPr>
          <p:cNvSpPr/>
          <p:nvPr/>
        </p:nvSpPr>
        <p:spPr>
          <a:xfrm>
            <a:off x="2048256" y="960120"/>
            <a:ext cx="1600200" cy="3657600"/>
          </a:xfrm>
          <a:prstGeom prst="roundRect">
            <a:avLst>
              <a:gd name="adj" fmla="val 4571"/>
            </a:avLst>
          </a:prstGeom>
          <a:solidFill>
            <a:srgbClr val="1E4F7A"/>
          </a:solidFill>
          <a:ln w="12700">
            <a:solidFill>
              <a:srgbClr val="1E4F7A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EDC819B2-A9E1-893C-F51C-7E2181853003}"/>
              </a:ext>
            </a:extLst>
          </p:cNvPr>
          <p:cNvSpPr/>
          <p:nvPr/>
        </p:nvSpPr>
        <p:spPr>
          <a:xfrm>
            <a:off x="2048256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2단계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942A3550-0CD7-C898-614B-187863CE27BB}"/>
              </a:ext>
            </a:extLst>
          </p:cNvPr>
          <p:cNvSpPr/>
          <p:nvPr/>
        </p:nvSpPr>
        <p:spPr>
          <a:xfrm>
            <a:off x="2121408" y="1557528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다국어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감성분석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015D62DC-D230-BC26-CDBB-0DE3DC914280}"/>
              </a:ext>
            </a:extLst>
          </p:cNvPr>
          <p:cNvSpPr/>
          <p:nvPr/>
        </p:nvSpPr>
        <p:spPr>
          <a:xfrm>
            <a:off x="2121408" y="2286000"/>
            <a:ext cx="1453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XLM-RoBERTa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긍정/중립/부정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3-class 분류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2997969-21FC-CA27-5F60-B4831B9981B0}"/>
              </a:ext>
            </a:extLst>
          </p:cNvPr>
          <p:cNvSpPr/>
          <p:nvPr/>
        </p:nvSpPr>
        <p:spPr>
          <a:xfrm>
            <a:off x="3648456" y="26060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8C11C94D-7751-04D6-575C-DB2A57F92FF1}"/>
              </a:ext>
            </a:extLst>
          </p:cNvPr>
          <p:cNvSpPr/>
          <p:nvPr/>
        </p:nvSpPr>
        <p:spPr>
          <a:xfrm>
            <a:off x="3730752" y="960120"/>
            <a:ext cx="1600200" cy="3657600"/>
          </a:xfrm>
          <a:prstGeom prst="roundRect">
            <a:avLst>
              <a:gd name="adj" fmla="val 4571"/>
            </a:avLst>
          </a:prstGeom>
          <a:solidFill>
            <a:srgbClr val="225B8F"/>
          </a:solidFill>
          <a:ln w="12700">
            <a:solidFill>
              <a:srgbClr val="225B8F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F5ED19BE-2AD4-829A-223C-33EB8E687B31}"/>
              </a:ext>
            </a:extLst>
          </p:cNvPr>
          <p:cNvSpPr/>
          <p:nvPr/>
        </p:nvSpPr>
        <p:spPr>
          <a:xfrm>
            <a:off x="3730752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3단계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859E24A6-8CC8-CDA7-F234-199ECC67BCCE}"/>
              </a:ext>
            </a:extLst>
          </p:cNvPr>
          <p:cNvSpPr/>
          <p:nvPr/>
        </p:nvSpPr>
        <p:spPr>
          <a:xfrm>
            <a:off x="3803904" y="1557528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토픽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모델링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9DDB240D-06B1-F471-9AAA-CB89B1534588}"/>
              </a:ext>
            </a:extLst>
          </p:cNvPr>
          <p:cNvSpPr/>
          <p:nvPr/>
        </p:nvSpPr>
        <p:spPr>
          <a:xfrm>
            <a:off x="3803904" y="2286000"/>
            <a:ext cx="1453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BERTopic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mpnet임베딩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UMAP→HDBSCAN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049E91A9-2762-D988-2BEB-736EC42EA33E}"/>
              </a:ext>
            </a:extLst>
          </p:cNvPr>
          <p:cNvSpPr/>
          <p:nvPr/>
        </p:nvSpPr>
        <p:spPr>
          <a:xfrm>
            <a:off x="5330952" y="26060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EEBB6BBB-59DF-AF5B-8701-40A287756E38}"/>
              </a:ext>
            </a:extLst>
          </p:cNvPr>
          <p:cNvSpPr/>
          <p:nvPr/>
        </p:nvSpPr>
        <p:spPr>
          <a:xfrm>
            <a:off x="5413248" y="960120"/>
            <a:ext cx="1600200" cy="3657600"/>
          </a:xfrm>
          <a:prstGeom prst="roundRect">
            <a:avLst>
              <a:gd name="adj" fmla="val 4571"/>
            </a:avLst>
          </a:prstGeom>
          <a:solidFill>
            <a:srgbClr val="D9532E"/>
          </a:solidFill>
          <a:ln w="12700">
            <a:solidFill>
              <a:srgbClr val="D9532E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4B622A79-920C-9D2B-89FF-CDE930582F08}"/>
              </a:ext>
            </a:extLst>
          </p:cNvPr>
          <p:cNvSpPr/>
          <p:nvPr/>
        </p:nvSpPr>
        <p:spPr>
          <a:xfrm>
            <a:off x="5413248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4단계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EBF680B0-6846-7FB0-BBDE-D995FA8527A0}"/>
              </a:ext>
            </a:extLst>
          </p:cNvPr>
          <p:cNvSpPr/>
          <p:nvPr/>
        </p:nvSpPr>
        <p:spPr>
          <a:xfrm>
            <a:off x="5486400" y="1557528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지리공간분석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&amp; OWI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F6D826DB-A5ED-16C9-FF34-C900FC373D33}"/>
              </a:ext>
            </a:extLst>
          </p:cNvPr>
          <p:cNvSpPr/>
          <p:nvPr/>
        </p:nvSpPr>
        <p:spPr>
          <a:xfrm>
            <a:off x="5486400" y="2286000"/>
            <a:ext cx="1453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접근성·시설밀도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네트워크중심성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Moran's I · OWI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4AE40022-9D6E-718E-76C7-61C176CC139F}"/>
              </a:ext>
            </a:extLst>
          </p:cNvPr>
          <p:cNvSpPr/>
          <p:nvPr/>
        </p:nvSpPr>
        <p:spPr>
          <a:xfrm>
            <a:off x="7013448" y="26060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86F95494-95D0-7490-3E79-ACCC523C16E5}"/>
              </a:ext>
            </a:extLst>
          </p:cNvPr>
          <p:cNvSpPr/>
          <p:nvPr/>
        </p:nvSpPr>
        <p:spPr>
          <a:xfrm>
            <a:off x="7095744" y="960120"/>
            <a:ext cx="1600200" cy="3657600"/>
          </a:xfrm>
          <a:prstGeom prst="roundRect">
            <a:avLst>
              <a:gd name="adj" fmla="val 4571"/>
            </a:avLst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9B37A0AE-27AD-C272-F26F-AF9975914C88}"/>
              </a:ext>
            </a:extLst>
          </p:cNvPr>
          <p:cNvSpPr/>
          <p:nvPr/>
        </p:nvSpPr>
        <p:spPr>
          <a:xfrm>
            <a:off x="7095744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5단계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BAAB724C-DD42-0382-6B43-B28608F4952E}"/>
              </a:ext>
            </a:extLst>
          </p:cNvPr>
          <p:cNvSpPr/>
          <p:nvPr/>
        </p:nvSpPr>
        <p:spPr>
          <a:xfrm>
            <a:off x="7168896" y="1557528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ABSA 기반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추천시스템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03E828B4-9B4A-7C98-0A15-D000676D8558}"/>
              </a:ext>
            </a:extLst>
          </p:cNvPr>
          <p:cNvSpPr/>
          <p:nvPr/>
        </p:nvSpPr>
        <p:spPr>
          <a:xfrm>
            <a:off x="7168896" y="2286000"/>
            <a:ext cx="1453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GPT-4.1-mini ABSA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→관광지 프로필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r>
              <a:rPr lang="en-US" sz="1050" dirty="0" err="1">
                <a:solidFill>
                  <a:srgbClr val="B8D0E8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추천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0A5E1-8733-A357-7159-F5319C456305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22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16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97B12-66E3-1BFD-9CBE-CFB2FECE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2FE59B2C-1160-2C00-C380-9A3C6FFA3E94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76CD0B2B-1340-3302-087B-D60F1D888C5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705F005-0CBA-0281-93B4-0E6C091DBB56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C01B606-E1EE-E783-9647-982A430356AA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7E21FF90-BAD3-4DCB-3113-E624FFFEE0EF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3209C210-2E3D-79C6-B934-A00B24FCF753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23593E9-6CF6-F31C-0487-B12A48983A4B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D11AA10-1FBD-D107-003E-D4628DECCB2D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7D089404-81A9-1917-2C2D-D2DF5C200B99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449525B-5182-CC52-0079-7C57EF84A32C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533C698B-F7EA-3C6A-2931-060E758DDA5B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F6E46618-A277-F9CB-B291-61BBAB543E9F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CD99977E-1350-F7AC-DA6D-735BEA14C3C9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9E8A53C-BA8C-0113-AE96-3DA73475CEDD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01805B-9236-E0C7-5C5E-0EFEA5E662EF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矩形 21">
            <a:extLst>
              <a:ext uri="{FF2B5EF4-FFF2-40B4-BE49-F238E27FC236}">
                <a16:creationId xmlns:a16="http://schemas.microsoft.com/office/drawing/2014/main" id="{DF364B43-99F4-F970-DA14-6153C134B64C}"/>
              </a:ext>
            </a:extLst>
          </p:cNvPr>
          <p:cNvSpPr/>
          <p:nvPr/>
        </p:nvSpPr>
        <p:spPr>
          <a:xfrm>
            <a:off x="279768" y="732723"/>
            <a:ext cx="5206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데이터 개요 </a:t>
            </a:r>
            <a:r>
              <a:rPr lang="zh-CN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（</a:t>
            </a: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116,806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x 32</a:t>
            </a:r>
            <a:r>
              <a:rPr lang="zh-CN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）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  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32F1B2A-0055-7DC2-9DE3-E14B3ABC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09" y="1178282"/>
            <a:ext cx="8429219" cy="75858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FFB344D-CC37-E889-5318-6CC5B1483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09" y="1907298"/>
            <a:ext cx="8429625" cy="68907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ACCB6E4-0E56-17EC-5DFE-17583F0FB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20" y="2594231"/>
            <a:ext cx="8417708" cy="53687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7FBB908-7253-5477-B7E1-078A02769321}"/>
              </a:ext>
            </a:extLst>
          </p:cNvPr>
          <p:cNvSpPr txBox="1"/>
          <p:nvPr/>
        </p:nvSpPr>
        <p:spPr>
          <a:xfrm>
            <a:off x="481076" y="3215780"/>
            <a:ext cx="800750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zh-CN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Reviewer</a:t>
            </a: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 정보</a:t>
            </a:r>
            <a:r>
              <a:rPr lang="zh-CN" altLang="en-US" sz="10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：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ReviewID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작성자명, 프로필 URL, 작성 언어(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한·중·일·영·등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), 작성일(2004~2026), 여행 유형을 포함한다.</a:t>
            </a:r>
            <a:endParaRPr lang="en-US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ko-KR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목적지 </a:t>
            </a:r>
            <a:r>
              <a:rPr lang="ko-KR" altLang="ko-KR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리뷰·평점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+mn-cs"/>
              </a:rPr>
              <a:t> ： 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관광지 고유 ID, 명칭, 유형, 행정구역, 개별 리뷰 평점(1~5점), 총 리뷰 수, 평균 평점, 리뷰 제목 및 본문 텍스트, 관광지 위경도 정보를 포함한다.</a:t>
            </a:r>
            <a:endParaRPr lang="en-US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ko-KR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대중교통 정보</a:t>
            </a:r>
            <a:r>
              <a:rPr lang="zh-CN" altLang="en-US" sz="10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：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관광지에서 가장 가까운 버스정류장의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명칭·위경도·거리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m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), 그리고 가장 가까운 지하철역의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명칭·위경도·거리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m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)를 포함한다. </a:t>
            </a:r>
            <a:endParaRPr lang="en-US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숙박시설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·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음식점 정보</a:t>
            </a:r>
            <a:r>
              <a:rPr lang="zh-CN" altLang="en-US" sz="10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： 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관광지 중심 반경 500m 버퍼 내 음식점 위치 리스트 및 개수, 숙박시설 위치 </a:t>
            </a:r>
            <a:r>
              <a:rPr lang="ko-KR" altLang="ko-KR" sz="10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리스트·명칭·개수를</a:t>
            </a:r>
            <a:r>
              <a:rPr lang="ko-KR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포함한다.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AAF85-D2F3-31BA-E4DB-EAA238350E95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23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2875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9A81-5335-8490-8AAE-613AB72E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E63DEA54-0617-ED10-E2AA-10DCE505F57B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CBB75ED-2081-632E-9F1A-F1B9CA701A7C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B6A28D3-46FE-CF1B-29BF-C4DFFA938AC6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2C1FD36-C81C-984F-68BC-66F901E1E322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C3A803D-DAAE-75EB-FCE9-3ABBEF8AFDD6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A507ED98-237E-EFC4-5288-CF6E06FD5001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CFC056C-FF09-5921-39A7-8AC97A3EF056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E42F2DA9-84BD-1698-B300-08929752774F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A7AE989-85C3-47BD-E910-0F8FAA1F8F8B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534FE0-FAD6-E014-1709-27C383D5A476}"/>
              </a:ext>
            </a:extLst>
          </p:cNvPr>
          <p:cNvSpPr/>
          <p:nvPr/>
        </p:nvSpPr>
        <p:spPr>
          <a:xfrm>
            <a:off x="358774" y="159622"/>
            <a:ext cx="59603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CA94EC5C-936D-DD1B-E19F-BCB7B5968DAC}"/>
              </a:ext>
            </a:extLst>
          </p:cNvPr>
          <p:cNvSpPr/>
          <p:nvPr/>
        </p:nvSpPr>
        <p:spPr>
          <a:xfrm>
            <a:off x="441091" y="1253914"/>
            <a:ext cx="5724573" cy="204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기존 </a:t>
            </a:r>
            <a:r>
              <a:rPr lang="ko-KR" altLang="en-US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연구</a:t>
            </a:r>
            <a:r>
              <a:rPr lang="ko-KR" alt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들에서는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특정 언어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주로 영어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에 맞춰 구축된 사전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(lexicon)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이나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단일 언어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모델로 감성 분석을 진행함 </a:t>
            </a:r>
            <a:r>
              <a:rPr lang="en-US" altLang="ko-KR" sz="10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(Bagherzadeh et al., 2021; Ma et al., 2018). </a:t>
            </a:r>
            <a:endParaRPr lang="en-US" sz="10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Calibri" pitchFamily="34" charset="-120"/>
            </a:endParaRPr>
          </a:p>
          <a:p>
            <a:pPr marL="171450" indent="-1714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리뷰가</a:t>
            </a:r>
            <a:r>
              <a:rPr 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영어·한국어·중국어·태국어</a:t>
            </a:r>
            <a:r>
              <a:rPr 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등 </a:t>
            </a:r>
            <a:r>
              <a:rPr 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다국어로</a:t>
            </a:r>
            <a:r>
              <a:rPr 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구성</a:t>
            </a:r>
            <a:r>
              <a:rPr 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→ </a:t>
            </a:r>
            <a:r>
              <a:rPr 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언어별</a:t>
            </a:r>
            <a:r>
              <a:rPr 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개별</a:t>
            </a:r>
            <a:r>
              <a:rPr 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모델은</a:t>
            </a:r>
            <a:r>
              <a:rPr 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통합</a:t>
            </a:r>
            <a:r>
              <a:rPr 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처리</a:t>
            </a:r>
            <a:r>
              <a:rPr 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불가</a:t>
            </a:r>
            <a:r>
              <a:rPr 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(Ameur et al., 2023).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XLM-</a:t>
            </a:r>
            <a:r>
              <a:rPr lang="en-US" altLang="ko-KR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RoBERTa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: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CommonCrawl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2.5TB, 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100개 </a:t>
            </a:r>
            <a:r>
              <a:rPr lang="en-US" altLang="ko-KR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언어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사전학습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저자원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언어에서도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강력한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성능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(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Conneau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et al., 2020)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twitter-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xlm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-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roberta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-base-sentiment: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다국어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트위터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코퍼스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파인튜닝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3-class </a:t>
            </a:r>
            <a:r>
              <a:rPr lang="en-US" altLang="ko-KR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감성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모델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b="1" dirty="0" err="1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사용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(Barbieri et al., 2022)</a:t>
            </a: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각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리뷰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입력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→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softmax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확률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최고값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라벨을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최종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감성으로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부여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; 세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클래스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확률값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함께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저장</a:t>
            </a: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046EA439-4B79-1DB9-AEDD-AAC53C8D5715}"/>
              </a:ext>
            </a:extLst>
          </p:cNvPr>
          <p:cNvSpPr/>
          <p:nvPr/>
        </p:nvSpPr>
        <p:spPr>
          <a:xfrm>
            <a:off x="841248" y="2093976"/>
            <a:ext cx="4078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039FF8F4-2A05-1B48-E4EE-95A14648989A}"/>
              </a:ext>
            </a:extLst>
          </p:cNvPr>
          <p:cNvSpPr/>
          <p:nvPr/>
        </p:nvSpPr>
        <p:spPr>
          <a:xfrm>
            <a:off x="813816" y="2571750"/>
            <a:ext cx="4078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B134ABBA-8FD8-03F9-5147-70695EE44DC2}"/>
              </a:ext>
            </a:extLst>
          </p:cNvPr>
          <p:cNvSpPr/>
          <p:nvPr/>
        </p:nvSpPr>
        <p:spPr>
          <a:xfrm>
            <a:off x="411505" y="3485264"/>
            <a:ext cx="2908475" cy="1373124"/>
          </a:xfrm>
          <a:prstGeom prst="roundRect">
            <a:avLst>
              <a:gd name="adj" fmla="val 48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7A953B72-E68F-A8A2-B34E-80EAC5E68B76}"/>
              </a:ext>
            </a:extLst>
          </p:cNvPr>
          <p:cNvSpPr/>
          <p:nvPr/>
        </p:nvSpPr>
        <p:spPr>
          <a:xfrm>
            <a:off x="570733" y="3576704"/>
            <a:ext cx="2633933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사용 모델</a:t>
            </a:r>
            <a:endParaRPr lang="en-US" sz="13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A3260659-C2B1-4572-03A8-F5C88CCEFEB6}"/>
              </a:ext>
            </a:extLst>
          </p:cNvPr>
          <p:cNvSpPr/>
          <p:nvPr/>
        </p:nvSpPr>
        <p:spPr>
          <a:xfrm>
            <a:off x="570733" y="3915032"/>
            <a:ext cx="2633933" cy="29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cardiffnlp</a:t>
            </a:r>
            <a:r>
              <a:rPr lang="en-US" sz="105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/twitter-</a:t>
            </a:r>
            <a:r>
              <a:rPr lang="en-US" sz="1050" b="1" dirty="0" err="1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xlm</a:t>
            </a:r>
            <a:r>
              <a:rPr lang="en-US" sz="105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-</a:t>
            </a:r>
            <a:r>
              <a:rPr lang="en-US" sz="1050" b="1" dirty="0" err="1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roberta</a:t>
            </a:r>
            <a:r>
              <a:rPr lang="en-US" sz="105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-base-sentiment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70A00355-7C94-7BD7-9FA1-2CBE61BCD016}"/>
              </a:ext>
            </a:extLst>
          </p:cNvPr>
          <p:cNvSpPr/>
          <p:nvPr/>
        </p:nvSpPr>
        <p:spPr>
          <a:xfrm>
            <a:off x="570733" y="4280792"/>
            <a:ext cx="2633933" cy="540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Base: XLM-RoBERTa (Conneau et al., 2020)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Fine-tune: Twitter multilingual corpus (Barbieri et al., 2022)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46458CBA-98BE-9CB3-C3BF-67B9D46690BF}"/>
              </a:ext>
            </a:extLst>
          </p:cNvPr>
          <p:cNvSpPr/>
          <p:nvPr/>
        </p:nvSpPr>
        <p:spPr>
          <a:xfrm>
            <a:off x="3479208" y="3485264"/>
            <a:ext cx="2339649" cy="1481310"/>
          </a:xfrm>
          <a:prstGeom prst="roundRect">
            <a:avLst>
              <a:gd name="adj" fmla="val 4494"/>
            </a:avLst>
          </a:prstGeom>
          <a:noFill/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1CEE5280-3B14-4614-B433-1E0BE435D069}"/>
              </a:ext>
            </a:extLst>
          </p:cNvPr>
          <p:cNvSpPr/>
          <p:nvPr/>
        </p:nvSpPr>
        <p:spPr>
          <a:xfrm>
            <a:off x="3567617" y="3570858"/>
            <a:ext cx="1086107" cy="29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분석 결과</a:t>
            </a:r>
            <a:endParaRPr lang="en-US" sz="13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B2438294-322B-629A-F8C2-B148676EB9D7}"/>
              </a:ext>
            </a:extLst>
          </p:cNvPr>
          <p:cNvSpPr/>
          <p:nvPr/>
        </p:nvSpPr>
        <p:spPr>
          <a:xfrm>
            <a:off x="3543125" y="4020964"/>
            <a:ext cx="2103120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긍정 (Positive)</a:t>
            </a:r>
            <a:endParaRPr lang="en-US" sz="115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83" name="Text 21">
            <a:extLst>
              <a:ext uri="{FF2B5EF4-FFF2-40B4-BE49-F238E27FC236}">
                <a16:creationId xmlns:a16="http://schemas.microsoft.com/office/drawing/2014/main" id="{39D8D571-7E82-9FC5-F955-8E49D7BB5148}"/>
              </a:ext>
            </a:extLst>
          </p:cNvPr>
          <p:cNvSpPr/>
          <p:nvPr/>
        </p:nvSpPr>
        <p:spPr>
          <a:xfrm>
            <a:off x="4419047" y="4022651"/>
            <a:ext cx="822960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3A5C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84,681건</a:t>
            </a:r>
            <a:endParaRPr lang="en-US" sz="11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1477348B-3730-961D-26A1-ACFEAE53447F}"/>
              </a:ext>
            </a:extLst>
          </p:cNvPr>
          <p:cNvSpPr/>
          <p:nvPr/>
        </p:nvSpPr>
        <p:spPr>
          <a:xfrm>
            <a:off x="5170221" y="4014209"/>
            <a:ext cx="594360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72.5%</a:t>
            </a:r>
            <a:endParaRPr 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94EABA2E-86C6-C3A4-D3A3-CA54A8CE73AB}"/>
              </a:ext>
            </a:extLst>
          </p:cNvPr>
          <p:cNvSpPr/>
          <p:nvPr/>
        </p:nvSpPr>
        <p:spPr>
          <a:xfrm>
            <a:off x="3538506" y="4351682"/>
            <a:ext cx="2103120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중립 (Neutral)</a:t>
            </a:r>
            <a:endParaRPr lang="en-US" sz="115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89" name="Text 24">
            <a:extLst>
              <a:ext uri="{FF2B5EF4-FFF2-40B4-BE49-F238E27FC236}">
                <a16:creationId xmlns:a16="http://schemas.microsoft.com/office/drawing/2014/main" id="{50A96EF8-E0AB-322C-FEB9-7AFBDAA729FE}"/>
              </a:ext>
            </a:extLst>
          </p:cNvPr>
          <p:cNvSpPr/>
          <p:nvPr/>
        </p:nvSpPr>
        <p:spPr>
          <a:xfrm>
            <a:off x="4400402" y="4352538"/>
            <a:ext cx="822960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3A5C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16,085건</a:t>
            </a:r>
            <a:endParaRPr lang="en-US" sz="11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1" name="Text 25">
            <a:extLst>
              <a:ext uri="{FF2B5EF4-FFF2-40B4-BE49-F238E27FC236}">
                <a16:creationId xmlns:a16="http://schemas.microsoft.com/office/drawing/2014/main" id="{7B660339-A8DA-1192-2B7E-B4C5E1F72BE8}"/>
              </a:ext>
            </a:extLst>
          </p:cNvPr>
          <p:cNvSpPr/>
          <p:nvPr/>
        </p:nvSpPr>
        <p:spPr>
          <a:xfrm>
            <a:off x="5167894" y="4342918"/>
            <a:ext cx="594360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13.8%</a:t>
            </a:r>
            <a:endParaRPr 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3" name="Text 26">
            <a:extLst>
              <a:ext uri="{FF2B5EF4-FFF2-40B4-BE49-F238E27FC236}">
                <a16:creationId xmlns:a16="http://schemas.microsoft.com/office/drawing/2014/main" id="{8B251E2A-579D-9F48-9EC2-6E6F8B086FAD}"/>
              </a:ext>
            </a:extLst>
          </p:cNvPr>
          <p:cNvSpPr/>
          <p:nvPr/>
        </p:nvSpPr>
        <p:spPr>
          <a:xfrm>
            <a:off x="3543125" y="4673984"/>
            <a:ext cx="2103120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부정 (Negative)</a:t>
            </a:r>
            <a:endParaRPr lang="en-US" sz="115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5" name="Text 27">
            <a:extLst>
              <a:ext uri="{FF2B5EF4-FFF2-40B4-BE49-F238E27FC236}">
                <a16:creationId xmlns:a16="http://schemas.microsoft.com/office/drawing/2014/main" id="{33F0A90A-14CC-9C2B-4A43-1D87796B2ABE}"/>
              </a:ext>
            </a:extLst>
          </p:cNvPr>
          <p:cNvSpPr/>
          <p:nvPr/>
        </p:nvSpPr>
        <p:spPr>
          <a:xfrm>
            <a:off x="4430989" y="4700390"/>
            <a:ext cx="822960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3A5C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16,040건</a:t>
            </a:r>
            <a:endParaRPr lang="en-US" sz="11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7" name="Text 28">
            <a:extLst>
              <a:ext uri="{FF2B5EF4-FFF2-40B4-BE49-F238E27FC236}">
                <a16:creationId xmlns:a16="http://schemas.microsoft.com/office/drawing/2014/main" id="{5F727623-BCF0-F74A-8032-CE10ECACF064}"/>
              </a:ext>
            </a:extLst>
          </p:cNvPr>
          <p:cNvSpPr/>
          <p:nvPr/>
        </p:nvSpPr>
        <p:spPr>
          <a:xfrm>
            <a:off x="5153896" y="4673984"/>
            <a:ext cx="594360" cy="2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13.7%</a:t>
            </a:r>
            <a:endParaRPr 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9" name="Text 29">
            <a:extLst>
              <a:ext uri="{FF2B5EF4-FFF2-40B4-BE49-F238E27FC236}">
                <a16:creationId xmlns:a16="http://schemas.microsoft.com/office/drawing/2014/main" id="{595D5BEA-1C7B-BEA3-88E6-D38F7940B0AA}"/>
              </a:ext>
            </a:extLst>
          </p:cNvPr>
          <p:cNvSpPr/>
          <p:nvPr/>
        </p:nvSpPr>
        <p:spPr>
          <a:xfrm>
            <a:off x="3602963" y="3540510"/>
            <a:ext cx="21056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D566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Total: 116,806건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1" name="矩形 21">
            <a:extLst>
              <a:ext uri="{FF2B5EF4-FFF2-40B4-BE49-F238E27FC236}">
                <a16:creationId xmlns:a16="http://schemas.microsoft.com/office/drawing/2014/main" id="{48A9440B-3DC4-6C0D-382E-0D46ECDE870E}"/>
              </a:ext>
            </a:extLst>
          </p:cNvPr>
          <p:cNvSpPr/>
          <p:nvPr/>
        </p:nvSpPr>
        <p:spPr>
          <a:xfrm>
            <a:off x="288170" y="730737"/>
            <a:ext cx="5206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다국어 감성분석</a:t>
            </a: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XLM-</a:t>
            </a:r>
            <a:r>
              <a:rPr lang="en-US" altLang="ko-KR" sz="2000" b="1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RoBERTa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3BD1512B-31B3-F7F7-50A9-2BBDC03CE8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0" t="7047" r="11196"/>
          <a:stretch>
            <a:fillRect/>
          </a:stretch>
        </p:blipFill>
        <p:spPr>
          <a:xfrm>
            <a:off x="6252342" y="710777"/>
            <a:ext cx="2507552" cy="4054946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5801BAA9-7C0E-460B-8A3B-49621473286B}"/>
              </a:ext>
            </a:extLst>
          </p:cNvPr>
          <p:cNvSpPr txBox="1"/>
          <p:nvPr/>
        </p:nvSpPr>
        <p:spPr>
          <a:xfrm>
            <a:off x="5460672" y="4758823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5 &gt;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XLM-R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다국어 감성분석 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architecture</a:t>
            </a:r>
            <a:r>
              <a:rPr lang="en-US" altLang="ko-KR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endParaRPr lang="ko-KR" altLang="ko-KR" sz="11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051074-9815-1626-A469-1B976F8C2AD5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24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946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750E-BD76-0839-43EA-822F2CED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18D2B2F8-009E-85EB-D990-ABD00799FA00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7810D528-5B8E-523B-9706-66915CABA92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E55BD0B-2957-CBCF-95E3-30A3E057BF0A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5F856FA-2B73-A335-B5CA-D56B888F646B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62BB5F6-9B56-EC5E-2BFC-D480EA2A5CAF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8C136A42-F255-E491-5BCF-C642090B259C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58721D7-F8BC-3219-DBA9-9B9D59D08998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534CE0E-041A-79E8-C179-8E0D32BA0F1F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E96C6AB-EB23-B10A-9E8D-67BF117B0BBA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31FB3FF-EB54-5F9C-6927-3D2119DE1AB8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53D0A1CE-033B-2964-D2B8-86632FDB2D78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8E4FD0D5-32EF-0311-7E96-CF4B79D5D54B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95313676-AE34-C896-43DD-C5D0775A76D8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44B57F3-6382-70C6-1298-9E998951BBDC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4A48E0-D4D4-1848-F4B0-3F3E3DBA6D1D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D1F005-D9ED-0D96-220A-3B24AD6A2352}"/>
              </a:ext>
            </a:extLst>
          </p:cNvPr>
          <p:cNvSpPr txBox="1"/>
          <p:nvPr/>
        </p:nvSpPr>
        <p:spPr>
          <a:xfrm>
            <a:off x="5759801" y="4605501"/>
            <a:ext cx="37284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6 &gt;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BERTopic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기반 토픽모델링</a:t>
            </a:r>
          </a:p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architecture</a:t>
            </a:r>
            <a:endParaRPr lang="ko-KR" altLang="ko-KR" sz="11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778D547-167B-C1E5-F050-1C31AD2381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0" r="13375" b="9206"/>
          <a:stretch>
            <a:fillRect/>
          </a:stretch>
        </p:blipFill>
        <p:spPr>
          <a:xfrm>
            <a:off x="6588255" y="727503"/>
            <a:ext cx="2191011" cy="3809294"/>
          </a:xfrm>
          <a:prstGeom prst="rect">
            <a:avLst/>
          </a:prstGeom>
        </p:spPr>
      </p:pic>
      <p:sp>
        <p:nvSpPr>
          <p:cNvPr id="7" name="矩形 21">
            <a:extLst>
              <a:ext uri="{FF2B5EF4-FFF2-40B4-BE49-F238E27FC236}">
                <a16:creationId xmlns:a16="http://schemas.microsoft.com/office/drawing/2014/main" id="{2A52217B-6618-A1CD-A312-34FEDA9603C3}"/>
              </a:ext>
            </a:extLst>
          </p:cNvPr>
          <p:cNvSpPr/>
          <p:nvPr/>
        </p:nvSpPr>
        <p:spPr>
          <a:xfrm>
            <a:off x="279768" y="738356"/>
            <a:ext cx="5206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en-US" altLang="ko-KR" sz="2000" b="1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BERTopic</a:t>
            </a: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기반 토픽모델링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20E62D54-1477-5DC5-26E2-E55343E5E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18" y="3522316"/>
            <a:ext cx="5998348" cy="123133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61008B35-50C3-20C4-57BD-59EE96AC9F96}"/>
              </a:ext>
            </a:extLst>
          </p:cNvPr>
          <p:cNvSpPr txBox="1"/>
          <p:nvPr/>
        </p:nvSpPr>
        <p:spPr>
          <a:xfrm>
            <a:off x="583551" y="1391112"/>
            <a:ext cx="56232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BERTopic은</a:t>
            </a: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BERT 사전학습 기반의 토픽 모델링 기법으로, 최근 </a:t>
            </a: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관광 리뷰 분석 </a:t>
            </a: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분야에서 활발히 </a:t>
            </a: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활용</a:t>
            </a: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되고 있다. </a:t>
            </a: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특히 </a:t>
            </a:r>
            <a:r>
              <a:rPr lang="ko-KR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대규모 비정형 텍스트의 의미 이해와 토픽 식별 정확도</a:t>
            </a:r>
            <a:r>
              <a:rPr lang="ko-KR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를 높이는 데 강점이 있어, 관광산업 내 리뷰 데이터 분석, 관광지 관리, 체험 개선 전략 수립 등에서 주목받고 있다</a:t>
            </a:r>
            <a:r>
              <a:rPr lang="zh-CN" altLang="en-US" sz="1050" dirty="0">
                <a:solidFill>
                  <a:schemeClr val="bg1"/>
                </a:solidFill>
                <a:latin typeface="나눔고딕" pitchFamily="2" charset="-127"/>
                <a:cs typeface="Calibri" pitchFamily="34" charset="-120"/>
              </a:rPr>
              <a:t>（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Salazar et al., 2025; Salazar et al., 2026).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온라인 리뷰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(Online Review)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토픽 분석에서는 전통적인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LDA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알고리즘이 많이 쓰이지만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BERT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기반 모델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은 다양한 지역과 문화적 배경의 리뷰에서 더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뛰어난 의미 파악과 토픽 식별 능력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을 보여줍니다 </a:t>
            </a:r>
            <a:r>
              <a:rPr lang="en-US" altLang="ko-KR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(Salazar et al., 2025).</a:t>
            </a:r>
            <a:endParaRPr lang="ko-KR" alt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Calibri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B99EC-8AF0-CD8D-4F42-72C3B14CB1B3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25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491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84DB-FC03-D56D-533C-2F123FFE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806590B1-054B-4AD8-D217-D1B2D273E75F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73E9C1E7-B434-E511-A426-4D5EDED9C5A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D2AFDD0-06DB-582F-1E24-F680CC1C475B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4238F8A-FA72-F433-AD8B-CE7C3B6C704D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6216D71F-DA26-7BC5-F8B4-2FA3621501E0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B8D29466-0B04-BB37-0327-EF3FFC28FE7F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F2B18C5-BAB7-10B6-D5C8-E771088C4928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F6DC9E8-974C-D533-01E8-6E318F04E787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426419D-20CC-1F07-C626-D32028603B9F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886D8F2-400B-FD55-81F9-ECA219AFFAA5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AFEBB945-4D4F-A4C4-330F-09622BE023C2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7189E87-9D6C-4116-04BB-6CE5DB0EBE05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EE8D9016-50A9-CCFC-3CE0-06B1E680B271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406D12C-F4A2-E751-080B-3B8348D012BA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6D69C7-B41A-B5ED-E563-3E1D5587A63D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76B8E-05E6-F715-8B7A-9FDB54383C5F}"/>
              </a:ext>
            </a:extLst>
          </p:cNvPr>
          <p:cNvSpPr txBox="1"/>
          <p:nvPr/>
        </p:nvSpPr>
        <p:spPr>
          <a:xfrm>
            <a:off x="167480" y="4035799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7 &gt;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감성 토픽 추이 차트 </a:t>
            </a:r>
            <a:endParaRPr lang="ko-KR" altLang="ko-KR" sz="11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B50016-1C47-03D4-AB1A-196870841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13" y="1810187"/>
            <a:ext cx="4244921" cy="21246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A18A799-471C-9CE1-5EC5-89E1CC8AC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413" y="1810187"/>
            <a:ext cx="4072894" cy="2124693"/>
          </a:xfrm>
          <a:prstGeom prst="rect">
            <a:avLst/>
          </a:prstGeom>
        </p:spPr>
      </p:pic>
      <p:sp>
        <p:nvSpPr>
          <p:cNvPr id="6" name="矩形 21">
            <a:extLst>
              <a:ext uri="{FF2B5EF4-FFF2-40B4-BE49-F238E27FC236}">
                <a16:creationId xmlns:a16="http://schemas.microsoft.com/office/drawing/2014/main" id="{5401CBCF-363A-3302-031C-69068ADA9A9B}"/>
              </a:ext>
            </a:extLst>
          </p:cNvPr>
          <p:cNvSpPr/>
          <p:nvPr/>
        </p:nvSpPr>
        <p:spPr>
          <a:xfrm>
            <a:off x="355599" y="836922"/>
            <a:ext cx="73340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다국어 감성분석 및 </a:t>
            </a:r>
            <a:r>
              <a:rPr lang="en-US" altLang="ko-KR" sz="2000" b="1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BERTopic</a:t>
            </a: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기반 토픽모델링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257C8-B529-3AFE-689B-88595A00C49B}"/>
              </a:ext>
            </a:extLst>
          </p:cNvPr>
          <p:cNvSpPr txBox="1"/>
          <p:nvPr/>
        </p:nvSpPr>
        <p:spPr>
          <a:xfrm>
            <a:off x="4658470" y="4044968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8 &gt;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부정 토픽 추이 차트</a:t>
            </a:r>
            <a:endParaRPr lang="ko-KR" altLang="ko-KR" sz="11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15D89-FB61-A99D-32C6-371466749527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26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932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B690-3D3C-142F-182D-22A519B9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156682A5-1182-E195-5875-A56245F441D2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188992E5-789A-1ACD-6E14-BFB7D1BED5E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F144368-E94D-C7A7-1574-7073DE818FED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367E208-405B-7694-1117-BAF23D904F1F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6FE4AA72-AC58-4CAC-939C-36E39B22DAC7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734208D9-25EF-F0A6-A722-2270671566B8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2073348-EFBC-7F6D-3316-CF0E8DB6DA3F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EE775B53-5E42-B62E-F5BF-7DF5529E7BF0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3419542-8F42-FD06-F513-5056609067D6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35BC428-156B-263B-EA0D-21216003436B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787D182-4AAD-6320-CA82-B924461DCFDF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872C9167-4DB8-E501-B19C-59CDBE18BC64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CFA4870F-66FB-43A2-FE64-2A57FA4D4D74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447182E-2F8B-247E-0E03-F5B3F2EDB59A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F1441-66C6-848E-14AB-9D27498D9C5C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EE5C21-E10B-9B9B-8F59-CEEAB4F65791}"/>
              </a:ext>
            </a:extLst>
          </p:cNvPr>
          <p:cNvSpPr txBox="1"/>
          <p:nvPr/>
        </p:nvSpPr>
        <p:spPr>
          <a:xfrm>
            <a:off x="2629166" y="4176718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Table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1 &gt;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ko-KR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긍정</a:t>
            </a:r>
            <a:r>
              <a:rPr lang="en-US" altLang="ko-KR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주제 분석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ko-KR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공통 </a:t>
            </a:r>
            <a:r>
              <a:rPr lang="ko-KR" altLang="en-US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요인</a:t>
            </a:r>
            <a:endParaRPr lang="ko-KR" altLang="ko-KR" sz="1100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矩形 21">
            <a:extLst>
              <a:ext uri="{FF2B5EF4-FFF2-40B4-BE49-F238E27FC236}">
                <a16:creationId xmlns:a16="http://schemas.microsoft.com/office/drawing/2014/main" id="{CBF4BED0-DF4D-1FA6-B104-8600843E9FD5}"/>
              </a:ext>
            </a:extLst>
          </p:cNvPr>
          <p:cNvSpPr/>
          <p:nvPr/>
        </p:nvSpPr>
        <p:spPr>
          <a:xfrm>
            <a:off x="355599" y="836922"/>
            <a:ext cx="73340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다국어 감성분석 및 </a:t>
            </a:r>
            <a:r>
              <a:rPr lang="en-US" altLang="ko-KR" sz="2000" b="1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BERTopic</a:t>
            </a: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기반 토픽모델링 결과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294A12E-A484-CB6D-A2FD-CBCA56D23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890564"/>
              </p:ext>
            </p:extLst>
          </p:nvPr>
        </p:nvGraphicFramePr>
        <p:xfrm>
          <a:off x="630946" y="1731599"/>
          <a:ext cx="7886700" cy="230886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152408680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5950370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31328774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893945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주제</a:t>
                      </a:r>
                      <a:endParaRPr lang="ko-KR" b="1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대표 명소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 키워드 예시(Top5)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639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역사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문화 경험</a:t>
                      </a:r>
                      <a:endParaRPr lang="ko-KR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방문 목적별 핵심 만족 요인</a:t>
                      </a:r>
                      <a:endParaRPr lang="ko-KR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경복궁, 서울메트로, 인사동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palace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seoul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korean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visit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korea</a:t>
                      </a:r>
                      <a:endParaRPr lang="ko-KR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44390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시각적 경험</a:t>
                      </a:r>
                      <a:br>
                        <a:rPr lang="en-US" alt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(전망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경관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건축)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가장 많은 긍정 리뷰 유발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N서울타워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성산일출봉, 광안리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tower, view, beautiful, city, night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25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한국 고유성</a:t>
                      </a:r>
                      <a:endParaRPr lang="en-US" altLang="ko-KR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(한옥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사찰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전통)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외국인 최고 만족 요인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북촌,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조계사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불국사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traditional, 韓屋, korean, hanok, seoul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69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무료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가성비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박물관류 긍정 견인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국립중앙박물관, 경주박물관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free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museum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history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visit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무료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7893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17BBA28-69CD-6DC3-22CD-B726AAEE4F4E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27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336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802E7-FD59-F819-7745-9E6CEC15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63A0C725-FCF4-AAEC-B1E2-5DC6E411CC65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C5ED538E-7D0E-448D-2D3C-1EED4278482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B2687AB-353F-07C2-0C36-ED1B86B1B200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9A18D36C-031A-3EBD-8DE6-B7BEA48717AA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8AA8101-F00C-5D72-FC81-7EA661B8F83D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599A2ADC-5223-D6FF-D970-85A724BB8859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30773ED-E01E-DFD4-A539-7064A39D12A9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755A1282-1457-FD53-7A79-C89E744C4A46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88F02284-E965-082D-C768-D55420F46F49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E25F177C-9084-2F10-4CD4-B6B848697CA8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8E3EDFF-B70C-33DF-E3E9-41D7E56D1BEB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AD18C26-F6EA-23FD-0BD7-0DCC97049D39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D72EF38A-16D6-66E1-18AC-A7C1B9186E44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D59F1AF-A978-9079-5969-67F33C1FC5FD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E23A6B-9D7B-532C-6280-63ABFF3B87B3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44B09E-B2E0-8C9E-2393-DB6670334EB4}"/>
              </a:ext>
            </a:extLst>
          </p:cNvPr>
          <p:cNvSpPr txBox="1"/>
          <p:nvPr/>
        </p:nvSpPr>
        <p:spPr>
          <a:xfrm>
            <a:off x="2717392" y="4528475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Table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2 &gt;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부</a:t>
            </a:r>
            <a:r>
              <a:rPr lang="ko-KR" altLang="ko-KR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정</a:t>
            </a:r>
            <a:r>
              <a:rPr lang="en-US" altLang="ko-KR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주제 분석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ko-KR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공통 </a:t>
            </a:r>
            <a:r>
              <a:rPr lang="ko-KR" altLang="en-US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요인</a:t>
            </a:r>
            <a:endParaRPr lang="ko-KR" altLang="ko-KR" sz="1100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矩形 21">
            <a:extLst>
              <a:ext uri="{FF2B5EF4-FFF2-40B4-BE49-F238E27FC236}">
                <a16:creationId xmlns:a16="http://schemas.microsoft.com/office/drawing/2014/main" id="{D72EB421-6EF3-5F13-B0CA-5EBBF32F191B}"/>
              </a:ext>
            </a:extLst>
          </p:cNvPr>
          <p:cNvSpPr/>
          <p:nvPr/>
        </p:nvSpPr>
        <p:spPr>
          <a:xfrm>
            <a:off x="355599" y="836922"/>
            <a:ext cx="73340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다국어 감성분석 및 </a:t>
            </a:r>
            <a:r>
              <a:rPr lang="en-US" altLang="ko-KR" sz="2000" b="1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BERTopic</a:t>
            </a: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기반 토픽모델링 결과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FA14AEB-073A-FA6B-0F92-013EEBA9C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911278"/>
              </p:ext>
            </p:extLst>
          </p:nvPr>
        </p:nvGraphicFramePr>
        <p:xfrm>
          <a:off x="500228" y="1391112"/>
          <a:ext cx="7886700" cy="292608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3740012937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1835467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95747608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990550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불만 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주제</a:t>
                      </a:r>
                      <a:endParaRPr lang="ko-KR" b="1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반복 명소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 키워드 예시(Top5)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건수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95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①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혼잡·대기</a:t>
                      </a:r>
                      <a:endParaRPr lang="ko-KR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N서울타워, 에버랜드, 북촌, 명동, 성산일출봉, 감천마을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wait, queue, crowded, people,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최대 309건(북촌), 241건(에버랜드)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8024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② 교통·접근성 불편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불국사, 남이섬, DMZ, 설악산, 민속촌, 해동용궁사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bus, taxi, station, ferry,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최대 101건(남이섬), 54건(민속촌)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685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③ 상업화·진정성 훼손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전주한옥, 인사동, 북촌,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이크선동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감천마을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상업, 아쉽,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tourists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shops</a:t>
                      </a:r>
                      <a:endParaRPr lang="ko-KR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최대 140건(인사동), 82건(전주)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913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④ 영어·다국어 안내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경주박물관, 서울예술의전당, 국립중앙박물관, 창덕궁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english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guide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exhibits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display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ガイド</a:t>
                      </a:r>
                      <a:endParaRPr lang="ko-KR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최대 28건(예술의전당), 9건(경주박물관)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96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0AD1EE-D29D-1A22-746F-03270C2755DC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28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60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3F0F7-5898-21C1-658B-123CFD8B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B0B653A7-14D1-93D5-89FF-1599D111FA1C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55B551A3-C19D-BA45-A3E7-18A5C8307B3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EF6BC5F-53DF-D148-CE68-2609A1859E7A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AC4C56-D9EA-D3AF-BF9B-E73A0150FE66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C19ECD98-5A5F-80F1-3419-C2F5BE5F2FA4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07A77C6A-EEDC-4A8B-D80F-972754070B09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CFA2D00-7F74-C1DF-C338-87783CF9B66D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A3D3830E-6BBD-FBEE-27F2-88406AC2F8CF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AB74151-1FDD-3125-F3C9-32D4CB25C038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D6DC00FD-4F3E-588C-F229-B710065BBE12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D18DF55-C0F9-BD0C-4360-714E762C449A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F3A71E9F-5D5A-6BE7-F4B0-8ABB2ADA5892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65C123AA-E501-BCE1-438F-93382E5AE4D3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8281D0A-493B-DDDF-ECAF-AD63AF826718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F30083-0204-4057-2088-C66C4CA596C7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93FCE-A8B5-AEC5-B37A-5D894F4E83D4}"/>
              </a:ext>
            </a:extLst>
          </p:cNvPr>
          <p:cNvSpPr txBox="1"/>
          <p:nvPr/>
        </p:nvSpPr>
        <p:spPr>
          <a:xfrm>
            <a:off x="2644752" y="3480462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&lt; Table</a:t>
            </a:r>
            <a:r>
              <a:rPr lang="ko-KR" altLang="en-US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3 &gt;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중립</a:t>
            </a:r>
            <a:r>
              <a:rPr lang="en-US" altLang="ko-KR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주제 분석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ko-KR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공통 </a:t>
            </a:r>
            <a:r>
              <a:rPr lang="ko-KR" altLang="en-US" sz="11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요인</a:t>
            </a:r>
            <a:endParaRPr lang="ko-KR" altLang="ko-KR" sz="1100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矩形 21">
            <a:extLst>
              <a:ext uri="{FF2B5EF4-FFF2-40B4-BE49-F238E27FC236}">
                <a16:creationId xmlns:a16="http://schemas.microsoft.com/office/drawing/2014/main" id="{E29DC9B0-61F9-4899-E04A-995665ADDB60}"/>
              </a:ext>
            </a:extLst>
          </p:cNvPr>
          <p:cNvSpPr/>
          <p:nvPr/>
        </p:nvSpPr>
        <p:spPr>
          <a:xfrm>
            <a:off x="355599" y="836922"/>
            <a:ext cx="73340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다국어 감성분석 및 </a:t>
            </a:r>
            <a:r>
              <a:rPr lang="en-US" altLang="ko-KR" sz="2000" b="1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BERTopic</a:t>
            </a: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기반 토픽모델링 결과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390411-BBB6-9BED-1E6B-5F84B823E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294494"/>
              </p:ext>
            </p:extLst>
          </p:nvPr>
        </p:nvGraphicFramePr>
        <p:xfrm>
          <a:off x="630946" y="2164023"/>
          <a:ext cx="7886700" cy="109728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530571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155933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182348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주제</a:t>
                      </a:r>
                      <a:endParaRPr lang="ko-KR" b="1" dirty="0">
                        <a:solidFill>
                          <a:schemeClr val="bg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 키워드 예시(Top5)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481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교통·이동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정보 중심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방문 전 실용 정보 탐색 단계 리뷰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bus, station, subway, ticket, taxi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212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기능적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입장료·운영시간·위치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fee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hours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entrance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dirty="0" err="1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exit</a:t>
                      </a:r>
                      <a:r>
                        <a:rPr lang="ko-KR" dirty="0">
                          <a:solidFill>
                            <a:schemeClr val="bg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, 時間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1894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7C5ACC-8BCF-87D8-A2CD-CB6E17D4DF35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29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4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DCC24-4E0A-FA22-99F8-9010C696F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30F78F3F-55E8-225E-D928-19E5259066AF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6358E5E-F814-AA83-F446-75CAB3E83A10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054DFA4-D24E-0FA0-6248-8C6AC70B1B41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3BD900B-AC1B-5AE9-68E6-B0CC76F54470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B2657DF4-5A5B-4B8D-F2DC-9FA33BB2EA5E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A5ED5371-4B04-CBE4-68F5-AABDB8D097ED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C6DB444-27A3-89CB-4F24-2904265FDFFF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A10F952B-46B5-ECD0-898E-06D4AE012237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2330989-07B1-9BE7-2095-E54B45A0B2EF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0D972F-C8CA-37CC-F8BB-4C0665C7F49E}"/>
              </a:ext>
            </a:extLst>
          </p:cNvPr>
          <p:cNvSpPr/>
          <p:nvPr/>
        </p:nvSpPr>
        <p:spPr>
          <a:xfrm>
            <a:off x="358774" y="159622"/>
            <a:ext cx="59603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C933C965-6DE6-D9CB-0CEF-C385643B0F07}"/>
              </a:ext>
            </a:extLst>
          </p:cNvPr>
          <p:cNvSpPr/>
          <p:nvPr/>
        </p:nvSpPr>
        <p:spPr>
          <a:xfrm>
            <a:off x="841248" y="2093976"/>
            <a:ext cx="4078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D834D45-9E74-22A4-FBD6-059F50E6711C}"/>
              </a:ext>
            </a:extLst>
          </p:cNvPr>
          <p:cNvSpPr/>
          <p:nvPr/>
        </p:nvSpPr>
        <p:spPr>
          <a:xfrm>
            <a:off x="813816" y="2571750"/>
            <a:ext cx="4078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1" name="矩形 21">
            <a:extLst>
              <a:ext uri="{FF2B5EF4-FFF2-40B4-BE49-F238E27FC236}">
                <a16:creationId xmlns:a16="http://schemas.microsoft.com/office/drawing/2014/main" id="{7231FF55-9EE4-53C8-383D-9D3E722145C1}"/>
              </a:ext>
            </a:extLst>
          </p:cNvPr>
          <p:cNvSpPr/>
          <p:nvPr/>
        </p:nvSpPr>
        <p:spPr>
          <a:xfrm>
            <a:off x="355600" y="836922"/>
            <a:ext cx="5206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시공간 분석 </a:t>
            </a:r>
            <a:r>
              <a:rPr lang="en-US" altLang="ko-KR" sz="16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Overall Pipeline 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4" name="Shape 3">
            <a:extLst>
              <a:ext uri="{FF2B5EF4-FFF2-40B4-BE49-F238E27FC236}">
                <a16:creationId xmlns:a16="http://schemas.microsoft.com/office/drawing/2014/main" id="{D864F4C0-0B05-E869-DF84-347DDF45BB27}"/>
              </a:ext>
            </a:extLst>
          </p:cNvPr>
          <p:cNvSpPr/>
          <p:nvPr/>
        </p:nvSpPr>
        <p:spPr>
          <a:xfrm>
            <a:off x="368047" y="1707454"/>
            <a:ext cx="1298448" cy="2331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7" name="Shape 4">
            <a:extLst>
              <a:ext uri="{FF2B5EF4-FFF2-40B4-BE49-F238E27FC236}">
                <a16:creationId xmlns:a16="http://schemas.microsoft.com/office/drawing/2014/main" id="{2FD9D665-F09D-11A5-9D70-65735E1BCAD9}"/>
              </a:ext>
            </a:extLst>
          </p:cNvPr>
          <p:cNvSpPr/>
          <p:nvPr/>
        </p:nvSpPr>
        <p:spPr>
          <a:xfrm>
            <a:off x="797815" y="1908622"/>
            <a:ext cx="438912" cy="438912"/>
          </a:xfrm>
          <a:prstGeom prst="ellipse">
            <a:avLst/>
          </a:prstGeom>
          <a:solidFill>
            <a:srgbClr val="E2702A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9" name="Text 5">
            <a:extLst>
              <a:ext uri="{FF2B5EF4-FFF2-40B4-BE49-F238E27FC236}">
                <a16:creationId xmlns:a16="http://schemas.microsoft.com/office/drawing/2014/main" id="{01F1D999-5C8B-5AA1-23F1-16056B4B290E}"/>
              </a:ext>
            </a:extLst>
          </p:cNvPr>
          <p:cNvSpPr/>
          <p:nvPr/>
        </p:nvSpPr>
        <p:spPr>
          <a:xfrm>
            <a:off x="797815" y="190862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1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1" name="Text 6">
            <a:extLst>
              <a:ext uri="{FF2B5EF4-FFF2-40B4-BE49-F238E27FC236}">
                <a16:creationId xmlns:a16="http://schemas.microsoft.com/office/drawing/2014/main" id="{5FF0F64A-CCA3-6180-1071-86294DDF5CA9}"/>
              </a:ext>
            </a:extLst>
          </p:cNvPr>
          <p:cNvSpPr/>
          <p:nvPr/>
        </p:nvSpPr>
        <p:spPr>
          <a:xfrm>
            <a:off x="422911" y="245726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Data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Integration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3" name="Text 7">
            <a:extLst>
              <a:ext uri="{FF2B5EF4-FFF2-40B4-BE49-F238E27FC236}">
                <a16:creationId xmlns:a16="http://schemas.microsoft.com/office/drawing/2014/main" id="{9B8B36AF-DFA1-54E2-6FEC-1810B03F0786}"/>
              </a:ext>
            </a:extLst>
          </p:cNvPr>
          <p:cNvSpPr/>
          <p:nvPr/>
        </p:nvSpPr>
        <p:spPr>
          <a:xfrm>
            <a:off x="422911" y="349053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Merge 5 sources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5" name="Text 8">
            <a:extLst>
              <a:ext uri="{FF2B5EF4-FFF2-40B4-BE49-F238E27FC236}">
                <a16:creationId xmlns:a16="http://schemas.microsoft.com/office/drawing/2014/main" id="{162BB573-A1A2-C171-7473-A536F9524684}"/>
              </a:ext>
            </a:extLst>
          </p:cNvPr>
          <p:cNvSpPr/>
          <p:nvPr/>
        </p:nvSpPr>
        <p:spPr>
          <a:xfrm>
            <a:off x="1618489" y="270872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7" name="Shape 9">
            <a:extLst>
              <a:ext uri="{FF2B5EF4-FFF2-40B4-BE49-F238E27FC236}">
                <a16:creationId xmlns:a16="http://schemas.microsoft.com/office/drawing/2014/main" id="{0CCC98DD-9EEC-DB6F-454A-200C39495596}"/>
              </a:ext>
            </a:extLst>
          </p:cNvPr>
          <p:cNvSpPr/>
          <p:nvPr/>
        </p:nvSpPr>
        <p:spPr>
          <a:xfrm>
            <a:off x="1789939" y="1707454"/>
            <a:ext cx="1298448" cy="2331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9" name="Shape 10">
            <a:extLst>
              <a:ext uri="{FF2B5EF4-FFF2-40B4-BE49-F238E27FC236}">
                <a16:creationId xmlns:a16="http://schemas.microsoft.com/office/drawing/2014/main" id="{33BC1380-178D-1A3C-B3D3-820341BE2183}"/>
              </a:ext>
            </a:extLst>
          </p:cNvPr>
          <p:cNvSpPr/>
          <p:nvPr/>
        </p:nvSpPr>
        <p:spPr>
          <a:xfrm>
            <a:off x="2219707" y="190862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1" name="Text 11">
            <a:extLst>
              <a:ext uri="{FF2B5EF4-FFF2-40B4-BE49-F238E27FC236}">
                <a16:creationId xmlns:a16="http://schemas.microsoft.com/office/drawing/2014/main" id="{FEF3B5D5-3797-6030-A83E-B6AD37659A68}"/>
              </a:ext>
            </a:extLst>
          </p:cNvPr>
          <p:cNvSpPr/>
          <p:nvPr/>
        </p:nvSpPr>
        <p:spPr>
          <a:xfrm>
            <a:off x="2219707" y="190862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2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3" name="Text 12">
            <a:extLst>
              <a:ext uri="{FF2B5EF4-FFF2-40B4-BE49-F238E27FC236}">
                <a16:creationId xmlns:a16="http://schemas.microsoft.com/office/drawing/2014/main" id="{63387A9E-1763-33A6-35C5-50E3E12C5370}"/>
              </a:ext>
            </a:extLst>
          </p:cNvPr>
          <p:cNvSpPr/>
          <p:nvPr/>
        </p:nvSpPr>
        <p:spPr>
          <a:xfrm>
            <a:off x="1844803" y="245726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Cleaning &amp;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Feature Eng.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5" name="Text 13">
            <a:extLst>
              <a:ext uri="{FF2B5EF4-FFF2-40B4-BE49-F238E27FC236}">
                <a16:creationId xmlns:a16="http://schemas.microsoft.com/office/drawing/2014/main" id="{97B53AE5-88B0-5D94-D733-9EF5690040FA}"/>
              </a:ext>
            </a:extLst>
          </p:cNvPr>
          <p:cNvSpPr/>
          <p:nvPr/>
        </p:nvSpPr>
        <p:spPr>
          <a:xfrm>
            <a:off x="1844803" y="349053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Parse, derive fields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7" name="Text 14">
            <a:extLst>
              <a:ext uri="{FF2B5EF4-FFF2-40B4-BE49-F238E27FC236}">
                <a16:creationId xmlns:a16="http://schemas.microsoft.com/office/drawing/2014/main" id="{AE824E50-94F6-7BAA-91DF-779251EC78BC}"/>
              </a:ext>
            </a:extLst>
          </p:cNvPr>
          <p:cNvSpPr/>
          <p:nvPr/>
        </p:nvSpPr>
        <p:spPr>
          <a:xfrm>
            <a:off x="3040381" y="270872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9" name="Shape 15">
            <a:extLst>
              <a:ext uri="{FF2B5EF4-FFF2-40B4-BE49-F238E27FC236}">
                <a16:creationId xmlns:a16="http://schemas.microsoft.com/office/drawing/2014/main" id="{C7296E77-A9E9-F94E-3EEF-6106FF468E92}"/>
              </a:ext>
            </a:extLst>
          </p:cNvPr>
          <p:cNvSpPr/>
          <p:nvPr/>
        </p:nvSpPr>
        <p:spPr>
          <a:xfrm>
            <a:off x="3211831" y="1707454"/>
            <a:ext cx="1298448" cy="2331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1" name="Shape 16">
            <a:extLst>
              <a:ext uri="{FF2B5EF4-FFF2-40B4-BE49-F238E27FC236}">
                <a16:creationId xmlns:a16="http://schemas.microsoft.com/office/drawing/2014/main" id="{FC9824A1-7D6E-2C9A-8256-2FD96EAFC73C}"/>
              </a:ext>
            </a:extLst>
          </p:cNvPr>
          <p:cNvSpPr/>
          <p:nvPr/>
        </p:nvSpPr>
        <p:spPr>
          <a:xfrm>
            <a:off x="3641599" y="1908622"/>
            <a:ext cx="438912" cy="438912"/>
          </a:xfrm>
          <a:prstGeom prst="ellipse">
            <a:avLst/>
          </a:prstGeom>
          <a:solidFill>
            <a:srgbClr val="E2702A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3" name="Text 17">
            <a:extLst>
              <a:ext uri="{FF2B5EF4-FFF2-40B4-BE49-F238E27FC236}">
                <a16:creationId xmlns:a16="http://schemas.microsoft.com/office/drawing/2014/main" id="{D4FC38DE-B7B6-F411-733D-84F598606C71}"/>
              </a:ext>
            </a:extLst>
          </p:cNvPr>
          <p:cNvSpPr/>
          <p:nvPr/>
        </p:nvSpPr>
        <p:spPr>
          <a:xfrm>
            <a:off x="3641599" y="190862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3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5" name="Text 18">
            <a:extLst>
              <a:ext uri="{FF2B5EF4-FFF2-40B4-BE49-F238E27FC236}">
                <a16:creationId xmlns:a16="http://schemas.microsoft.com/office/drawing/2014/main" id="{54120000-AFAA-4351-9E80-3657DCF63261}"/>
              </a:ext>
            </a:extLst>
          </p:cNvPr>
          <p:cNvSpPr/>
          <p:nvPr/>
        </p:nvSpPr>
        <p:spPr>
          <a:xfrm>
            <a:off x="3266695" y="245726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Descriptive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Analysis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7" name="Text 19">
            <a:extLst>
              <a:ext uri="{FF2B5EF4-FFF2-40B4-BE49-F238E27FC236}">
                <a16:creationId xmlns:a16="http://schemas.microsoft.com/office/drawing/2014/main" id="{9A0D8619-8C24-DA70-A7A7-0EBB66C73B8B}"/>
              </a:ext>
            </a:extLst>
          </p:cNvPr>
          <p:cNvSpPr/>
          <p:nvPr/>
        </p:nvSpPr>
        <p:spPr>
          <a:xfrm>
            <a:off x="3266695" y="349053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Volume, rating, trend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9" name="Text 20">
            <a:extLst>
              <a:ext uri="{FF2B5EF4-FFF2-40B4-BE49-F238E27FC236}">
                <a16:creationId xmlns:a16="http://schemas.microsoft.com/office/drawing/2014/main" id="{DDB6A6E2-A452-C4C6-6185-8E51F2EA83B0}"/>
              </a:ext>
            </a:extLst>
          </p:cNvPr>
          <p:cNvSpPr/>
          <p:nvPr/>
        </p:nvSpPr>
        <p:spPr>
          <a:xfrm>
            <a:off x="4462273" y="270872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B834D919-7B74-DE40-817E-E308EC27E39B}"/>
              </a:ext>
            </a:extLst>
          </p:cNvPr>
          <p:cNvSpPr/>
          <p:nvPr/>
        </p:nvSpPr>
        <p:spPr>
          <a:xfrm>
            <a:off x="4633723" y="1707454"/>
            <a:ext cx="1298448" cy="2331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3" name="Shape 22">
            <a:extLst>
              <a:ext uri="{FF2B5EF4-FFF2-40B4-BE49-F238E27FC236}">
                <a16:creationId xmlns:a16="http://schemas.microsoft.com/office/drawing/2014/main" id="{6828B88F-D2F9-381F-17F2-FD0893215754}"/>
              </a:ext>
            </a:extLst>
          </p:cNvPr>
          <p:cNvSpPr/>
          <p:nvPr/>
        </p:nvSpPr>
        <p:spPr>
          <a:xfrm>
            <a:off x="5063491" y="190862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5" name="Text 23">
            <a:extLst>
              <a:ext uri="{FF2B5EF4-FFF2-40B4-BE49-F238E27FC236}">
                <a16:creationId xmlns:a16="http://schemas.microsoft.com/office/drawing/2014/main" id="{9B583E48-DDC5-DCA8-590D-75F1AAF0643E}"/>
              </a:ext>
            </a:extLst>
          </p:cNvPr>
          <p:cNvSpPr/>
          <p:nvPr/>
        </p:nvSpPr>
        <p:spPr>
          <a:xfrm>
            <a:off x="5063491" y="190862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4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7" name="Text 24">
            <a:extLst>
              <a:ext uri="{FF2B5EF4-FFF2-40B4-BE49-F238E27FC236}">
                <a16:creationId xmlns:a16="http://schemas.microsoft.com/office/drawing/2014/main" id="{CBB4FFD8-9FDE-4521-2B0B-FB527D7372ED}"/>
              </a:ext>
            </a:extLst>
          </p:cNvPr>
          <p:cNvSpPr/>
          <p:nvPr/>
        </p:nvSpPr>
        <p:spPr>
          <a:xfrm>
            <a:off x="4688587" y="245726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Geospatial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Analysis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9" name="Text 25">
            <a:extLst>
              <a:ext uri="{FF2B5EF4-FFF2-40B4-BE49-F238E27FC236}">
                <a16:creationId xmlns:a16="http://schemas.microsoft.com/office/drawing/2014/main" id="{8B40353A-6052-51AB-7799-BAFBB73DE2A4}"/>
              </a:ext>
            </a:extLst>
          </p:cNvPr>
          <p:cNvSpPr/>
          <p:nvPr/>
        </p:nvSpPr>
        <p:spPr>
          <a:xfrm>
            <a:off x="4688587" y="349053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Access, density, KDE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51" name="Text 26">
            <a:extLst>
              <a:ext uri="{FF2B5EF4-FFF2-40B4-BE49-F238E27FC236}">
                <a16:creationId xmlns:a16="http://schemas.microsoft.com/office/drawing/2014/main" id="{F8A3B8E7-04AA-D026-1921-6B5B0E5B8786}"/>
              </a:ext>
            </a:extLst>
          </p:cNvPr>
          <p:cNvSpPr/>
          <p:nvPr/>
        </p:nvSpPr>
        <p:spPr>
          <a:xfrm>
            <a:off x="5884165" y="270872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53" name="Shape 27">
            <a:extLst>
              <a:ext uri="{FF2B5EF4-FFF2-40B4-BE49-F238E27FC236}">
                <a16:creationId xmlns:a16="http://schemas.microsoft.com/office/drawing/2014/main" id="{B8C4A477-F0D6-5AD3-9C20-17728A59E83C}"/>
              </a:ext>
            </a:extLst>
          </p:cNvPr>
          <p:cNvSpPr/>
          <p:nvPr/>
        </p:nvSpPr>
        <p:spPr>
          <a:xfrm>
            <a:off x="6055615" y="1707454"/>
            <a:ext cx="1298448" cy="2331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55" name="Shape 28">
            <a:extLst>
              <a:ext uri="{FF2B5EF4-FFF2-40B4-BE49-F238E27FC236}">
                <a16:creationId xmlns:a16="http://schemas.microsoft.com/office/drawing/2014/main" id="{DCB2E4A6-3468-84DE-81E7-5421184DDA75}"/>
              </a:ext>
            </a:extLst>
          </p:cNvPr>
          <p:cNvSpPr/>
          <p:nvPr/>
        </p:nvSpPr>
        <p:spPr>
          <a:xfrm>
            <a:off x="6485383" y="1908622"/>
            <a:ext cx="438912" cy="438912"/>
          </a:xfrm>
          <a:prstGeom prst="ellipse">
            <a:avLst/>
          </a:prstGeom>
          <a:solidFill>
            <a:srgbClr val="E2702A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57" name="Text 29">
            <a:extLst>
              <a:ext uri="{FF2B5EF4-FFF2-40B4-BE49-F238E27FC236}">
                <a16:creationId xmlns:a16="http://schemas.microsoft.com/office/drawing/2014/main" id="{AB8BDDEF-2B82-E252-681F-6468D29D0813}"/>
              </a:ext>
            </a:extLst>
          </p:cNvPr>
          <p:cNvSpPr/>
          <p:nvPr/>
        </p:nvSpPr>
        <p:spPr>
          <a:xfrm>
            <a:off x="6485383" y="190862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5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59" name="Text 30">
            <a:extLst>
              <a:ext uri="{FF2B5EF4-FFF2-40B4-BE49-F238E27FC236}">
                <a16:creationId xmlns:a16="http://schemas.microsoft.com/office/drawing/2014/main" id="{CEB6D0D5-AA8F-5202-6F95-F1744D662F0E}"/>
              </a:ext>
            </a:extLst>
          </p:cNvPr>
          <p:cNvSpPr/>
          <p:nvPr/>
        </p:nvSpPr>
        <p:spPr>
          <a:xfrm>
            <a:off x="6110479" y="245726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Overcrowding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Risk Index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1" name="Text 31">
            <a:extLst>
              <a:ext uri="{FF2B5EF4-FFF2-40B4-BE49-F238E27FC236}">
                <a16:creationId xmlns:a16="http://schemas.microsoft.com/office/drawing/2014/main" id="{5FE812D6-A0CC-1457-7F67-C464933BF175}"/>
              </a:ext>
            </a:extLst>
          </p:cNvPr>
          <p:cNvSpPr/>
          <p:nvPr/>
        </p:nvSpPr>
        <p:spPr>
          <a:xfrm>
            <a:off x="6110479" y="349053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OWI scoring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3" name="Text 32">
            <a:extLst>
              <a:ext uri="{FF2B5EF4-FFF2-40B4-BE49-F238E27FC236}">
                <a16:creationId xmlns:a16="http://schemas.microsoft.com/office/drawing/2014/main" id="{01AEF47B-0F42-413B-E28B-2E3558B0C387}"/>
              </a:ext>
            </a:extLst>
          </p:cNvPr>
          <p:cNvSpPr/>
          <p:nvPr/>
        </p:nvSpPr>
        <p:spPr>
          <a:xfrm>
            <a:off x="7306057" y="270872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5" name="Shape 33">
            <a:extLst>
              <a:ext uri="{FF2B5EF4-FFF2-40B4-BE49-F238E27FC236}">
                <a16:creationId xmlns:a16="http://schemas.microsoft.com/office/drawing/2014/main" id="{8B37300D-4580-F529-4AF7-C3377020743A}"/>
              </a:ext>
            </a:extLst>
          </p:cNvPr>
          <p:cNvSpPr/>
          <p:nvPr/>
        </p:nvSpPr>
        <p:spPr>
          <a:xfrm>
            <a:off x="7477507" y="1707454"/>
            <a:ext cx="1252854" cy="2331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7" name="Shape 34">
            <a:extLst>
              <a:ext uri="{FF2B5EF4-FFF2-40B4-BE49-F238E27FC236}">
                <a16:creationId xmlns:a16="http://schemas.microsoft.com/office/drawing/2014/main" id="{12BCF87E-9026-7C04-008B-8614FCEDDDD2}"/>
              </a:ext>
            </a:extLst>
          </p:cNvPr>
          <p:cNvSpPr/>
          <p:nvPr/>
        </p:nvSpPr>
        <p:spPr>
          <a:xfrm>
            <a:off x="7907275" y="190862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9" name="Text 35">
            <a:extLst>
              <a:ext uri="{FF2B5EF4-FFF2-40B4-BE49-F238E27FC236}">
                <a16:creationId xmlns:a16="http://schemas.microsoft.com/office/drawing/2014/main" id="{9E16BF57-3645-7DFD-E03C-DBD843474292}"/>
              </a:ext>
            </a:extLst>
          </p:cNvPr>
          <p:cNvSpPr/>
          <p:nvPr/>
        </p:nvSpPr>
        <p:spPr>
          <a:xfrm>
            <a:off x="7907275" y="190862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6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71" name="Text 36">
            <a:extLst>
              <a:ext uri="{FF2B5EF4-FFF2-40B4-BE49-F238E27FC236}">
                <a16:creationId xmlns:a16="http://schemas.microsoft.com/office/drawing/2014/main" id="{8E00A671-2031-F0A4-ECDE-7A69ECBAD878}"/>
              </a:ext>
            </a:extLst>
          </p:cNvPr>
          <p:cNvSpPr/>
          <p:nvPr/>
        </p:nvSpPr>
        <p:spPr>
          <a:xfrm>
            <a:off x="7532371" y="245726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Dashboard &amp;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Visualization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73" name="Text 37">
            <a:extLst>
              <a:ext uri="{FF2B5EF4-FFF2-40B4-BE49-F238E27FC236}">
                <a16:creationId xmlns:a16="http://schemas.microsoft.com/office/drawing/2014/main" id="{A9053818-6AC0-62F3-7F7D-B04D074FF4E8}"/>
              </a:ext>
            </a:extLst>
          </p:cNvPr>
          <p:cNvSpPr/>
          <p:nvPr/>
        </p:nvSpPr>
        <p:spPr>
          <a:xfrm>
            <a:off x="7532371" y="349053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7-mode Leaflet map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ADBF4-F2E8-C5EA-4BA8-F81CFF9AEC5C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30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391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7BA6-4717-5B2B-D95F-6C959B17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3CBF6096-9903-59CF-00F4-AD66D34D0FAE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869A0DC-4686-2127-4049-B1C99B204DCC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C369AF9C-21AE-158F-9353-714269F16DD3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F866A2B-4244-BDBB-7395-5D19AF74A61C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18F04EB8-CD78-088C-0179-2EE205A8D267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4E4E3A3-6789-229D-423B-0AEF2591948F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4128FE76-802B-3619-5814-356BA96543ED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4B8C8215-8A1B-9674-9BBA-12DF59685F60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EAF090D-9CB3-14BF-1A55-CF55AEA48222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F7AC5D-E993-903E-EFC7-AD6518AC942D}"/>
              </a:ext>
            </a:extLst>
          </p:cNvPr>
          <p:cNvSpPr/>
          <p:nvPr/>
        </p:nvSpPr>
        <p:spPr>
          <a:xfrm>
            <a:off x="358774" y="159622"/>
            <a:ext cx="59603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1" name="矩形 21">
            <a:extLst>
              <a:ext uri="{FF2B5EF4-FFF2-40B4-BE49-F238E27FC236}">
                <a16:creationId xmlns:a16="http://schemas.microsoft.com/office/drawing/2014/main" id="{479148A7-6F6B-EAFE-336A-2DD94AC712AB}"/>
              </a:ext>
            </a:extLst>
          </p:cNvPr>
          <p:cNvSpPr/>
          <p:nvPr/>
        </p:nvSpPr>
        <p:spPr>
          <a:xfrm>
            <a:off x="355600" y="836922"/>
            <a:ext cx="5206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시공간 분석</a:t>
            </a: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B9CE11FC-F176-BF28-8E4B-0B07B077FE90}"/>
              </a:ext>
            </a:extLst>
          </p:cNvPr>
          <p:cNvSpPr/>
          <p:nvPr/>
        </p:nvSpPr>
        <p:spPr>
          <a:xfrm>
            <a:off x="45720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796889-577E-0966-9117-740631C9A959}"/>
              </a:ext>
            </a:extLst>
          </p:cNvPr>
          <p:cNvSpPr/>
          <p:nvPr/>
        </p:nvSpPr>
        <p:spPr>
          <a:xfrm>
            <a:off x="658368" y="170992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A228C2A-3879-83E9-9D4E-3A086CE6736E}"/>
              </a:ext>
            </a:extLst>
          </p:cNvPr>
          <p:cNvSpPr/>
          <p:nvPr/>
        </p:nvSpPr>
        <p:spPr>
          <a:xfrm>
            <a:off x="658368" y="1709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1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67FEF4C-ED25-74A6-B0E7-6458A813A750}"/>
              </a:ext>
            </a:extLst>
          </p:cNvPr>
          <p:cNvSpPr/>
          <p:nvPr/>
        </p:nvSpPr>
        <p:spPr>
          <a:xfrm>
            <a:off x="1097280" y="16733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접근성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4B1CF11-42F6-CA03-B0E4-70478A7E7C1F}"/>
              </a:ext>
            </a:extLst>
          </p:cNvPr>
          <p:cNvSpPr/>
          <p:nvPr/>
        </p:nvSpPr>
        <p:spPr>
          <a:xfrm>
            <a:off x="658368" y="2075688"/>
            <a:ext cx="3575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radius_m = min(nearest_rail_dist_m, nearest_bus_dist_m). Tiers: Good ≤500m, Moderate 500–800m, Poor &gt;800m.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C32278C4-6277-990E-B2D9-32EEA56EC9BB}"/>
              </a:ext>
            </a:extLst>
          </p:cNvPr>
          <p:cNvSpPr/>
          <p:nvPr/>
        </p:nvSpPr>
        <p:spPr>
          <a:xfrm>
            <a:off x="470916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45FD45BB-E5FB-4426-421D-6DC23C9AA6DC}"/>
              </a:ext>
            </a:extLst>
          </p:cNvPr>
          <p:cNvSpPr/>
          <p:nvPr/>
        </p:nvSpPr>
        <p:spPr>
          <a:xfrm>
            <a:off x="4910328" y="1709928"/>
            <a:ext cx="310896" cy="310896"/>
          </a:xfrm>
          <a:prstGeom prst="ellipse">
            <a:avLst/>
          </a:prstGeom>
          <a:solidFill>
            <a:srgbClr val="E2702A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2E8FF10F-50B6-4698-E749-81A677F485D8}"/>
              </a:ext>
            </a:extLst>
          </p:cNvPr>
          <p:cNvSpPr/>
          <p:nvPr/>
        </p:nvSpPr>
        <p:spPr>
          <a:xfrm>
            <a:off x="4910328" y="1709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2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6E14FB91-08A2-7917-212A-7A7A83E0B557}"/>
              </a:ext>
            </a:extLst>
          </p:cNvPr>
          <p:cNvSpPr/>
          <p:nvPr/>
        </p:nvSpPr>
        <p:spPr>
          <a:xfrm>
            <a:off x="5349240" y="16733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시설 밀도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7726ECCA-C53C-A67B-88BE-14F84D07B2DA}"/>
              </a:ext>
            </a:extLst>
          </p:cNvPr>
          <p:cNvSpPr/>
          <p:nvPr/>
        </p:nvSpPr>
        <p:spPr>
          <a:xfrm>
            <a:off x="4910328" y="2075688"/>
            <a:ext cx="3575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Restaurant + lodging counts within a 500m buffer of each attraction; feeds the overcrowding index.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CC03EB21-22C3-7BD5-4BC6-55773D0161F0}"/>
              </a:ext>
            </a:extLst>
          </p:cNvPr>
          <p:cNvSpPr/>
          <p:nvPr/>
        </p:nvSpPr>
        <p:spPr>
          <a:xfrm>
            <a:off x="457200" y="3200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C11345FD-B917-0C7D-148B-DB46B408C8CE}"/>
              </a:ext>
            </a:extLst>
          </p:cNvPr>
          <p:cNvSpPr/>
          <p:nvPr/>
        </p:nvSpPr>
        <p:spPr>
          <a:xfrm>
            <a:off x="658368" y="34015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B337BDD8-9F09-EF63-99B3-FB2810155865}"/>
              </a:ext>
            </a:extLst>
          </p:cNvPr>
          <p:cNvSpPr/>
          <p:nvPr/>
        </p:nvSpPr>
        <p:spPr>
          <a:xfrm>
            <a:off x="658368" y="34015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3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7A48A47B-0213-ED30-A97F-27B3B016F053}"/>
              </a:ext>
            </a:extLst>
          </p:cNvPr>
          <p:cNvSpPr/>
          <p:nvPr/>
        </p:nvSpPr>
        <p:spPr>
          <a:xfrm>
            <a:off x="1097280" y="33649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네트워크 </a:t>
            </a:r>
            <a:r>
              <a:rPr lang="ko-KR" altLang="en-US" sz="1400" b="1" dirty="0" err="1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중심성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826843FF-2E7F-4527-96D2-4291FAD29A50}"/>
              </a:ext>
            </a:extLst>
          </p:cNvPr>
          <p:cNvSpPr/>
          <p:nvPr/>
        </p:nvSpPr>
        <p:spPr>
          <a:xfrm>
            <a:off x="658368" y="3767328"/>
            <a:ext cx="3575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Co-visitation graph from shared reviewer_profile across attractions; betweenness centrality via networkx.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CD57B0E4-AC83-F8AF-D78E-247A6490E412}"/>
              </a:ext>
            </a:extLst>
          </p:cNvPr>
          <p:cNvSpPr/>
          <p:nvPr/>
        </p:nvSpPr>
        <p:spPr>
          <a:xfrm>
            <a:off x="4709160" y="3200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4C3567B2-6DF3-DB1F-4D6D-1C8640944F22}"/>
              </a:ext>
            </a:extLst>
          </p:cNvPr>
          <p:cNvSpPr/>
          <p:nvPr/>
        </p:nvSpPr>
        <p:spPr>
          <a:xfrm>
            <a:off x="4910328" y="3401568"/>
            <a:ext cx="310896" cy="310896"/>
          </a:xfrm>
          <a:prstGeom prst="ellipse">
            <a:avLst/>
          </a:prstGeom>
          <a:solidFill>
            <a:srgbClr val="E2702A"/>
          </a:solidFill>
          <a:ln/>
        </p:spPr>
        <p:txBody>
          <a:bodyPr/>
          <a:lstStyle/>
          <a:p>
            <a:endParaRPr lang="ko-KR" altLang="en-US" sz="2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9223D408-4707-3F6B-4DCE-39B9272CFC09}"/>
              </a:ext>
            </a:extLst>
          </p:cNvPr>
          <p:cNvSpPr/>
          <p:nvPr/>
        </p:nvSpPr>
        <p:spPr>
          <a:xfrm>
            <a:off x="4910328" y="34015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4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13D03BEF-7E46-F531-0532-0E224F2105F9}"/>
              </a:ext>
            </a:extLst>
          </p:cNvPr>
          <p:cNvSpPr/>
          <p:nvPr/>
        </p:nvSpPr>
        <p:spPr>
          <a:xfrm>
            <a:off x="5349240" y="33649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Spatial Pattern Detection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506270A4-12E5-C011-F4AF-DF102CBC5B57}"/>
              </a:ext>
            </a:extLst>
          </p:cNvPr>
          <p:cNvSpPr/>
          <p:nvPr/>
        </p:nvSpPr>
        <p:spPr>
          <a:xfrm>
            <a:off x="4910328" y="3767328"/>
            <a:ext cx="3575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Kernel Density Estimation (KDE)</a:t>
            </a:r>
            <a:r>
              <a:rPr lang="zh-CN" altLang="en-US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，</a:t>
            </a:r>
            <a:r>
              <a:rPr lang="en-US" altLang="zh-CN" sz="10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O-D Move Pattern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7A40D-3F64-85D2-8454-BD55970A00E8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31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804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B08CE-A479-F055-68C7-85B7543F3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57FC6E2F-DBCC-6FB9-D56B-86014986C829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C7DC04E-5D3C-4CFC-DC20-ABACF3F29DD7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73417FD-81FD-CE4C-DC6F-A0AFB0E5B342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0A193D29-FE6E-FF0F-2534-22C2EEDEAD19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A79D7F2-A878-AF47-90B0-66E612464F76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EE413875-0D31-5AFA-D057-10A6147189E9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C26A5BC-6E42-FA50-51C0-86F5218C02BB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418263F9-4465-F926-7A34-D979695D3145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E817381-67F3-5D1F-18B5-928DE84DF451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4B7F47-3B3F-72CA-A81C-188D1CAF63D2}"/>
              </a:ext>
            </a:extLst>
          </p:cNvPr>
          <p:cNvSpPr/>
          <p:nvPr/>
        </p:nvSpPr>
        <p:spPr>
          <a:xfrm>
            <a:off x="358774" y="159622"/>
            <a:ext cx="59603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1" name="矩形 21">
            <a:extLst>
              <a:ext uri="{FF2B5EF4-FFF2-40B4-BE49-F238E27FC236}">
                <a16:creationId xmlns:a16="http://schemas.microsoft.com/office/drawing/2014/main" id="{BE563908-0CE8-8B4D-01CF-597F6F7936FE}"/>
              </a:ext>
            </a:extLst>
          </p:cNvPr>
          <p:cNvSpPr/>
          <p:nvPr/>
        </p:nvSpPr>
        <p:spPr>
          <a:xfrm>
            <a:off x="355600" y="836922"/>
            <a:ext cx="5206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시공간 분석 </a:t>
            </a:r>
            <a:r>
              <a:rPr lang="en-US" altLang="ko-KR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Overcrowding Warning Index  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0BBC106-2633-1646-FACA-BBD98D27C1E5}"/>
              </a:ext>
            </a:extLst>
          </p:cNvPr>
          <p:cNvSpPr/>
          <p:nvPr/>
        </p:nvSpPr>
        <p:spPr>
          <a:xfrm>
            <a:off x="457200" y="15087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7D8A3D5-4D20-D3F1-013A-9DD0D20B285F}"/>
              </a:ext>
            </a:extLst>
          </p:cNvPr>
          <p:cNvSpPr/>
          <p:nvPr/>
        </p:nvSpPr>
        <p:spPr>
          <a:xfrm>
            <a:off x="731520" y="1673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OWI  =  0.4 × norm(</a:t>
            </a:r>
            <a:r>
              <a:rPr lang="en-US" sz="135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review_growth_rate</a:t>
            </a: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+  0.3 × norm(negative_sentiment_share)  +  0.3 × norm(log(facility_density))</a:t>
            </a:r>
            <a:endParaRPr lang="en-US" sz="13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50FEEA1-0F49-560C-2329-D27CE5C0BBFF}"/>
              </a:ext>
            </a:extLst>
          </p:cNvPr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EB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norm() = min-max normalization across all 58 attractions</a:t>
            </a:r>
            <a:endParaRPr lang="en-US" sz="105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5824CC8-F2C0-25A0-C6A2-7F76A7D1A53C}"/>
              </a:ext>
            </a:extLst>
          </p:cNvPr>
          <p:cNvSpPr/>
          <p:nvPr/>
        </p:nvSpPr>
        <p:spPr>
          <a:xfrm>
            <a:off x="457200" y="2697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3027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D4F8D48-BA7B-DF63-FFA9-0D8874E56CD8}"/>
              </a:ext>
            </a:extLst>
          </p:cNvPr>
          <p:cNvSpPr/>
          <p:nvPr/>
        </p:nvSpPr>
        <p:spPr>
          <a:xfrm>
            <a:off x="658368" y="2898648"/>
            <a:ext cx="201168" cy="201168"/>
          </a:xfrm>
          <a:prstGeom prst="ellipse">
            <a:avLst/>
          </a:prstGeom>
          <a:solidFill>
            <a:srgbClr val="D73027"/>
          </a:solidFill>
          <a:ln/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62D212AA-0685-D113-471D-544B3A7537D0}"/>
              </a:ext>
            </a:extLst>
          </p:cNvPr>
          <p:cNvSpPr/>
          <p:nvPr/>
        </p:nvSpPr>
        <p:spPr>
          <a:xfrm>
            <a:off x="960120" y="28437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High Risk</a:t>
            </a:r>
            <a:endParaRPr lang="en-US" sz="13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E1A5FC02-936A-FAF2-B07F-C3476A14EC20}"/>
              </a:ext>
            </a:extLst>
          </p:cNvPr>
          <p:cNvSpPr/>
          <p:nvPr/>
        </p:nvSpPr>
        <p:spPr>
          <a:xfrm>
            <a:off x="658368" y="3209544"/>
            <a:ext cx="2203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ourier New" pitchFamily="34" charset="-120"/>
              </a:rPr>
              <a:t>OWI ≥ 0.6</a:t>
            </a:r>
            <a:endParaRPr 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BCA8AE03-C3F6-0686-50F8-C8A9E3E8B5A9}"/>
              </a:ext>
            </a:extLst>
          </p:cNvPr>
          <p:cNvSpPr/>
          <p:nvPr/>
        </p:nvSpPr>
        <p:spPr>
          <a:xfrm>
            <a:off x="3268980" y="2697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702A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1413976D-74B1-6161-47EF-0702A6BE13E3}"/>
              </a:ext>
            </a:extLst>
          </p:cNvPr>
          <p:cNvSpPr/>
          <p:nvPr/>
        </p:nvSpPr>
        <p:spPr>
          <a:xfrm>
            <a:off x="3470148" y="2898648"/>
            <a:ext cx="201168" cy="201168"/>
          </a:xfrm>
          <a:prstGeom prst="ellipse">
            <a:avLst/>
          </a:prstGeom>
          <a:solidFill>
            <a:srgbClr val="E2702A"/>
          </a:solidFill>
          <a:ln/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54BE46C9-8D92-F694-3897-932CC1B36765}"/>
              </a:ext>
            </a:extLst>
          </p:cNvPr>
          <p:cNvSpPr/>
          <p:nvPr/>
        </p:nvSpPr>
        <p:spPr>
          <a:xfrm>
            <a:off x="3771900" y="28437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Moderate Risk</a:t>
            </a:r>
            <a:endParaRPr lang="en-US" sz="13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D86389DC-6ED0-2F7A-F5DA-A1941C95CFE2}"/>
              </a:ext>
            </a:extLst>
          </p:cNvPr>
          <p:cNvSpPr/>
          <p:nvPr/>
        </p:nvSpPr>
        <p:spPr>
          <a:xfrm>
            <a:off x="3470148" y="3209544"/>
            <a:ext cx="2203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ourier New" pitchFamily="34" charset="-120"/>
              </a:rPr>
              <a:t>0.4 – 0.6</a:t>
            </a:r>
            <a:endParaRPr 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A62AB062-4EE4-7897-C25A-F5A7AC6F6095}"/>
              </a:ext>
            </a:extLst>
          </p:cNvPr>
          <p:cNvSpPr/>
          <p:nvPr/>
        </p:nvSpPr>
        <p:spPr>
          <a:xfrm>
            <a:off x="6080760" y="2697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985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7488C406-A16A-A53C-B538-B7F67024495F}"/>
              </a:ext>
            </a:extLst>
          </p:cNvPr>
          <p:cNvSpPr/>
          <p:nvPr/>
        </p:nvSpPr>
        <p:spPr>
          <a:xfrm>
            <a:off x="6281928" y="2898648"/>
            <a:ext cx="201168" cy="201168"/>
          </a:xfrm>
          <a:prstGeom prst="ellipse">
            <a:avLst/>
          </a:prstGeom>
          <a:solidFill>
            <a:srgbClr val="1A9850"/>
          </a:solidFill>
          <a:ln/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8ED07103-FEB8-D0E1-05DC-F02808E83165}"/>
              </a:ext>
            </a:extLst>
          </p:cNvPr>
          <p:cNvSpPr/>
          <p:nvPr/>
        </p:nvSpPr>
        <p:spPr>
          <a:xfrm>
            <a:off x="6583680" y="28437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Low Risk</a:t>
            </a:r>
            <a:endParaRPr lang="en-US" sz="13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B4DEB0F1-C939-EC55-0F21-FA40371FFABF}"/>
              </a:ext>
            </a:extLst>
          </p:cNvPr>
          <p:cNvSpPr/>
          <p:nvPr/>
        </p:nvSpPr>
        <p:spPr>
          <a:xfrm>
            <a:off x="6281928" y="3209544"/>
            <a:ext cx="2203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나눔고딕" pitchFamily="2" charset="-127"/>
                <a:ea typeface="나눔고딕" pitchFamily="2" charset="-127"/>
                <a:cs typeface="Courier New" pitchFamily="34" charset="-120"/>
              </a:rPr>
              <a:t>OWI &lt; 0.4</a:t>
            </a:r>
            <a:endParaRPr 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81D7C3EE-B83E-7839-255E-A1C0AE5A6282}"/>
              </a:ext>
            </a:extLst>
          </p:cNvPr>
          <p:cNvSpPr/>
          <p:nvPr/>
        </p:nvSpPr>
        <p:spPr>
          <a:xfrm>
            <a:off x="410977" y="3813048"/>
            <a:ext cx="8229600" cy="1074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Overcrowding Warning Index Model: </a:t>
            </a:r>
            <a:r>
              <a:rPr lang="en-US" altLang="ko-KR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</a:rPr>
              <a:t>AI  </a:t>
            </a:r>
            <a:r>
              <a:rPr lang="ko-KR" alt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</a:rPr>
              <a:t>활용 개발</a:t>
            </a:r>
            <a:endParaRPr lang="en-US" altLang="ko-KR" sz="1100" dirty="0">
              <a:solidFill>
                <a:schemeClr val="accent5">
                  <a:lumMod val="60000"/>
                  <a:lumOff val="4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b="1" dirty="0">
              <a:ln w="19050"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Review_growth_rate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는 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2023~2025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년 리뷰 합계 대비 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2017~2019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년 리뷰 합계의 증가율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neg_sentiment_share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는 부정 감성 리뷰 비율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facility_density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는 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500m 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내 음식점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·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숙박시설 수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모든 변수는 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58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개 명소 전체를 기준으로 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min-max 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정규화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(norm)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하였다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산출된 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OWI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는 고위험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·</a:t>
            </a:r>
            <a:r>
              <a:rPr lang="ko-KR" altLang="en-US" sz="1000" b="1" dirty="0" err="1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중위험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·</a:t>
            </a:r>
            <a:r>
              <a:rPr lang="ko-KR" altLang="en-US" sz="1000" b="1" dirty="0" err="1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저위험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3</a:t>
            </a:r>
            <a:r>
              <a:rPr lang="ko-KR" altLang="en-US" sz="10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등급으로 분류하였다</a:t>
            </a:r>
            <a:r>
              <a:rPr lang="en-US" altLang="ko-KR" sz="1100" b="1" dirty="0">
                <a:ln w="19050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2D87EB-2965-1BFC-4177-79C7F8DFD029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32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25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E2349-83D6-7A1F-BAD0-02A4CB09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6DC6B512-2C93-2737-907A-AA6D4198ADD1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94AE8D9-D915-9264-9311-FCC3BE072BA0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238F51A2-2391-B9F7-48F7-FF9E792FBBC3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B8A6FF09-1EA0-4767-BAC3-459A37A381A3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B01046EB-199B-6E9A-8814-EDE8F477E6BC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46C66702-5C81-AB30-7E3A-6142A22716AE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3A33C06-508B-8219-65DB-829AECA7DDD7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3AACF4BC-C2B8-C826-E7CF-C9C4C22713EC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9BCD555-FB63-66A3-6100-D62205412964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55D69D-B18E-AC86-99B7-3118775DE344}"/>
              </a:ext>
            </a:extLst>
          </p:cNvPr>
          <p:cNvSpPr/>
          <p:nvPr/>
        </p:nvSpPr>
        <p:spPr>
          <a:xfrm>
            <a:off x="358774" y="159622"/>
            <a:ext cx="59603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1" name="矩形 21">
            <a:extLst>
              <a:ext uri="{FF2B5EF4-FFF2-40B4-BE49-F238E27FC236}">
                <a16:creationId xmlns:a16="http://schemas.microsoft.com/office/drawing/2014/main" id="{245537A8-AE45-D501-282D-E964BCB8BF12}"/>
              </a:ext>
            </a:extLst>
          </p:cNvPr>
          <p:cNvSpPr/>
          <p:nvPr/>
        </p:nvSpPr>
        <p:spPr>
          <a:xfrm>
            <a:off x="355599" y="836922"/>
            <a:ext cx="7479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시공간 분석</a:t>
            </a:r>
            <a:endParaRPr lang="en-US" altLang="zh-CN" sz="20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F76B2D-3C50-AB78-4846-5FE02C75F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44" y="1427167"/>
            <a:ext cx="2856881" cy="26399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907D05-F3AF-23F9-81FE-1E6F12ADF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92" y="1449498"/>
            <a:ext cx="2801741" cy="26399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EA6429-7D84-2CA6-5B1A-ADAF75067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51" y="1427167"/>
            <a:ext cx="2669109" cy="2571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E46E49-BFAB-76FD-53FF-BEEA284D7772}"/>
              </a:ext>
            </a:extLst>
          </p:cNvPr>
          <p:cNvSpPr txBox="1"/>
          <p:nvPr/>
        </p:nvSpPr>
        <p:spPr>
          <a:xfrm>
            <a:off x="1233276" y="4391499"/>
            <a:ext cx="6601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언어별 </a:t>
            </a:r>
            <a:r>
              <a:rPr lang="en-US" altLang="ko-KR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KDE </a:t>
            </a:r>
            <a:r>
              <a:rPr lang="ko-KR" altLang="en-US" sz="1400" b="1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히트맵</a:t>
            </a:r>
            <a:r>
              <a:rPr lang="en-US" altLang="ko-KR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, </a:t>
            </a:r>
            <a:r>
              <a:rPr lang="ko-KR" altLang="en-US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지역 </a:t>
            </a:r>
            <a:r>
              <a:rPr lang="en-US" altLang="ko-KR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O-D </a:t>
            </a:r>
            <a:r>
              <a:rPr lang="ko-KR" altLang="en-US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이동 패턴</a:t>
            </a:r>
            <a:r>
              <a:rPr lang="en-US" altLang="ko-KR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,</a:t>
            </a:r>
            <a:r>
              <a:rPr lang="ko-KR" altLang="en-US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OWI </a:t>
            </a:r>
            <a:r>
              <a:rPr lang="ko-KR" altLang="en-US" sz="1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혼잡도지수 등 대시보드 시각화</a:t>
            </a:r>
            <a:endParaRPr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15F03943-9C76-BF6C-6714-1FFA1E5963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418115"/>
              </p:ext>
            </p:extLst>
          </p:nvPr>
        </p:nvGraphicFramePr>
        <p:xfrm>
          <a:off x="5203627" y="814551"/>
          <a:ext cx="37274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6" imgW="3789000" imgH="504000" progId="Package">
                  <p:embed/>
                </p:oleObj>
              </mc:Choice>
              <mc:Fallback>
                <p:oleObj name="포장기 셸 개체" showAsIcon="1" r:id="rId6" imgW="3789000" imgH="5040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03627" y="814551"/>
                        <a:ext cx="3727450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5128E7-1A66-A8F5-1FA9-80FC56B8CAB6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33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346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2069-66AE-1E47-347A-26176259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1885BBC8-E8A8-384D-F43A-FC89D6CAB52E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0084720C-DB96-5990-2BBF-4781CE49A8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EC7040E-88CE-616E-D146-94F229F8DA3E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03FFA1C-BCC7-7B94-0A46-712C0409BFEF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66F1276-BFF8-0359-1886-2C0EAD1CF86B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B726F0CA-4ED9-BE19-272D-4507AC3405AB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0B62490-2030-B1EE-6885-F03EC716C480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30550C2F-F0EE-6596-B3CB-0DA1D274F293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AD427B9-089F-5E0D-7D52-5EACECDFB933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912D5EA9-72BF-2719-8C49-FBBDCB9C1C9C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6ACE69D-A353-0023-178B-4142D4443270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BBB3E09-5788-D6D7-A8FD-1FC9C7FA6735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CAEEE8B0-FD78-57F0-2218-4003CA67FC65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F9D71DC-BF28-BB0F-E2C0-CA701564FEC0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FEE42F-9ABD-58B2-C0A1-FA882F65A424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矩形 21">
            <a:extLst>
              <a:ext uri="{FF2B5EF4-FFF2-40B4-BE49-F238E27FC236}">
                <a16:creationId xmlns:a16="http://schemas.microsoft.com/office/drawing/2014/main" id="{B2FBC567-5BBC-E0B6-415A-B68636627B91}"/>
              </a:ext>
            </a:extLst>
          </p:cNvPr>
          <p:cNvSpPr/>
          <p:nvPr/>
        </p:nvSpPr>
        <p:spPr>
          <a:xfrm>
            <a:off x="355600" y="836922"/>
            <a:ext cx="5206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ABSA 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속성 기반 추천시스템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BB53F7-4C18-A007-CE86-9814D5D6BE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7" b="9892"/>
          <a:stretch>
            <a:fillRect/>
          </a:stretch>
        </p:blipFill>
        <p:spPr>
          <a:xfrm>
            <a:off x="1211262" y="1227879"/>
            <a:ext cx="6780476" cy="3501428"/>
          </a:xfrm>
          <a:prstGeom prst="rect">
            <a:avLst/>
          </a:prstGeom>
        </p:spPr>
      </p:pic>
      <p:sp>
        <p:nvSpPr>
          <p:cNvPr id="9" name="부제목 2">
            <a:extLst>
              <a:ext uri="{FF2B5EF4-FFF2-40B4-BE49-F238E27FC236}">
                <a16:creationId xmlns:a16="http://schemas.microsoft.com/office/drawing/2014/main" id="{D58F45F4-E849-A045-9572-1CD8EA0F89C2}"/>
              </a:ext>
            </a:extLst>
          </p:cNvPr>
          <p:cNvSpPr txBox="1">
            <a:spLocks/>
          </p:cNvSpPr>
          <p:nvPr/>
        </p:nvSpPr>
        <p:spPr>
          <a:xfrm>
            <a:off x="6615231" y="4404720"/>
            <a:ext cx="1445897" cy="35057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PAKPA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프레임워크 </a:t>
            </a:r>
            <a:endParaRPr lang="en-US" altLang="ko-KR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A9FD3-216B-FF2E-2FEC-203D659CA91B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34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004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6B43-3ECF-B8EC-FCFF-9643A7205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FB037A6D-157C-3F95-0D9C-6ED08C1F79A9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F8A2C726-5668-9BD1-A100-BBA22CA794C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F13EE68-46E1-F267-C6AB-2E019B548A0E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A367A1F-7926-7686-A9E4-D0B38FB98454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62A353C-91D7-B118-8864-1913CE59A6B4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3B29D674-5FC1-48A1-5889-BA1F3D1A61A1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CE195F4-00E9-9726-FD2B-412064541866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065E5B31-5BD0-FF8F-6D07-43C48C6DBFA1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B1637BC6-E938-2296-3B5F-E7D0AE0F31A9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0607AE91-28A9-1584-71EC-8FD475854492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5B49CD02-634F-5C49-0745-57C6DBC0EDFF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7338862-37E1-C3EC-3707-977013D0A733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C5558F90-D6BF-9EF7-4BA2-75AFE0654009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73D6295-6BDF-808B-036B-1DF4E41D99BB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7D065E-FF3C-6079-A7BA-5FAE9F1DDE03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矩形 21">
            <a:extLst>
              <a:ext uri="{FF2B5EF4-FFF2-40B4-BE49-F238E27FC236}">
                <a16:creationId xmlns:a16="http://schemas.microsoft.com/office/drawing/2014/main" id="{F8B161DB-AC89-C10C-A38E-D09342D12843}"/>
              </a:ext>
            </a:extLst>
          </p:cNvPr>
          <p:cNvSpPr/>
          <p:nvPr/>
        </p:nvSpPr>
        <p:spPr>
          <a:xfrm>
            <a:off x="355600" y="836922"/>
            <a:ext cx="5206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Clr>
                <a:schemeClr val="bg1"/>
              </a:buClr>
              <a:buFont typeface="Times New Roman" panose="02020603050405020304" pitchFamily="18" charset="0"/>
              <a:buChar char="▌"/>
            </a:pPr>
            <a:r>
              <a:rPr lang="en-US" altLang="ko-KR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ABSA </a:t>
            </a:r>
            <a:r>
              <a:rPr lang="ko-KR" altLang="en-US" sz="20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속성 기반 추천시스템 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90B5296-AFD5-DB2D-16C9-80228B38862B}"/>
              </a:ext>
            </a:extLst>
          </p:cNvPr>
          <p:cNvSpPr/>
          <p:nvPr/>
        </p:nvSpPr>
        <p:spPr>
          <a:xfrm>
            <a:off x="481076" y="1286351"/>
            <a:ext cx="1421900" cy="2492551"/>
          </a:xfrm>
          <a:prstGeom prst="roundRect">
            <a:avLst>
              <a:gd name="adj" fmla="val 4651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605BD29-11F2-6927-7773-8285FC139ED3}"/>
              </a:ext>
            </a:extLst>
          </p:cNvPr>
          <p:cNvSpPr/>
          <p:nvPr/>
        </p:nvSpPr>
        <p:spPr>
          <a:xfrm>
            <a:off x="481076" y="1378683"/>
            <a:ext cx="1421900" cy="43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ABSA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추출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97A8DE6-DC3B-FBD9-CDC4-5BD202E2A55F}"/>
              </a:ext>
            </a:extLst>
          </p:cNvPr>
          <p:cNvSpPr/>
          <p:nvPr/>
        </p:nvSpPr>
        <p:spPr>
          <a:xfrm>
            <a:off x="560797" y="1751513"/>
            <a:ext cx="1289630" cy="1380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GPT-4.1-mini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aspect + sentiment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추출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(Tang et al., 2024)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FF67926-3856-D620-9276-4927EBB13F19}"/>
              </a:ext>
            </a:extLst>
          </p:cNvPr>
          <p:cNvSpPr/>
          <p:nvPr/>
        </p:nvSpPr>
        <p:spPr>
          <a:xfrm>
            <a:off x="1892615" y="2261305"/>
            <a:ext cx="276965" cy="32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49AA01A0-8C1B-575A-4555-70A7B713C0A1}"/>
              </a:ext>
            </a:extLst>
          </p:cNvPr>
          <p:cNvSpPr/>
          <p:nvPr/>
        </p:nvSpPr>
        <p:spPr>
          <a:xfrm>
            <a:off x="2163572" y="1286351"/>
            <a:ext cx="1421900" cy="2492551"/>
          </a:xfrm>
          <a:prstGeom prst="roundRect">
            <a:avLst>
              <a:gd name="adj" fmla="val 4651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CE111027-8009-3324-CA0A-BE88E761F48B}"/>
              </a:ext>
            </a:extLst>
          </p:cNvPr>
          <p:cNvSpPr/>
          <p:nvPr/>
        </p:nvSpPr>
        <p:spPr>
          <a:xfrm>
            <a:off x="2163572" y="1378683"/>
            <a:ext cx="1421900" cy="43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Aspect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정규화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5D41CE93-DBFB-2D1C-0918-0CA65547215B}"/>
              </a:ext>
            </a:extLst>
          </p:cNvPr>
          <p:cNvSpPr/>
          <p:nvPr/>
        </p:nvSpPr>
        <p:spPr>
          <a:xfrm>
            <a:off x="2238442" y="1804487"/>
            <a:ext cx="1289630" cy="1380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17개 표준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관광 카테고리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(경관·자연·역사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등, LLM 활용)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39A35FD-A7C9-D206-AA1A-D193756A8AB7}"/>
              </a:ext>
            </a:extLst>
          </p:cNvPr>
          <p:cNvSpPr/>
          <p:nvPr/>
        </p:nvSpPr>
        <p:spPr>
          <a:xfrm>
            <a:off x="3575111" y="2261305"/>
            <a:ext cx="276965" cy="32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B4954B97-D325-DFB7-8B7D-EE5A2082F675}"/>
              </a:ext>
            </a:extLst>
          </p:cNvPr>
          <p:cNvSpPr/>
          <p:nvPr/>
        </p:nvSpPr>
        <p:spPr>
          <a:xfrm>
            <a:off x="3846068" y="1286351"/>
            <a:ext cx="1421900" cy="2492551"/>
          </a:xfrm>
          <a:prstGeom prst="roundRect">
            <a:avLst>
              <a:gd name="adj" fmla="val 4651"/>
            </a:avLst>
          </a:prstGeom>
          <a:solidFill>
            <a:srgbClr val="1E4F7A"/>
          </a:solidFill>
          <a:ln w="12700">
            <a:solidFill>
              <a:srgbClr val="1E4F7A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AF803AED-7B37-B450-3AF7-69489E0E067A}"/>
              </a:ext>
            </a:extLst>
          </p:cNvPr>
          <p:cNvSpPr/>
          <p:nvPr/>
        </p:nvSpPr>
        <p:spPr>
          <a:xfrm>
            <a:off x="3846068" y="1378683"/>
            <a:ext cx="1421900" cy="43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관광지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프로필 생성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22C1399E-774E-661A-D81F-9DF3441083E2}"/>
              </a:ext>
            </a:extLst>
          </p:cNvPr>
          <p:cNvSpPr/>
          <p:nvPr/>
        </p:nvSpPr>
        <p:spPr>
          <a:xfrm>
            <a:off x="3946960" y="1778358"/>
            <a:ext cx="1289630" cy="1294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긍정·부정 Aspect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빈도 집계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Feature Vector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(Alenezi &amp; Hirtle, 2022)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3D85866B-D9C4-988B-DA1A-A7B7F392214B}"/>
              </a:ext>
            </a:extLst>
          </p:cNvPr>
          <p:cNvSpPr/>
          <p:nvPr/>
        </p:nvSpPr>
        <p:spPr>
          <a:xfrm>
            <a:off x="5257607" y="2261305"/>
            <a:ext cx="276965" cy="32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4CDE7C04-CAE2-5037-42FC-19E2FE1036EB}"/>
              </a:ext>
            </a:extLst>
          </p:cNvPr>
          <p:cNvSpPr/>
          <p:nvPr/>
        </p:nvSpPr>
        <p:spPr>
          <a:xfrm>
            <a:off x="5528564" y="1286351"/>
            <a:ext cx="1421900" cy="2492551"/>
          </a:xfrm>
          <a:prstGeom prst="roundRect">
            <a:avLst>
              <a:gd name="adj" fmla="val 4651"/>
            </a:avLst>
          </a:prstGeom>
          <a:solidFill>
            <a:srgbClr val="1E4F7A"/>
          </a:solidFill>
          <a:ln w="12700">
            <a:solidFill>
              <a:srgbClr val="1E4F7A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9BF538ED-B362-5B1D-F076-5C157A200A83}"/>
              </a:ext>
            </a:extLst>
          </p:cNvPr>
          <p:cNvSpPr/>
          <p:nvPr/>
        </p:nvSpPr>
        <p:spPr>
          <a:xfrm>
            <a:off x="5528564" y="1378683"/>
            <a:ext cx="1421900" cy="43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코사인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유사도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FA41FF64-F4A4-9DDF-01D6-5956201F2CD6}"/>
              </a:ext>
            </a:extLst>
          </p:cNvPr>
          <p:cNvSpPr/>
          <p:nvPr/>
        </p:nvSpPr>
        <p:spPr>
          <a:xfrm>
            <a:off x="5597309" y="1934225"/>
            <a:ext cx="1289630" cy="1114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User Profile vs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관광지 프로필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02F54D7E-F741-0EF6-B472-B7F423187C84}"/>
              </a:ext>
            </a:extLst>
          </p:cNvPr>
          <p:cNvSpPr/>
          <p:nvPr/>
        </p:nvSpPr>
        <p:spPr>
          <a:xfrm>
            <a:off x="6940103" y="2261305"/>
            <a:ext cx="276965" cy="32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→</a:t>
            </a:r>
            <a:endParaRPr lang="en-US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945B9FDB-25E2-6D61-074C-0D6862CA3E9F}"/>
              </a:ext>
            </a:extLst>
          </p:cNvPr>
          <p:cNvSpPr/>
          <p:nvPr/>
        </p:nvSpPr>
        <p:spPr>
          <a:xfrm>
            <a:off x="7211060" y="1286351"/>
            <a:ext cx="1421900" cy="2492551"/>
          </a:xfrm>
          <a:prstGeom prst="roundRect">
            <a:avLst>
              <a:gd name="adj" fmla="val 4651"/>
            </a:avLst>
          </a:prstGeom>
          <a:solidFill>
            <a:srgbClr val="D9532E"/>
          </a:solidFill>
          <a:ln w="12700">
            <a:solidFill>
              <a:srgbClr val="D9532E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CC511597-006C-575D-B110-77666B26BE00}"/>
              </a:ext>
            </a:extLst>
          </p:cNvPr>
          <p:cNvSpPr/>
          <p:nvPr/>
        </p:nvSpPr>
        <p:spPr>
          <a:xfrm>
            <a:off x="7211060" y="1378683"/>
            <a:ext cx="1421900" cy="43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Top-6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추천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37E76983-6D14-FBA9-C101-A56DCE8CCCE9}"/>
              </a:ext>
            </a:extLst>
          </p:cNvPr>
          <p:cNvSpPr/>
          <p:nvPr/>
        </p:nvSpPr>
        <p:spPr>
          <a:xfrm>
            <a:off x="7253248" y="1785972"/>
            <a:ext cx="1289630" cy="1279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+ Highlights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+ Good to Know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설명가능</a:t>
            </a:r>
            <a:r>
              <a:rPr lang="en-US" sz="1000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추천</a:t>
            </a:r>
            <a:endParaRPr 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CA48EF39-8CE4-C15B-9E34-D1AC43B0AA93}"/>
              </a:ext>
            </a:extLst>
          </p:cNvPr>
          <p:cNvSpPr/>
          <p:nvPr/>
        </p:nvSpPr>
        <p:spPr>
          <a:xfrm>
            <a:off x="476975" y="3926361"/>
            <a:ext cx="8229600" cy="969325"/>
          </a:xfrm>
          <a:prstGeom prst="rect">
            <a:avLst/>
          </a:prstGeom>
          <a:noFill/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9CAB2010-8E8F-84F0-0E91-2799B8401CE3}"/>
              </a:ext>
            </a:extLst>
          </p:cNvPr>
          <p:cNvSpPr/>
          <p:nvPr/>
        </p:nvSpPr>
        <p:spPr>
          <a:xfrm>
            <a:off x="541320" y="4017605"/>
            <a:ext cx="2893401" cy="27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왜 콘텐츠 기반 필터링인가?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C7A39030-EE7E-41CF-F5D0-0D09DE5700FB}"/>
              </a:ext>
            </a:extLst>
          </p:cNvPr>
          <p:cNvSpPr/>
          <p:nvPr/>
        </p:nvSpPr>
        <p:spPr>
          <a:xfrm>
            <a:off x="524386" y="4235745"/>
            <a:ext cx="8229600" cy="57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관광은 재방문 빈도가 낮고 사용자-명소 상호작용 데이터 희소 → 협업 필터링의 Cold Start 문제 취약 (Jang &amp; Feng, 2007; Bigné et al., 2009). 사용자 선호 속성과 관광지 Feature Vector 간 코사인 유사도로 직접 매칭 → 신규 명소에도 적용 가능 (Adomavicius &amp; Tuzhilin, 2005).</a:t>
            </a:r>
            <a:endParaRPr lang="en-US" sz="105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CD6D6-B407-E852-11BD-0FA24AC2E6EF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35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225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30453-6D2E-C70D-D6C0-A2053EC9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6F2E59A2-6B92-A76B-C66C-B1AA2FAD9358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06C217B9-BFB3-1616-F80E-A45CF699F08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913C2EF-AD42-066E-1054-34ACD96C0BA7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79FDA7D-DB3F-82D7-05C4-8F99EAC9AEE4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8128ED9-CFAB-C378-5659-857F5313E0EF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052D9727-5967-9C22-A6DB-3E4FCF71C845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4ED7831-7BFC-29F9-4CCE-676999C9D519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18559CC-91E4-49F8-02A1-8C42E713CB09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7FE7BA09-FB47-4A41-514B-868D9D31B44B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788A090C-28D1-33AC-70FB-83D42885BE40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E29ED85-C2C3-0289-226B-4CB2CA781967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EFB6FE8-FA79-F85A-AB50-FE6CE88D461C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0F5693A5-B0FF-A620-70F4-8815AF57B4BE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E993C03-6101-6B07-8C3D-91B4E6699C2B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0" name="矩形 1">
            <a:extLst>
              <a:ext uri="{FF2B5EF4-FFF2-40B4-BE49-F238E27FC236}">
                <a16:creationId xmlns:a16="http://schemas.microsoft.com/office/drawing/2014/main" id="{69918267-EA36-0955-2CCD-4BC91A5A1F28}"/>
              </a:ext>
            </a:extLst>
          </p:cNvPr>
          <p:cNvSpPr/>
          <p:nvPr/>
        </p:nvSpPr>
        <p:spPr>
          <a:xfrm>
            <a:off x="430585" y="137275"/>
            <a:ext cx="67839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ko-KR" altLang="en-US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프롬프트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635168-D763-160A-1541-9C3FAE94A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26" y="949174"/>
            <a:ext cx="4068524" cy="2874867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3B6188AC-4A4D-0A02-7FFA-1C992732E04C}"/>
              </a:ext>
            </a:extLst>
          </p:cNvPr>
          <p:cNvSpPr txBox="1">
            <a:spLocks/>
          </p:cNvSpPr>
          <p:nvPr/>
        </p:nvSpPr>
        <p:spPr>
          <a:xfrm>
            <a:off x="557658" y="3830391"/>
            <a:ext cx="5368768" cy="467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선행연구 논문에서 사용한 </a:t>
            </a:r>
            <a:r>
              <a:rPr lang="en-US" altLang="ko-KR" sz="16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ABSA</a:t>
            </a:r>
            <a:r>
              <a:rPr lang="ko-KR" altLang="en-US" sz="16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프롬프트</a:t>
            </a:r>
            <a:endParaRPr lang="en-US" altLang="ko-KR" sz="1600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93072FF1-2217-64A7-9F8C-F7C2E38E74EB}"/>
              </a:ext>
            </a:extLst>
          </p:cNvPr>
          <p:cNvSpPr txBox="1">
            <a:spLocks/>
          </p:cNvSpPr>
          <p:nvPr/>
        </p:nvSpPr>
        <p:spPr>
          <a:xfrm>
            <a:off x="5005269" y="3846700"/>
            <a:ext cx="5368768" cy="467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본 연구에서 사용한 </a:t>
            </a:r>
            <a:r>
              <a:rPr lang="en-US" altLang="ko-KR" sz="16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ABSA</a:t>
            </a:r>
            <a:r>
              <a:rPr lang="ko-KR" altLang="en-US" sz="16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프롬프트</a:t>
            </a:r>
            <a:endParaRPr lang="en-US" altLang="ko-KR" sz="1600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D361CD-11EE-5EFA-E227-F967B445C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963" y="911930"/>
            <a:ext cx="3769379" cy="29347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AB80E7-656D-B021-4C45-C18A69F14768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36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464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F88E-A076-D881-E104-05F36049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ADEF0B69-9829-8B66-ABB0-EAB0EDBCA649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0AADD2FB-8153-F09D-3E6D-7C075BB3202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31FD1CD-6819-FD69-267F-F3784A865E92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9E42B8EF-99C1-DF43-DE36-D3635469A6A2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6AA1A51-988C-ABE6-0E42-975A45A4D40E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A5DBBE79-FE35-4A5C-BC4E-354B44B98A4D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77A018A-E355-FD46-5518-D1EEC59AC9E5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58919EC-4D22-8BAA-5A45-DC36B6C88652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6A3D2F2-14AF-FE00-32E4-E6736B065B59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BF389785-6216-E7F3-18AA-FA844B3CB993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409BCCC3-58F0-7EC3-DAF0-1662F8DF11E0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AE482F20-2C70-C65D-3D2C-72589FBF2B2B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666712A0-93A4-591B-7D27-C2E4EDD90AA4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3CB19F0-C370-6ABD-45F0-8A4EBA023740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">
            <a:extLst>
              <a:ext uri="{FF2B5EF4-FFF2-40B4-BE49-F238E27FC236}">
                <a16:creationId xmlns:a16="http://schemas.microsoft.com/office/drawing/2014/main" id="{4BF64794-8231-7760-2DC7-9BA59BC794EE}"/>
              </a:ext>
            </a:extLst>
          </p:cNvPr>
          <p:cNvSpPr/>
          <p:nvPr/>
        </p:nvSpPr>
        <p:spPr>
          <a:xfrm>
            <a:off x="3410238" y="4698965"/>
            <a:ext cx="42794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ko-KR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ABSA </a:t>
            </a:r>
            <a:r>
              <a:rPr lang="ko-KR" altLang="en-US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기반 통합 추천시스템 프레임워크</a:t>
            </a:r>
            <a:endParaRPr lang="zh-CN" altLang="en-US" sz="12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9FF389-2A3D-AFBF-C81D-2501D7E35B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8" b="8480"/>
          <a:stretch>
            <a:fillRect/>
          </a:stretch>
        </p:blipFill>
        <p:spPr>
          <a:xfrm>
            <a:off x="718571" y="761415"/>
            <a:ext cx="7951701" cy="39572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528DDAA-4340-9787-2B29-3BE81539AE95}"/>
              </a:ext>
            </a:extLst>
          </p:cNvPr>
          <p:cNvSpPr txBox="1"/>
          <p:nvPr/>
        </p:nvSpPr>
        <p:spPr>
          <a:xfrm>
            <a:off x="5482842" y="4493538"/>
            <a:ext cx="341682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44D5FA"/>
                </a:solidFill>
                <a:hlinkClick r:id="rId4"/>
              </a:rPr>
              <a:t>https://touristrecsys-sfi47ztbuvhvpopq5gin9k.streamlit.app/</a:t>
            </a:r>
            <a:endParaRPr lang="en-US" altLang="ko-KR" sz="900" dirty="0">
              <a:solidFill>
                <a:srgbClr val="44D5FA"/>
              </a:solidFill>
            </a:endParaRPr>
          </a:p>
          <a:p>
            <a:endParaRPr lang="ko-KR" altLang="en-US" dirty="0">
              <a:solidFill>
                <a:srgbClr val="44D5FA"/>
              </a:solidFill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371B20B5-AFA2-98CE-FE7A-5C9F0D421914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8608C-A23D-1DB5-0679-F4F42C944171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37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604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ABC3C-FEBA-07CA-F3C8-A3356895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88CFF183-8909-0157-C566-A2667C3F6964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C64C0E5B-6871-D4F8-B62B-50876B75C1E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E8886AB-1454-8174-9832-DE6363955DFC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98757B55-10B0-A5A9-8736-752C1BBFCCBC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5DD2BBE-A7B7-46BD-E8C4-2E436F9690B5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EE8DCD29-EC2C-68A3-6630-FC0EE9FD041A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485A6FE-6C37-DBBE-432B-B97BB7D628C9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26ECC887-B44F-992E-BC82-C9C7EF28F6ED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3C45723-4EDD-910C-B6B4-BD7C1BD82116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BAFD3F11-8A9B-3B63-2CF2-88232057F4D9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3F53C82-A8A1-C4B7-993C-C1E9C2F94678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256A314-56F9-A3E7-B69B-02BF0A55DB69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D55BE2B2-D26D-EBFF-58FF-01959403CBF4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9C4FF93-E64D-3EFA-9DF5-CC888FE5EF79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">
            <a:extLst>
              <a:ext uri="{FF2B5EF4-FFF2-40B4-BE49-F238E27FC236}">
                <a16:creationId xmlns:a16="http://schemas.microsoft.com/office/drawing/2014/main" id="{0D603ACB-C17D-7F22-A070-4325F7514053}"/>
              </a:ext>
            </a:extLst>
          </p:cNvPr>
          <p:cNvSpPr/>
          <p:nvPr/>
        </p:nvSpPr>
        <p:spPr>
          <a:xfrm>
            <a:off x="2426333" y="4696706"/>
            <a:ext cx="42794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ko-KR" altLang="en-US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추천 웹사이트 페이지 예시</a:t>
            </a:r>
            <a:endParaRPr lang="zh-CN" altLang="en-US" sz="12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AD40F202-FB7F-1039-459F-95498A3C34DB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DB9659-2878-51EB-1C8C-9D5695CD0EC3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38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FFAC20-798F-8A13-2F55-B8552BF3C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56" b="4901"/>
          <a:stretch>
            <a:fillRect/>
          </a:stretch>
        </p:blipFill>
        <p:spPr>
          <a:xfrm>
            <a:off x="1168201" y="852229"/>
            <a:ext cx="6795679" cy="381681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D2731F5-5154-C2EF-9BFB-95AD381169BD}"/>
              </a:ext>
            </a:extLst>
          </p:cNvPr>
          <p:cNvSpPr/>
          <p:nvPr/>
        </p:nvSpPr>
        <p:spPr>
          <a:xfrm>
            <a:off x="1427433" y="2865119"/>
            <a:ext cx="6249473" cy="17259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20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D098D-57DC-D361-3B92-A63DFD3D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F511A372-4726-E280-8752-6C69E8F1AFA1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61A72EAC-614D-9015-26C7-48017FDF6A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ADF1E4FB-A20F-7727-0F21-BE653206C406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A8B5B8C2-B8DE-0CE7-7953-BBD6515A57A5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CF168C99-3D99-4081-782D-3C8EBC9B3370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나눔고딕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53308537-9E6C-80BA-D41A-D0FDA6874BB1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C81B835-A5A0-3BE0-ADC1-4720A37D3E6D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C5F5BA3-140F-95B2-0BF8-2700411109FA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DC0C6AA3-FA54-F0FB-57F0-149F9F21D1BF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AFCA517-FA19-B29D-2507-4A7758A2EFF0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96FCF59B-AA93-77BD-91F6-B56987FB7D73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0452667-67C8-440A-0D9F-7316E18218AC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44514EB4-D937-817C-D61F-7E1033B8028F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D76B5C7-4EE6-DC9D-E49E-EC2C6E9F9B3C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B8859DB2-C7FD-D727-D9D2-537712E59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695313"/>
              </p:ext>
            </p:extLst>
          </p:nvPr>
        </p:nvGraphicFramePr>
        <p:xfrm>
          <a:off x="401683" y="1303138"/>
          <a:ext cx="5881098" cy="282367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17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en-US" sz="14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플랫폼</a:t>
                      </a:r>
                      <a:endParaRPr lang="en-US" sz="14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 플랫폼 (SmartTrip AI)</a:t>
                      </a:r>
                      <a:endParaRPr lang="en-US" sz="14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순위 기준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평점·리뷰 수 중심 인기 순위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 선택 속성 선호와의 적합도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개인화 방식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가격·예약가능성 기반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17개 표준 속성의 명시적 선택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리뷰 활용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평점 집계 + 원문 리스트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Aspect 단위 분해 → 속성 프로필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 근거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인기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좋은 </a:t>
                      </a:r>
                      <a:r>
                        <a:rPr lang="en-US" sz="11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평점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(기준 비공개)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일치 Aspect 명시 (설명 가능)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단점 정보</a:t>
                      </a:r>
                      <a:endParaRPr lang="en-US" sz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부정 리뷰가 더미에 분산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Good to Know로 요약 제공</a:t>
                      </a:r>
                      <a:endParaRPr lang="en-US" sz="11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>
            <a:extLst>
              <a:ext uri="{FF2B5EF4-FFF2-40B4-BE49-F238E27FC236}">
                <a16:creationId xmlns:a16="http://schemas.microsoft.com/office/drawing/2014/main" id="{4094BC92-9B23-D9B6-6518-5C3AF02CAFAF}"/>
              </a:ext>
            </a:extLst>
          </p:cNvPr>
          <p:cNvSpPr/>
          <p:nvPr/>
        </p:nvSpPr>
        <p:spPr>
          <a:xfrm>
            <a:off x="6368143" y="868680"/>
            <a:ext cx="2423160" cy="3977640"/>
          </a:xfrm>
          <a:prstGeom prst="roundRect">
            <a:avLst>
              <a:gd name="adj" fmla="val 3774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EA12A99-264B-5371-F092-A62C75C284A3}"/>
              </a:ext>
            </a:extLst>
          </p:cNvPr>
          <p:cNvSpPr/>
          <p:nvPr/>
        </p:nvSpPr>
        <p:spPr>
          <a:xfrm>
            <a:off x="6400800" y="98755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SmartTrip AI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웹 서비스</a:t>
            </a:r>
            <a:endParaRPr lang="en-US" sz="14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FFAFD80-7E17-24E5-2CF5-9A527D8373E5}"/>
              </a:ext>
            </a:extLst>
          </p:cNvPr>
          <p:cNvSpPr/>
          <p:nvPr/>
        </p:nvSpPr>
        <p:spPr>
          <a:xfrm>
            <a:off x="6400800" y="1691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ABSA + </a:t>
            </a:r>
            <a:r>
              <a:rPr lang="ko-KR" altLang="en-US" sz="105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감성 토픽 분석</a:t>
            </a:r>
            <a:r>
              <a:rPr lang="en-US" altLang="ko-KR" sz="105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OWI</a:t>
            </a:r>
            <a:r>
              <a:rPr lang="ko-KR" altLang="en-US" sz="105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혼잡도 등</a:t>
            </a:r>
            <a:endParaRPr lang="en-US" altLang="ko-KR" sz="1050" b="1" dirty="0">
              <a:solidFill>
                <a:srgbClr val="FFFFFF"/>
              </a:solidFill>
              <a:latin typeface="나눔고딕" pitchFamily="2" charset="-127"/>
              <a:ea typeface="나눔고딕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시너지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D2147FE7-CAA0-892D-A340-97AC74D237A9}"/>
              </a:ext>
            </a:extLst>
          </p:cNvPr>
          <p:cNvSpPr/>
          <p:nvPr/>
        </p:nvSpPr>
        <p:spPr>
          <a:xfrm>
            <a:off x="6430645" y="2128000"/>
            <a:ext cx="2286000" cy="156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• Highlights</a:t>
            </a:r>
            <a:r>
              <a:rPr lang="en-US" sz="11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(긍정 Aspect)</a:t>
            </a:r>
            <a:endParaRPr lang="en-US" sz="1100" dirty="0">
              <a:latin typeface="나눔고딕" pitchFamily="2" charset="-127"/>
              <a:ea typeface="나눔고딕" pitchFamily="2" charset="-127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• Good to Know</a:t>
            </a:r>
            <a:r>
              <a:rPr lang="en-US" sz="11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sz="105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</a:t>
            </a:r>
            <a:r>
              <a:rPr lang="ko-KR" altLang="en-US" sz="105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중립 </a:t>
            </a:r>
            <a:r>
              <a:rPr lang="en-US" sz="1050" dirty="0" err="1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부정</a:t>
            </a:r>
            <a:r>
              <a:rPr lang="en-US" sz="105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Aspect)</a:t>
            </a:r>
            <a:endParaRPr lang="en-US" sz="1050" dirty="0">
              <a:latin typeface="나눔고딕" pitchFamily="2" charset="-127"/>
              <a:ea typeface="나눔고딕" pitchFamily="2" charset="-127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• Visitor Insights</a:t>
            </a:r>
            <a:endParaRPr lang="en-US" sz="1100" dirty="0">
              <a:latin typeface="나눔고딕" pitchFamily="2" charset="-127"/>
              <a:ea typeface="나눔고딕" pitchFamily="2" charset="-127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   (</a:t>
            </a:r>
            <a:r>
              <a:rPr lang="ko-KR" alt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감성 분석</a:t>
            </a:r>
            <a:r>
              <a:rPr lang="en-US" altLang="ko-KR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BERTopic</a:t>
            </a: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토픽</a:t>
            </a: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결과</a:t>
            </a: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)</a:t>
            </a:r>
          </a:p>
          <a:p>
            <a:r>
              <a:rPr lang="en-US" altLang="ko-KR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OWI </a:t>
            </a:r>
            <a:b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</a:br>
            <a:r>
              <a:rPr lang="en-US" sz="11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   (Overcrowding Warning Index)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…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FB0BBBDC-8C2A-D9F8-8C59-C559CA30DDA5}"/>
              </a:ext>
            </a:extLst>
          </p:cNvPr>
          <p:cNvSpPr/>
          <p:nvPr/>
        </p:nvSpPr>
        <p:spPr>
          <a:xfrm>
            <a:off x="6413863" y="3578689"/>
            <a:ext cx="2286000" cy="292608"/>
          </a:xfrm>
          <a:prstGeom prst="roundRect">
            <a:avLst>
              <a:gd name="adj" fmla="val 11538"/>
            </a:avLst>
          </a:prstGeom>
          <a:solidFill>
            <a:srgbClr val="D9532E"/>
          </a:solidFill>
          <a:ln w="12700">
            <a:solidFill>
              <a:srgbClr val="D9532E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8D50D95-1299-2653-AD4D-DB6CE3265BFD}"/>
              </a:ext>
            </a:extLst>
          </p:cNvPr>
          <p:cNvSpPr/>
          <p:nvPr/>
        </p:nvSpPr>
        <p:spPr>
          <a:xfrm>
            <a:off x="6385866" y="3571568"/>
            <a:ext cx="232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웹 데모 방문</a:t>
            </a:r>
            <a:endParaRPr lang="en-US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D3E17C0-6BB3-99E9-5C43-827D6E41F31A}"/>
              </a:ext>
            </a:extLst>
          </p:cNvPr>
          <p:cNvSpPr/>
          <p:nvPr/>
        </p:nvSpPr>
        <p:spPr>
          <a:xfrm>
            <a:off x="6368143" y="3986783"/>
            <a:ext cx="2331720" cy="83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고딕" pitchFamily="2" charset="-127"/>
                <a:ea typeface="나눔고딕" pitchFamily="2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https://touristrecsys-sfi47ztbuvhvpopq5gin9k.streamlit.app</a:t>
            </a:r>
            <a:r>
              <a:rPr lang="en-US" altLang="ko-KR" sz="9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altLang="ko-KR" sz="900" dirty="0">
              <a:latin typeface="나눔고딕" pitchFamily="2" charset="-127"/>
              <a:ea typeface="나눔고딕" pitchFamily="2" charset="-127"/>
            </a:endParaRPr>
          </a:p>
          <a:p>
            <a:pPr marL="0" indent="0" algn="ctr">
              <a:buNone/>
            </a:pPr>
            <a:endParaRPr lang="en-US" sz="850" dirty="0">
              <a:solidFill>
                <a:srgbClr val="7AAFD4"/>
              </a:solidFill>
              <a:latin typeface="나눔고딕" pitchFamily="2" charset="-127"/>
              <a:ea typeface="나눔고딕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7AAF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github.com/Avy012/</a:t>
            </a:r>
            <a:r>
              <a:rPr lang="en-US" sz="850" dirty="0" err="1">
                <a:solidFill>
                  <a:srgbClr val="7AAF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tourist_rec_sys</a:t>
            </a:r>
            <a:endParaRPr lang="en-US" sz="8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84B0CEC5-6834-0D1E-3A35-CD3A0A5A60B5}"/>
              </a:ext>
            </a:extLst>
          </p:cNvPr>
          <p:cNvSpPr/>
          <p:nvPr/>
        </p:nvSpPr>
        <p:spPr>
          <a:xfrm>
            <a:off x="358774" y="159622"/>
            <a:ext cx="5048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Methodology </a:t>
            </a:r>
            <a:r>
              <a:rPr kumimoji="0" lang="ko-KR" altLang="en-US" sz="2400" b="1" i="0" u="none" strike="noStrike" kern="1200" cap="none" spc="0" normalizeH="0" baseline="0" noProof="0" dirty="0">
                <a:ln w="190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연구방법론</a:t>
            </a:r>
            <a:endParaRPr kumimoji="0" lang="en-US" altLang="zh-CN" sz="2400" b="1" i="0" u="none" strike="noStrike" kern="1200" cap="none" spc="0" normalizeH="0" baseline="0" noProof="0" dirty="0">
              <a:ln w="19050"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A3B04-9964-5AD4-EE9E-02AE9A2E2E1A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39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7D75F-C7D9-1533-3870-C219E382E35C}"/>
              </a:ext>
            </a:extLst>
          </p:cNvPr>
          <p:cNvSpPr txBox="1"/>
          <p:nvPr/>
        </p:nvSpPr>
        <p:spPr>
          <a:xfrm>
            <a:off x="1431144" y="4192107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표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10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기존 플랫폼과 </a:t>
            </a:r>
            <a:r>
              <a:rPr lang="en-US" altLang="ko-KR" sz="1000" b="1" dirty="0" err="1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SmartTrip</a:t>
            </a:r>
            <a:r>
              <a:rPr lang="en-US" altLang="ko-KR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AI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비교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57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1F3B-9D32-80D0-822F-3B2F5E93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夜晚亮着灯的舞台&#10;&#10;中度可信度描述已自动生成">
            <a:extLst>
              <a:ext uri="{FF2B5EF4-FFF2-40B4-BE49-F238E27FC236}">
                <a16:creationId xmlns:a16="http://schemas.microsoft.com/office/drawing/2014/main" id="{4C1B3A18-896A-EA1F-BD10-CE36F594A8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3" r="27152"/>
          <a:stretch>
            <a:fillRect/>
          </a:stretch>
        </p:blipFill>
        <p:spPr>
          <a:xfrm>
            <a:off x="4746170" y="0"/>
            <a:ext cx="4397829" cy="5124659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2938496-3802-E23C-6EA0-6773A15F513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>
              <a:gd name="connsiteX0" fmla="*/ 6436154 w 9144000"/>
              <a:gd name="connsiteY0" fmla="*/ 1628732 h 5143500"/>
              <a:gd name="connsiteX1" fmla="*/ 6846435 w 9144000"/>
              <a:gd name="connsiteY1" fmla="*/ 2649167 h 5143500"/>
              <a:gd name="connsiteX2" fmla="*/ 6025873 w 9144000"/>
              <a:gd name="connsiteY2" fmla="*/ 2649167 h 5143500"/>
              <a:gd name="connsiteX3" fmla="*/ 8089090 w 9144000"/>
              <a:gd name="connsiteY3" fmla="*/ 978945 h 5143500"/>
              <a:gd name="connsiteX4" fmla="*/ 8089090 w 9144000"/>
              <a:gd name="connsiteY4" fmla="*/ 4414295 h 5143500"/>
              <a:gd name="connsiteX5" fmla="*/ 8611603 w 9144000"/>
              <a:gd name="connsiteY5" fmla="*/ 4414295 h 5143500"/>
              <a:gd name="connsiteX6" fmla="*/ 8611603 w 9144000"/>
              <a:gd name="connsiteY6" fmla="*/ 978945 h 5143500"/>
              <a:gd name="connsiteX7" fmla="*/ 6171811 w 9144000"/>
              <a:gd name="connsiteY7" fmla="*/ 978945 h 5143500"/>
              <a:gd name="connsiteX8" fmla="*/ 4790579 w 9144000"/>
              <a:gd name="connsiteY8" fmla="*/ 4414295 h 5143500"/>
              <a:gd name="connsiteX9" fmla="*/ 5316178 w 9144000"/>
              <a:gd name="connsiteY9" fmla="*/ 4414295 h 5143500"/>
              <a:gd name="connsiteX10" fmla="*/ 5815789 w 9144000"/>
              <a:gd name="connsiteY10" fmla="*/ 3171680 h 5143500"/>
              <a:gd name="connsiteX11" fmla="*/ 7056519 w 9144000"/>
              <a:gd name="connsiteY11" fmla="*/ 3171680 h 5143500"/>
              <a:gd name="connsiteX12" fmla="*/ 7556131 w 9144000"/>
              <a:gd name="connsiteY12" fmla="*/ 4414295 h 5143500"/>
              <a:gd name="connsiteX13" fmla="*/ 8081730 w 9144000"/>
              <a:gd name="connsiteY13" fmla="*/ 4414295 h 5143500"/>
              <a:gd name="connsiteX14" fmla="*/ 6700497 w 9144000"/>
              <a:gd name="connsiteY14" fmla="*/ 978945 h 5143500"/>
              <a:gd name="connsiteX15" fmla="*/ 6697411 w 9144000"/>
              <a:gd name="connsiteY15" fmla="*/ 978945 h 5143500"/>
              <a:gd name="connsiteX16" fmla="*/ 0 w 9144000"/>
              <a:gd name="connsiteY16" fmla="*/ 0 h 5143500"/>
              <a:gd name="connsiteX17" fmla="*/ 9144000 w 9144000"/>
              <a:gd name="connsiteY17" fmla="*/ 0 h 5143500"/>
              <a:gd name="connsiteX18" fmla="*/ 9144000 w 9144000"/>
              <a:gd name="connsiteY18" fmla="*/ 5143500 h 5143500"/>
              <a:gd name="connsiteX19" fmla="*/ 0 w 9144000"/>
              <a:gd name="connsiteY19" fmla="*/ 514349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6436154" y="1628732"/>
                </a:moveTo>
                <a:lnTo>
                  <a:pt x="6846435" y="2649167"/>
                </a:lnTo>
                <a:lnTo>
                  <a:pt x="6025873" y="2649167"/>
                </a:lnTo>
                <a:close/>
                <a:moveTo>
                  <a:pt x="8089090" y="978945"/>
                </a:moveTo>
                <a:lnTo>
                  <a:pt x="8089090" y="4414295"/>
                </a:lnTo>
                <a:lnTo>
                  <a:pt x="8611603" y="4414295"/>
                </a:lnTo>
                <a:lnTo>
                  <a:pt x="8611603" y="978945"/>
                </a:lnTo>
                <a:close/>
                <a:moveTo>
                  <a:pt x="6171811" y="978945"/>
                </a:moveTo>
                <a:lnTo>
                  <a:pt x="4790579" y="4414295"/>
                </a:lnTo>
                <a:lnTo>
                  <a:pt x="5316178" y="4414295"/>
                </a:lnTo>
                <a:lnTo>
                  <a:pt x="5815789" y="3171680"/>
                </a:lnTo>
                <a:lnTo>
                  <a:pt x="7056519" y="3171680"/>
                </a:lnTo>
                <a:lnTo>
                  <a:pt x="7556131" y="4414295"/>
                </a:lnTo>
                <a:lnTo>
                  <a:pt x="8081730" y="4414295"/>
                </a:lnTo>
                <a:lnTo>
                  <a:pt x="6700497" y="978945"/>
                </a:lnTo>
                <a:lnTo>
                  <a:pt x="6697411" y="978945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499"/>
                </a:lnTo>
                <a:close/>
              </a:path>
            </a:pathLst>
          </a:custGeom>
          <a:solidFill>
            <a:srgbClr val="101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나눔고딕" pitchFamily="2" charset="-127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2DE2A0B9-A16D-39F7-260E-64AC01E1A945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9A8B4A2C-FC00-D836-023E-2A718503847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314F49A-FF89-808D-DD87-3858AC6A670A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65B6BFF-4030-C87A-2631-2C2A7D693DD6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FB56D83-760C-9B98-B175-E528E03CA46E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47E8DC67-1FB1-CC42-3DC1-30768792095B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7C0A52C-69B5-D1B4-048A-B5B444DBC896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5B31715-3B8A-CF7A-1C46-EB550CCC76B8}"/>
              </a:ext>
            </a:extLst>
          </p:cNvPr>
          <p:cNvGrpSpPr/>
          <p:nvPr/>
        </p:nvGrpSpPr>
        <p:grpSpPr>
          <a:xfrm>
            <a:off x="358775" y="984537"/>
            <a:ext cx="8426450" cy="3413843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84649FC6-0203-FF5E-0CEE-50C79552B774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3FA8ABB-84C9-AF1D-8AF0-5BFE535E610F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F0109E6D-81B3-DF74-D85D-BABF658794F5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C6EFCD5E-0112-E230-7402-074BF180BF3E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D2D873BF-C9CC-549B-315A-9041B37F8D59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A364AAD-95AF-E424-5778-EF3D1C5262EA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E53818-4C10-5CC4-1163-D192061D071C}"/>
              </a:ext>
            </a:extLst>
          </p:cNvPr>
          <p:cNvSpPr/>
          <p:nvPr/>
        </p:nvSpPr>
        <p:spPr bwMode="auto">
          <a:xfrm>
            <a:off x="456251" y="2015204"/>
            <a:ext cx="7582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ko-KR" altLang="en-US" sz="2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결론 및 시사점 </a:t>
            </a:r>
            <a:endParaRPr lang="en-US" altLang="zh-CN" sz="24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DC8AB5-CF0A-3725-52FE-D886130051C9}"/>
              </a:ext>
            </a:extLst>
          </p:cNvPr>
          <p:cNvSpPr txBox="1"/>
          <p:nvPr/>
        </p:nvSpPr>
        <p:spPr>
          <a:xfrm>
            <a:off x="260539" y="773054"/>
            <a:ext cx="1901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7200" dirty="0">
                <a:ln w="3175">
                  <a:noFill/>
                </a:ln>
                <a:solidFill>
                  <a:srgbClr val="394B95"/>
                </a:solidFill>
                <a:latin typeface="Montserrat Black" panose="00000A00000000000000" pitchFamily="2" charset="0"/>
                <a:ea typeface="+mj-ea"/>
                <a:sym typeface="MiSans Light" panose="00000400000000000000" charset="-122"/>
              </a:rPr>
              <a:t>04.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921D2C0-9DF0-64EA-0646-403C301C4230}"/>
              </a:ext>
            </a:extLst>
          </p:cNvPr>
          <p:cNvCxnSpPr/>
          <p:nvPr/>
        </p:nvCxnSpPr>
        <p:spPr>
          <a:xfrm>
            <a:off x="355600" y="2586175"/>
            <a:ext cx="2925114" cy="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6B212918-FAE7-F47E-B566-8FD5C8609BBD}"/>
              </a:ext>
            </a:extLst>
          </p:cNvPr>
          <p:cNvSpPr/>
          <p:nvPr/>
        </p:nvSpPr>
        <p:spPr>
          <a:xfrm>
            <a:off x="358775" y="3526403"/>
            <a:ext cx="107343" cy="107343"/>
          </a:xfrm>
          <a:prstGeom prst="ellipse">
            <a:avLst/>
          </a:prstGeom>
          <a:solidFill>
            <a:srgbClr val="44D5FA"/>
          </a:solidFill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491EA42-2CF8-392A-324E-6474620960A2}"/>
              </a:ext>
            </a:extLst>
          </p:cNvPr>
          <p:cNvSpPr/>
          <p:nvPr/>
        </p:nvSpPr>
        <p:spPr>
          <a:xfrm>
            <a:off x="660924" y="3526403"/>
            <a:ext cx="107343" cy="107343"/>
          </a:xfrm>
          <a:prstGeom prst="ellipse">
            <a:avLst/>
          </a:prstGeom>
          <a:noFill/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20FAB52-D075-AE97-1A7F-7BED4DEE3DD2}"/>
              </a:ext>
            </a:extLst>
          </p:cNvPr>
          <p:cNvSpPr/>
          <p:nvPr/>
        </p:nvSpPr>
        <p:spPr>
          <a:xfrm>
            <a:off x="963073" y="3526403"/>
            <a:ext cx="107343" cy="107343"/>
          </a:xfrm>
          <a:prstGeom prst="ellipse">
            <a:avLst/>
          </a:prstGeom>
          <a:noFill/>
          <a:ln>
            <a:solidFill>
              <a:srgbClr val="44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F72532-A783-C832-2CBD-85E27D8CD595}"/>
              </a:ext>
            </a:extLst>
          </p:cNvPr>
          <p:cNvSpPr txBox="1"/>
          <p:nvPr/>
        </p:nvSpPr>
        <p:spPr>
          <a:xfrm>
            <a:off x="1185711" y="3373046"/>
            <a:ext cx="1950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zh-CN" sz="1800" dirty="0">
                <a:solidFill>
                  <a:srgbClr val="44D5FA"/>
                </a:solidFill>
              </a:rPr>
              <a:t>PART Four</a:t>
            </a:r>
            <a:endParaRPr lang="zh-CN" altLang="en-US" sz="1800" dirty="0">
              <a:solidFill>
                <a:srgbClr val="44D5FA"/>
              </a:solidFill>
            </a:endParaRPr>
          </a:p>
        </p:txBody>
      </p:sp>
      <p:sp>
        <p:nvSpPr>
          <p:cNvPr id="28" name="矩形 6">
            <a:extLst>
              <a:ext uri="{FF2B5EF4-FFF2-40B4-BE49-F238E27FC236}">
                <a16:creationId xmlns:a16="http://schemas.microsoft.com/office/drawing/2014/main" id="{82F27E79-66C0-980D-54D9-CA83044D943D}"/>
              </a:ext>
            </a:extLst>
          </p:cNvPr>
          <p:cNvSpPr/>
          <p:nvPr/>
        </p:nvSpPr>
        <p:spPr>
          <a:xfrm>
            <a:off x="414985" y="2579753"/>
            <a:ext cx="3672609" cy="889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Conclusion</a:t>
            </a:r>
            <a:endParaRPr lang="en-US" altLang="zh-CN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Implications</a:t>
            </a: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Limitation and Future Research Directions</a:t>
            </a:r>
            <a:r>
              <a:rPr lang="en-US" altLang="zh-CN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077AB-577F-4FC2-3EA1-E60A840F11AB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40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859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2DC2-D85D-EB2E-C415-45328EE1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1C65DE57-B640-B61A-C4CC-7DF38E61F8FE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F6D1D08-427F-1E8B-79C8-3CEC00DCEFB6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981D8EF8-1172-ABA5-F829-0B2AB32D00EE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FD10DE81-48B9-5FAF-778F-87D63425488C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37899E4-3478-6796-CBFE-61B93EDA735E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7BADBE5-61C5-A116-8DB2-1794EE649AB6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D4A41C7-C9B4-1CB6-07A8-30542C74DDC9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7BF5A17A-2300-D1B4-5F77-B173B6C90835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E1DA969-9374-BA90-E547-F6C56AB3CADC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B6C515-7B0A-4841-701D-46D7ECC22D7F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ko-KR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Conclusion </a:t>
            </a:r>
            <a:r>
              <a:rPr lang="ko-KR" altLang="en-US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결론</a:t>
            </a:r>
            <a:endParaRPr lang="en-US" altLang="zh-CN" sz="28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F2B17-4B4F-8AF1-70F0-44BAE59BCA74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41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B06D5-F018-1560-93D7-9976BAC9A4DB}"/>
              </a:ext>
            </a:extLst>
          </p:cNvPr>
          <p:cNvSpPr txBox="1"/>
          <p:nvPr/>
        </p:nvSpPr>
        <p:spPr>
          <a:xfrm>
            <a:off x="421513" y="916846"/>
            <a:ext cx="797192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본 연구는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TripAdvisor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의 한국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58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개 주요 관광지 다국어 리뷰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116,806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건과 공공데이터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숙박시설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음식점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교통 등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종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를 공간적으로 결합한 통합 </a:t>
            </a:r>
            <a:r>
              <a:rPr lang="ko-KR" alt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빅데이터셋을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구축하고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XLM-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RoBERTa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기반 감성분석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BERTopic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토픽모델링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과밀화 경보지수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(OWI), LLM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기반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ABSA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추천을 포함하는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통합 분석 프레임워크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를 제안하였다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분석 결과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BERTopic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을 통해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관광지별 주요 방문 경험과 이슈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를 도출하였으며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긍정 경험은 경관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역사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문화 등 핵심 경험에 집중된 반면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부정 경험은 혼잡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대기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교통 접근성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상업화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다국어 안내 부족의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대 공통 요인으로 구조화됨을 확인하였다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또한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OWI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를 통해 관광지별 혼잡 위험도를 정량적으로 평가하고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고위험 명소와 </a:t>
            </a:r>
            <a:r>
              <a:rPr lang="ko-KR" alt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저위험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 명소 간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관광 수요 불균형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을 규명하였다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마지막으로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LLM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기반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ABSA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로 생성한 관광지 프로필과 사용자 선호 프로필 간 코사인 유사도를 활용하여 콘텐츠 기반 관광지 추천을 수행하고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핵심 장점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(Highlights),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방문자 인사이트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(Visitor Insights),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과밀화 위험도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(OWI),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방문 전 유의사항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(Good to Know)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을 함께 제공하는 </a:t>
            </a:r>
            <a:r>
              <a:rPr lang="ko-KR" altLang="en-US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설명 가능한 비영리 관광 추천 서비스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를 구현하였다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171450" indent="-1714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본 연구는 데이터 기반 관광 의사결정과 지속가능한 관광 생태계 조성에 기여하며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en-US" altLang="ko-KR" sz="14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UN Tourism SDG 11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지속가능한 도시와 공동체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의 관광 혼잡 완화와 </a:t>
            </a:r>
            <a:r>
              <a:rPr lang="en-US" altLang="ko-KR" sz="1200" b="1" dirty="0">
                <a:solidFill>
                  <a:schemeClr val="accent1"/>
                </a:solidFill>
                <a:latin typeface="나눔고딕" pitchFamily="2" charset="-127"/>
                <a:ea typeface="나눔고딕" pitchFamily="2" charset="-127"/>
              </a:rPr>
              <a:t>8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양질의 일자리와 경제성장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의 지속가능한 관광산업 및 지역경제 활성화에 기여할 수 있는 활용 가능성을 제시한다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263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52AF3-3CF1-1391-8659-2AD4684C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4ECC16F9-B789-D11D-A2D6-3C4F8F729D33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72B83C38-309F-696F-8E28-987493502FA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72A5F48-0210-EE2A-017C-952D7A9445EE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89F12F5-3CF4-96C2-F737-C4046D7908BB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3BDFC07C-8FE9-7E57-EBE6-C1AB6AB3B867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CF473A98-7BAE-5B53-0130-367E2FE316BD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905429F-3AEC-31CD-6FDF-4C72FD9D8EA6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561D20AA-A98B-C686-6092-9B35D1FCEB65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A9813965-5826-59A9-EB12-2F1BD4D6CE56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4659276-B3F7-540C-2900-E2BFAD98B213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9951A29-F970-1DEC-9651-A42644E8A16A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4655CBB8-B4C0-C11D-4E69-ED287E340390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0FBBC443-9F36-A6E3-116D-0B431FAB0B22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79040E3-8CE8-5FF6-08E0-DBF1F4EE2AE7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225112-0A2E-7E32-9DD6-AD41667C3756}"/>
              </a:ext>
            </a:extLst>
          </p:cNvPr>
          <p:cNvSpPr/>
          <p:nvPr/>
        </p:nvSpPr>
        <p:spPr>
          <a:xfrm>
            <a:off x="358774" y="159622"/>
            <a:ext cx="77521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Academic Implications </a:t>
            </a:r>
            <a:r>
              <a:rPr lang="ko-KR" altLang="en-US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학술적 시사점</a:t>
            </a:r>
            <a:endParaRPr lang="en-US" altLang="zh-CN" sz="28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66B6610-EBFA-DC99-762A-B0820C2A57C7}"/>
              </a:ext>
            </a:extLst>
          </p:cNvPr>
          <p:cNvSpPr/>
          <p:nvPr/>
        </p:nvSpPr>
        <p:spPr>
          <a:xfrm>
            <a:off x="365760" y="886968"/>
            <a:ext cx="8412480" cy="950976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2D80DFE-3431-3B8B-A4E3-4B9502BD9FE0}"/>
              </a:ext>
            </a:extLst>
          </p:cNvPr>
          <p:cNvSpPr/>
          <p:nvPr/>
        </p:nvSpPr>
        <p:spPr>
          <a:xfrm>
            <a:off x="786384" y="9418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다국어 3-class 감성·토픽 비교</a:t>
            </a:r>
            <a:endParaRPr lang="en-US" sz="1300" dirty="0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5E90BD6-D9BF-DE67-4119-454CA474273C}"/>
              </a:ext>
            </a:extLst>
          </p:cNvPr>
          <p:cNvSpPr/>
          <p:nvPr/>
        </p:nvSpPr>
        <p:spPr>
          <a:xfrm>
            <a:off x="786384" y="1307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단일 언어·2분류 선행연구(Wang et al., 2025)와 달리 긍정·중립·부정 3집단 각각에 BERTopic을 적용하여 감성별 토픽 구조 차이 자체를 비교 분석 — 첫 한국어권 다국어 동시 처리 사례</a:t>
            </a:r>
            <a:endParaRPr lang="en-US" sz="1100" dirty="0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9851DA00-7329-2D53-34E5-90729E26FE97}"/>
              </a:ext>
            </a:extLst>
          </p:cNvPr>
          <p:cNvSpPr/>
          <p:nvPr/>
        </p:nvSpPr>
        <p:spPr>
          <a:xfrm>
            <a:off x="365760" y="1911096"/>
            <a:ext cx="8412480" cy="950976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E1CCCF15-DA5A-8ADA-BB5A-2D1F53B83847}"/>
              </a:ext>
            </a:extLst>
          </p:cNvPr>
          <p:cNvSpPr/>
          <p:nvPr/>
        </p:nvSpPr>
        <p:spPr>
          <a:xfrm>
            <a:off x="786384" y="19659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ABSA의 추천시스템 재목적화</a:t>
            </a:r>
            <a:endParaRPr lang="en-US" sz="1300" dirty="0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BF75944A-DFCB-B8BA-2206-93711C9CC54E}"/>
              </a:ext>
            </a:extLst>
          </p:cNvPr>
          <p:cNvSpPr/>
          <p:nvPr/>
        </p:nvSpPr>
        <p:spPr>
          <a:xfrm>
            <a:off x="786384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PAKPA(Tang et al., 2024)의 ABSA 단계를 분리·재목적화하여 관광지 Feature Vector 생성에 활용 — 비정형 리뷰를 추천 가능한 구조화 데이터로 변환하는 방법론 제안</a:t>
            </a:r>
            <a:endParaRPr lang="en-US" sz="1100" dirty="0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1D2046A5-6B46-19CF-8327-AD6F24D051E6}"/>
              </a:ext>
            </a:extLst>
          </p:cNvPr>
          <p:cNvSpPr/>
          <p:nvPr/>
        </p:nvSpPr>
        <p:spPr>
          <a:xfrm>
            <a:off x="365760" y="2935224"/>
            <a:ext cx="8412480" cy="950976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727E24CD-28DD-8FB6-D2CD-6538531CC5DE}"/>
              </a:ext>
            </a:extLst>
          </p:cNvPr>
          <p:cNvSpPr/>
          <p:nvPr/>
        </p:nvSpPr>
        <p:spPr>
          <a:xfrm>
            <a:off x="786384" y="299008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OWI 자체 지수 설계</a:t>
            </a:r>
            <a:endParaRPr lang="en-US" sz="1300" dirty="0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AF2E83D2-2A50-46A3-E221-40AF4CA44A39}"/>
              </a:ext>
            </a:extLst>
          </p:cNvPr>
          <p:cNvSpPr/>
          <p:nvPr/>
        </p:nvSpPr>
        <p:spPr>
          <a:xfrm>
            <a:off x="786384" y="3355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리뷰 증가율·부정감성 비율·시설밀도를 결합한 과밀화 경보지수(OWI) 설계 — 관광지 혼잡 위험을 데이터 기반으로 사전 진단하는 새로운 정량 지표 제시</a:t>
            </a:r>
            <a:endParaRPr lang="en-US" sz="1100" dirty="0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D7599506-E73A-8D93-F7B9-287FE7670C1C}"/>
              </a:ext>
            </a:extLst>
          </p:cNvPr>
          <p:cNvSpPr/>
          <p:nvPr/>
        </p:nvSpPr>
        <p:spPr>
          <a:xfrm>
            <a:off x="365760" y="3959352"/>
            <a:ext cx="8412480" cy="950976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ED99F62A-1A38-6B9B-B21D-A76D4DB23707}"/>
              </a:ext>
            </a:extLst>
          </p:cNvPr>
          <p:cNvSpPr/>
          <p:nvPr/>
        </p:nvSpPr>
        <p:spPr>
          <a:xfrm>
            <a:off x="786384" y="40142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Negativity Bias 정량 검증</a:t>
            </a:r>
            <a:endParaRPr lang="en-US" sz="1300" dirty="0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5B2FD531-6A1F-B7C8-DEC9-F97FA9D1EB60}"/>
              </a:ext>
            </a:extLst>
          </p:cNvPr>
          <p:cNvSpPr/>
          <p:nvPr/>
        </p:nvSpPr>
        <p:spPr>
          <a:xfrm>
            <a:off x="786384" y="43799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부정 17개 토픽·노이즈 15% vs 긍정 6개 토픽·노이즈 2% — 불만족 경험의 다양한 분화를 대규모 실증 </a:t>
            </a:r>
            <a:r>
              <a:rPr lang="en-US" sz="1100" dirty="0" err="1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데이터로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확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인</a:t>
            </a:r>
            <a:endParaRPr lang="en-US" sz="1100" dirty="0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2B083-F58E-3390-CA71-55BB0F8E0AA6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42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2D778137-A0D6-BE53-58AB-0E4A92E91199}"/>
              </a:ext>
            </a:extLst>
          </p:cNvPr>
          <p:cNvSpPr/>
          <p:nvPr/>
        </p:nvSpPr>
        <p:spPr>
          <a:xfrm>
            <a:off x="376428" y="9357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01</a:t>
            </a:r>
            <a:endParaRPr lang="en-US" sz="1600" dirty="0">
              <a:solidFill>
                <a:srgbClr val="D9532E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07BBE015-3BB7-99BC-5F87-9654ECD4C727}"/>
              </a:ext>
            </a:extLst>
          </p:cNvPr>
          <p:cNvSpPr/>
          <p:nvPr/>
        </p:nvSpPr>
        <p:spPr>
          <a:xfrm>
            <a:off x="376428" y="19598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02</a:t>
            </a:r>
            <a:endParaRPr lang="en-US" sz="1600" dirty="0">
              <a:solidFill>
                <a:srgbClr val="D9532E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C1E638F9-6E5C-BDF1-50E8-634D9DBF079E}"/>
              </a:ext>
            </a:extLst>
          </p:cNvPr>
          <p:cNvSpPr/>
          <p:nvPr/>
        </p:nvSpPr>
        <p:spPr>
          <a:xfrm>
            <a:off x="376428" y="29839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03</a:t>
            </a:r>
            <a:endParaRPr lang="en-US" sz="1600" dirty="0">
              <a:solidFill>
                <a:srgbClr val="D9532E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94B09D97-7823-C208-D64F-EEA4A0D1CCAB}"/>
              </a:ext>
            </a:extLst>
          </p:cNvPr>
          <p:cNvSpPr/>
          <p:nvPr/>
        </p:nvSpPr>
        <p:spPr>
          <a:xfrm>
            <a:off x="376428" y="40081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04</a:t>
            </a:r>
            <a:endParaRPr lang="en-US" sz="1600" dirty="0">
              <a:solidFill>
                <a:srgbClr val="D9532E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065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0A8FA-6D4C-5033-DB0D-7579E1E11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2358E8FC-EBF0-4D87-73FB-18E94BDB9B32}"/>
              </a:ext>
            </a:extLst>
          </p:cNvPr>
          <p:cNvGrpSpPr>
            <a:grpSpLocks noChangeAspect="1"/>
          </p:cNvGrpSpPr>
          <p:nvPr/>
        </p:nvGrpSpPr>
        <p:grpSpPr bwMode="auto">
          <a:xfrm rot="16200000">
            <a:off x="1189831" y="4026530"/>
            <a:ext cx="39688" cy="1708150"/>
            <a:chOff x="2866" y="1081"/>
            <a:chExt cx="25" cy="107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9EDD7CD1-E3FF-88EA-5800-BA0B5C52A04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69" y="1083"/>
              <a:ext cx="22" cy="1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34D5689-43C9-E89F-5CC3-CAE7E896511C}"/>
                </a:ext>
              </a:extLst>
            </p:cNvPr>
            <p:cNvSpPr/>
            <p:nvPr/>
          </p:nvSpPr>
          <p:spPr bwMode="auto">
            <a:xfrm>
              <a:off x="2866" y="1081"/>
              <a:ext cx="21" cy="205"/>
            </a:xfrm>
            <a:custGeom>
              <a:avLst/>
              <a:gdLst>
                <a:gd name="T0" fmla="*/ 0 w 6"/>
                <a:gd name="T1" fmla="*/ 83 h 86"/>
                <a:gd name="T2" fmla="*/ 0 w 6"/>
                <a:gd name="T3" fmla="*/ 3 h 86"/>
                <a:gd name="T4" fmla="*/ 3 w 6"/>
                <a:gd name="T5" fmla="*/ 0 h 86"/>
                <a:gd name="T6" fmla="*/ 6 w 6"/>
                <a:gd name="T7" fmla="*/ 3 h 86"/>
                <a:gd name="T8" fmla="*/ 6 w 6"/>
                <a:gd name="T9" fmla="*/ 83 h 86"/>
                <a:gd name="T10" fmla="*/ 3 w 6"/>
                <a:gd name="T11" fmla="*/ 86 h 86"/>
                <a:gd name="T12" fmla="*/ 0 w 6"/>
                <a:gd name="T13" fmla="*/ 8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6">
                  <a:moveTo>
                    <a:pt x="0" y="8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5"/>
                    <a:pt x="5" y="86"/>
                    <a:pt x="3" y="86"/>
                  </a:cubicBezTo>
                  <a:cubicBezTo>
                    <a:pt x="1" y="86"/>
                    <a:pt x="0" y="85"/>
                    <a:pt x="0" y="83"/>
                  </a:cubicBezTo>
                  <a:close/>
                </a:path>
              </a:pathLst>
            </a:custGeom>
            <a:solidFill>
              <a:srgbClr val="FF1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0CD1094-F7F6-5676-D809-A69885B5CB60}"/>
                </a:ext>
              </a:extLst>
            </p:cNvPr>
            <p:cNvSpPr/>
            <p:nvPr/>
          </p:nvSpPr>
          <p:spPr bwMode="auto">
            <a:xfrm>
              <a:off x="2866" y="1374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6EA97F49-0E1F-6297-AA9C-603ABF7FB827}"/>
                </a:ext>
              </a:extLst>
            </p:cNvPr>
            <p:cNvSpPr/>
            <p:nvPr/>
          </p:nvSpPr>
          <p:spPr bwMode="auto">
            <a:xfrm>
              <a:off x="2866" y="1665"/>
              <a:ext cx="21" cy="203"/>
            </a:xfrm>
            <a:custGeom>
              <a:avLst/>
              <a:gdLst>
                <a:gd name="T0" fmla="*/ 3 w 6"/>
                <a:gd name="T1" fmla="*/ 0 h 85"/>
                <a:gd name="T2" fmla="*/ 0 w 6"/>
                <a:gd name="T3" fmla="*/ 3 h 85"/>
                <a:gd name="T4" fmla="*/ 0 w 6"/>
                <a:gd name="T5" fmla="*/ 82 h 85"/>
                <a:gd name="T6" fmla="*/ 3 w 6"/>
                <a:gd name="T7" fmla="*/ 85 h 85"/>
                <a:gd name="T8" fmla="*/ 6 w 6"/>
                <a:gd name="T9" fmla="*/ 82 h 85"/>
                <a:gd name="T10" fmla="*/ 6 w 6"/>
                <a:gd name="T11" fmla="*/ 3 h 85"/>
                <a:gd name="T12" fmla="*/ 3 w 6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5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1" y="85"/>
                    <a:pt x="3" y="85"/>
                  </a:cubicBezTo>
                  <a:cubicBezTo>
                    <a:pt x="5" y="85"/>
                    <a:pt x="6" y="84"/>
                    <a:pt x="6" y="8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바탕" panose="02030600000101010101" pitchFamily="18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0877CC0F-B088-0EA9-CEBB-E9D3DBBF7C34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4D43546-F8E6-0C5B-7996-1E3F4D7C45DB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5A101C4E-CC98-A3B7-EA78-4CFE7C8FD61F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B9FB65BA-910E-8F39-C233-65646EFC0C5C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35F7C0E7-E946-DF1A-7B31-E7EAC6D2573C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01BA1656-B345-26D3-B7B1-015738DDD6E0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103EC547-0DDC-1ABD-CA97-67601993810F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2929114-8199-5FEF-C21C-07886E989E8D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922A0AB-859D-A946-38A2-8201D61D8B69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E81F81-7E7A-0501-E7D7-25E8D1A41962}"/>
              </a:ext>
            </a:extLst>
          </p:cNvPr>
          <p:cNvSpPr/>
          <p:nvPr/>
        </p:nvSpPr>
        <p:spPr>
          <a:xfrm>
            <a:off x="358774" y="159622"/>
            <a:ext cx="77521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Practical Implications </a:t>
            </a:r>
            <a:r>
              <a:rPr lang="ko-KR" altLang="en-US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실무적 시사점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2D27ABE-8A95-AAA0-3553-B23BD3908B9B}"/>
              </a:ext>
            </a:extLst>
          </p:cNvPr>
          <p:cNvSpPr/>
          <p:nvPr/>
        </p:nvSpPr>
        <p:spPr>
          <a:xfrm>
            <a:off x="365760" y="886968"/>
            <a:ext cx="8412480" cy="950976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D5B49AC-DA8D-41D5-27B4-B5B32C4BF2D0}"/>
              </a:ext>
            </a:extLst>
          </p:cNvPr>
          <p:cNvSpPr/>
          <p:nvPr/>
        </p:nvSpPr>
        <p:spPr>
          <a:xfrm>
            <a:off x="786384" y="9418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과밀화 명소 사전 식별 </a:t>
            </a:r>
            <a:r>
              <a:rPr lang="en-US" altLang="ko-KR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&amp; </a:t>
            </a:r>
            <a:r>
              <a:rPr lang="ko-KR" altLang="en-US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분산 정책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5D96455-8736-D5CD-AFE2-F1D9C20E220D}"/>
              </a:ext>
            </a:extLst>
          </p:cNvPr>
          <p:cNvSpPr/>
          <p:nvPr/>
        </p:nvSpPr>
        <p:spPr>
          <a:xfrm>
            <a:off x="786384" y="1307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OWI 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상위 명소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소규모 체험형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)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를 사전 식별하여 방문객 분산 정책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·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입장 </a:t>
            </a:r>
            <a:r>
              <a:rPr lang="ko-KR" altLang="en-US" sz="1100" dirty="0" err="1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예약제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·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방문 시간대 유도 등 </a:t>
            </a:r>
            <a:r>
              <a:rPr lang="ko-KR" altLang="en-US" sz="1100" dirty="0" err="1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선제적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혼잡 관리에 활용 가능</a:t>
            </a: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8A195E3E-8ED3-3DBE-1D94-44EE3B8CC4F1}"/>
              </a:ext>
            </a:extLst>
          </p:cNvPr>
          <p:cNvSpPr/>
          <p:nvPr/>
        </p:nvSpPr>
        <p:spPr>
          <a:xfrm>
            <a:off x="365760" y="1911096"/>
            <a:ext cx="8412480" cy="950976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F5B1AFA-201E-D592-7BAD-76373A8D7307}"/>
              </a:ext>
            </a:extLst>
          </p:cNvPr>
          <p:cNvSpPr/>
          <p:nvPr/>
        </p:nvSpPr>
        <p:spPr>
          <a:xfrm>
            <a:off x="786384" y="19659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명소별 맞춤 개선 방안</a:t>
            </a: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6CDAAE60-5E32-87DA-3E7C-FC52183095CE}"/>
              </a:ext>
            </a:extLst>
          </p:cNvPr>
          <p:cNvSpPr/>
          <p:nvPr/>
        </p:nvSpPr>
        <p:spPr>
          <a:xfrm>
            <a:off x="786384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DMZ(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투어 운영방식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)·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에버랜드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대기시간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)·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북촌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주민 갈등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)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처럼 불만 원인이 명소별로 전혀 다름 → 일괄 대응 아닌 명소 맞춤 개선 방안 수립 필요</a:t>
            </a:r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87BB1848-50DA-AADA-6CFF-D0D06FD7B80F}"/>
              </a:ext>
            </a:extLst>
          </p:cNvPr>
          <p:cNvSpPr/>
          <p:nvPr/>
        </p:nvSpPr>
        <p:spPr>
          <a:xfrm>
            <a:off x="365760" y="2935224"/>
            <a:ext cx="8412480" cy="950976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C50E0CE6-EBF5-B2C3-1895-7A320211FA98}"/>
              </a:ext>
            </a:extLst>
          </p:cNvPr>
          <p:cNvSpPr/>
          <p:nvPr/>
        </p:nvSpPr>
        <p:spPr>
          <a:xfrm>
            <a:off x="786384" y="299008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다국어 리뷰 통합 모니터링</a:t>
            </a: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0ED26DB2-AFD5-7DFE-5F92-A595F6D1D4CC}"/>
              </a:ext>
            </a:extLst>
          </p:cNvPr>
          <p:cNvSpPr/>
          <p:nvPr/>
        </p:nvSpPr>
        <p:spPr>
          <a:xfrm>
            <a:off x="786384" y="3355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단일 모델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·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파이프라인으로 한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·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중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·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일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·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태 다국어 리뷰 통합 처리 → 외국인 관광객 비중 높은 한국 관광지 다국어 피드백 실시간 모니터링 기반 마련</a:t>
            </a: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3949949F-26B5-451C-6CB9-7C7CBA0E99E6}"/>
              </a:ext>
            </a:extLst>
          </p:cNvPr>
          <p:cNvSpPr/>
          <p:nvPr/>
        </p:nvSpPr>
        <p:spPr>
          <a:xfrm>
            <a:off x="365760" y="3959352"/>
            <a:ext cx="8412480" cy="950976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2">
                  <a:lumMod val="9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C6D4C185-A3BC-FF6F-3D68-28308B3412B7}"/>
              </a:ext>
            </a:extLst>
          </p:cNvPr>
          <p:cNvSpPr/>
          <p:nvPr/>
        </p:nvSpPr>
        <p:spPr>
          <a:xfrm>
            <a:off x="786384" y="40142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설명 가능한 맞춤형 추천 서비스</a:t>
            </a:r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2B01890B-0A80-35DA-218D-1178B4D0A530}"/>
              </a:ext>
            </a:extLst>
          </p:cNvPr>
          <p:cNvSpPr/>
          <p:nvPr/>
        </p:nvSpPr>
        <p:spPr>
          <a:xfrm>
            <a:off x="786384" y="43799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속성 기반 추천 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+ Good to Know 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방문 팁 → 사용자 의사결정 지원 및 비인기 명소 노출 확대 가능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. Cold Start </a:t>
            </a:r>
            <a:r>
              <a:rPr lang="ko-KR" altLang="en-US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문제 완화</a:t>
            </a:r>
            <a:r>
              <a:rPr lang="en-US" altLang="ko-KR" sz="1100" dirty="0">
                <a:solidFill>
                  <a:schemeClr val="bg2">
                    <a:lumMod val="90000"/>
                  </a:schemeClr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D89C7-8740-13C2-2559-7C249F153563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42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B61F8578-ED8E-D84A-1E7D-5E78A81405B0}"/>
              </a:ext>
            </a:extLst>
          </p:cNvPr>
          <p:cNvSpPr/>
          <p:nvPr/>
        </p:nvSpPr>
        <p:spPr>
          <a:xfrm>
            <a:off x="376428" y="9357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rgbClr val="2B7A4B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01</a:t>
            </a:r>
            <a:endParaRPr lang="en-US" altLang="ko-KR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3DDC87E6-7588-BEE4-421E-356EFAFCD979}"/>
              </a:ext>
            </a:extLst>
          </p:cNvPr>
          <p:cNvSpPr/>
          <p:nvPr/>
        </p:nvSpPr>
        <p:spPr>
          <a:xfrm>
            <a:off x="376428" y="19598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rgbClr val="2B7A4B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02</a:t>
            </a:r>
            <a:endParaRPr lang="en-US" altLang="ko-KR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0224862-58BA-96A4-B099-D252569DA2F7}"/>
              </a:ext>
            </a:extLst>
          </p:cNvPr>
          <p:cNvSpPr/>
          <p:nvPr/>
        </p:nvSpPr>
        <p:spPr>
          <a:xfrm>
            <a:off x="376428" y="29839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rgbClr val="2B7A4B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03</a:t>
            </a:r>
            <a:endParaRPr lang="en-US" altLang="ko-KR" sz="16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83E9FF9A-02F3-7C56-1605-C7A3C0BD4855}"/>
              </a:ext>
            </a:extLst>
          </p:cNvPr>
          <p:cNvSpPr/>
          <p:nvPr/>
        </p:nvSpPr>
        <p:spPr>
          <a:xfrm>
            <a:off x="376428" y="40081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rgbClr val="2B7A4B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04</a:t>
            </a:r>
            <a:endParaRPr lang="en-US" altLang="ko-KR" sz="16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796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5E682-F353-53E1-A932-DD5EFCE27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63FF39D4-44B8-0DB7-F14B-BFCF29AC69C7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8A44462-D4AF-2AE9-B259-894FB2B47D11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34F4A492-AEDC-296A-631B-3D8B879191BB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1C26C6EB-9B90-F196-C13F-1035661F245F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35719CEB-C410-DC7A-B161-40C0A3FBEAA0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906EA61F-C378-89F7-10EB-9951723F4068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76FDF7A6-59D2-5DDF-0B40-5FE916DA8762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7B064682-8FC7-A922-DCEF-98DA80161A52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EE84472-20EF-52AE-147E-4C21360D66E3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35E147-0653-347D-AF8C-DFDA891194B6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ko-KR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Limitation </a:t>
            </a:r>
            <a:r>
              <a:rPr lang="ko-KR" altLang="en-US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한계점</a:t>
            </a:r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1E1DEEC5-FCCD-96C3-6394-C165A7B053BD}"/>
              </a:ext>
            </a:extLst>
          </p:cNvPr>
          <p:cNvSpPr/>
          <p:nvPr/>
        </p:nvSpPr>
        <p:spPr>
          <a:xfrm>
            <a:off x="860471" y="1425590"/>
            <a:ext cx="448598" cy="825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1</a:t>
            </a:r>
            <a:endParaRPr lang="en-US" dirty="0">
              <a:solidFill>
                <a:srgbClr val="FFC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B96614C-1AA4-DBAD-6F11-5339C1C0FA9E}"/>
              </a:ext>
            </a:extLst>
          </p:cNvPr>
          <p:cNvSpPr/>
          <p:nvPr/>
        </p:nvSpPr>
        <p:spPr>
          <a:xfrm>
            <a:off x="1636284" y="1473709"/>
            <a:ext cx="6474646" cy="78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본 연구의 리뷰 데이터는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TripAdvisor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단일 플랫폼에 한정되어 있어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네이버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구글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카카오맵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등 다플랫폼 리뷰를 반영하지 못하는 플랫폼 편향이 존재한다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.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516B88C7-2BC4-B79B-11C4-E6AF745A5844}"/>
              </a:ext>
            </a:extLst>
          </p:cNvPr>
          <p:cNvSpPr/>
          <p:nvPr/>
        </p:nvSpPr>
        <p:spPr>
          <a:xfrm>
            <a:off x="856851" y="2250852"/>
            <a:ext cx="448598" cy="825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2</a:t>
            </a:r>
            <a:endParaRPr lang="en-US" dirty="0">
              <a:solidFill>
                <a:srgbClr val="FFC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C2A6604B-1829-DD2A-BBF4-3AC563CDA3DB}"/>
              </a:ext>
            </a:extLst>
          </p:cNvPr>
          <p:cNvSpPr/>
          <p:nvPr/>
        </p:nvSpPr>
        <p:spPr>
          <a:xfrm>
            <a:off x="1636284" y="2269056"/>
            <a:ext cx="6329359" cy="78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TripAdvisor Traveler's Choice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베스트 오브 베스트 수상 명소를 대상으로 하였기 때문에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중저인지도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관광지 및 신흥 관광지는 분석 범위에 포함되지 않아 일반화에 제약이 있다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.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77DBB323-5445-CB78-744F-15367FDA87B5}"/>
              </a:ext>
            </a:extLst>
          </p:cNvPr>
          <p:cNvSpPr/>
          <p:nvPr/>
        </p:nvSpPr>
        <p:spPr>
          <a:xfrm>
            <a:off x="856851" y="3000660"/>
            <a:ext cx="448598" cy="825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3</a:t>
            </a:r>
            <a:endParaRPr lang="en-US" dirty="0">
              <a:solidFill>
                <a:srgbClr val="FFC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3A3C8744-4EFE-6AF1-AD47-E8EF20B0383C}"/>
              </a:ext>
            </a:extLst>
          </p:cNvPr>
          <p:cNvSpPr/>
          <p:nvPr/>
        </p:nvSpPr>
        <p:spPr>
          <a:xfrm>
            <a:off x="1636278" y="3018864"/>
            <a:ext cx="6329365" cy="78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OWI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지수 산출에 활용된 공공데이터는 특정 시점의 정적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(static)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데이터로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계절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시간대별 실시간 혼잡도 변화를 반영하지 못한다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.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A7746-5E0C-188D-61A9-E892711C8ECE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44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066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D0678-0AF6-EB2C-BBB8-F925905B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67C56195-A96D-08D3-03A8-882AC8901819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9E6E82D-0C1C-5A86-A5BB-8BC76BA3C0C5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B2FECAE-3DB9-B0A0-41C6-FD258BF00246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16D7FAD5-B9F4-7C2B-8BE9-544A128DE3AA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EC21616-5246-9E88-5EA2-425C62B061F0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13F85428-53DB-E5D9-B6E1-16DD4CAD73BF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C9993E8-AC04-EB04-FA5C-3EF73B4A4544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F86AB473-5111-7F98-64E3-5FB1F8960E62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0064E3E-8FEF-416C-0874-A224F36FCDD3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고딕" pitchFamily="2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901102-9290-E204-8478-C8B4F22AB340}"/>
              </a:ext>
            </a:extLst>
          </p:cNvPr>
          <p:cNvSpPr/>
          <p:nvPr/>
        </p:nvSpPr>
        <p:spPr>
          <a:xfrm>
            <a:off x="358774" y="159622"/>
            <a:ext cx="72001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ko-KR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Future Research Directions </a:t>
            </a:r>
            <a:r>
              <a:rPr lang="ko-KR" altLang="en-US" sz="28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+mn-lt"/>
              </a:rPr>
              <a:t>향후 연구 방향 </a:t>
            </a:r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9FBE3D0C-C601-3AD3-4C15-EE6E68EEA91B}"/>
              </a:ext>
            </a:extLst>
          </p:cNvPr>
          <p:cNvSpPr/>
          <p:nvPr/>
        </p:nvSpPr>
        <p:spPr>
          <a:xfrm>
            <a:off x="860471" y="986122"/>
            <a:ext cx="448598" cy="825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1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29050EC-0496-154A-15F7-84D86940B8EF}"/>
              </a:ext>
            </a:extLst>
          </p:cNvPr>
          <p:cNvSpPr/>
          <p:nvPr/>
        </p:nvSpPr>
        <p:spPr>
          <a:xfrm>
            <a:off x="1636284" y="1034241"/>
            <a:ext cx="6474646" cy="78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네이버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구글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카카오맵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등 다플랫폼 리뷰를 통합하여 플랫폼 편향을 최소화하고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국내 관광객과 외래 관광객 간 인식 차이를 보다 정밀하게 비교하는 연구로 확장할 수 있다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.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DB6FBC42-BF75-7DA3-6CBC-08B452514996}"/>
              </a:ext>
            </a:extLst>
          </p:cNvPr>
          <p:cNvSpPr/>
          <p:nvPr/>
        </p:nvSpPr>
        <p:spPr>
          <a:xfrm>
            <a:off x="856851" y="1811384"/>
            <a:ext cx="448598" cy="825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2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10DD4753-B6B4-AD89-533D-4DD6831CAF49}"/>
              </a:ext>
            </a:extLst>
          </p:cNvPr>
          <p:cNvSpPr/>
          <p:nvPr/>
        </p:nvSpPr>
        <p:spPr>
          <a:xfrm>
            <a:off x="1636284" y="1829588"/>
            <a:ext cx="6329359" cy="78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실시간 유동인구 데이터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(KT </a:t>
            </a:r>
            <a:r>
              <a:rPr lang="en-US" altLang="ko-KR" sz="1200" dirty="0" err="1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Olleh·SKT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빅데이터 등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와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OWI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를 연계한 동적 혼잡도 모니터링 시스템 구축을 통해 정책 대응의 즉시성을 높일 수 있다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.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F84A85BE-44B4-9763-AD8A-1710656A2D4B}"/>
              </a:ext>
            </a:extLst>
          </p:cNvPr>
          <p:cNvSpPr/>
          <p:nvPr/>
        </p:nvSpPr>
        <p:spPr>
          <a:xfrm>
            <a:off x="856851" y="2561192"/>
            <a:ext cx="448598" cy="825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3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6A5C3497-5C25-9BBE-AFF4-C0573D8B73D9}"/>
              </a:ext>
            </a:extLst>
          </p:cNvPr>
          <p:cNvSpPr/>
          <p:nvPr/>
        </p:nvSpPr>
        <p:spPr>
          <a:xfrm>
            <a:off x="1566211" y="2579396"/>
            <a:ext cx="6329365" cy="78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본 연구에서 개발한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ABSA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기반 추천 알고리즘의 실효성 검증을 위해 실제 관광객을 대상으로 한 사용자 실험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(User Study)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및 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A/B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테스트를 수행할 필요가 있다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.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832F119C-7EC9-E5C8-84D1-B08370101D56}"/>
              </a:ext>
            </a:extLst>
          </p:cNvPr>
          <p:cNvSpPr/>
          <p:nvPr/>
        </p:nvSpPr>
        <p:spPr>
          <a:xfrm>
            <a:off x="856851" y="3386454"/>
            <a:ext cx="448598" cy="825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532E"/>
                </a:solidFill>
                <a:latin typeface="나눔고딕" pitchFamily="2" charset="-127"/>
                <a:ea typeface="나눔고딕" pitchFamily="2" charset="-127"/>
                <a:cs typeface="Cambria" pitchFamily="34" charset="-120"/>
              </a:rPr>
              <a:t>4</a:t>
            </a:r>
            <a:endParaRPr 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42CAD6E0-B14A-9D74-4298-CC55F716098A}"/>
              </a:ext>
            </a:extLst>
          </p:cNvPr>
          <p:cNvSpPr/>
          <p:nvPr/>
        </p:nvSpPr>
        <p:spPr>
          <a:xfrm>
            <a:off x="1563640" y="3466689"/>
            <a:ext cx="6474646" cy="78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분석 대상을 한국에서 아시아 주요 관광 도시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일본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중국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태국 등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로 확장하여 국가 간 관광 경험 패턴의 비교 연구를 수행함으로써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본 프레임워크의 범용성을 검증할 수 있다</a:t>
            </a:r>
            <a:r>
              <a:rPr lang="en-US" altLang="ko-KR" sz="12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.</a:t>
            </a:r>
            <a:endParaRPr lang="en-US" sz="12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9DCCD-7764-132B-22ED-A061694A2A19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45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623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C7FD-855D-6893-ACA0-8D18C9A7C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667E078D-D1E1-7913-294B-795C16E27294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452C1D6-295A-2710-13E3-98F4104CEFF7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026B777-F19C-C7B8-C38E-FCF828222577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FCD3505F-B9A7-CBFB-DF25-78A2A7AD22C7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750CDAE6-7B75-95B4-FCC7-BDB0635000E1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A516889C-4D1A-A791-60FC-189F9A224C33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1A265ED-A92D-47AA-F965-FAD87D6D1786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6EF398F2-B414-D388-C18A-C63C11900C65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BE78666-2A6E-283E-EB7B-C47E80EAC8AF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A93954-9EC2-B508-29A5-7E3E3B64B413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 문헌</a:t>
            </a:r>
            <a:endParaRPr lang="en-US" altLang="ko-KR" sz="2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D4327-93F3-E5AF-1A91-9964FE99B0B5}"/>
              </a:ext>
            </a:extLst>
          </p:cNvPr>
          <p:cNvSpPr txBox="1"/>
          <p:nvPr/>
        </p:nvSpPr>
        <p:spPr>
          <a:xfrm>
            <a:off x="541302" y="727503"/>
            <a:ext cx="7722399" cy="4285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Bagherzadeh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S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Shokouhyar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S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Jahani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H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Sigala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M</a:t>
            </a:r>
            <a:r>
              <a:rPr lang="ko-KR" altLang="ko-KR" sz="1050" dirty="0">
                <a:solidFill>
                  <a:schemeClr val="bg1"/>
                </a:solidFill>
              </a:rPr>
              <a:t>. (2021).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generalizable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sentiment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analysis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method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creating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hotel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dictionary</a:t>
            </a:r>
            <a:r>
              <a:rPr lang="ko-KR" altLang="ko-KR" sz="1050" dirty="0">
                <a:solidFill>
                  <a:schemeClr val="bg1"/>
                </a:solidFill>
              </a:rPr>
              <a:t>: </a:t>
            </a:r>
            <a:r>
              <a:rPr lang="ko-KR" altLang="ko-KR" sz="1050" dirty="0" err="1">
                <a:solidFill>
                  <a:schemeClr val="bg1"/>
                </a:solidFill>
              </a:rPr>
              <a:t>Using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big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data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TripAdvisor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hotel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reviews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i="1" dirty="0" err="1">
                <a:solidFill>
                  <a:schemeClr val="bg1"/>
                </a:solidFill>
              </a:rPr>
              <a:t>Journal</a:t>
            </a:r>
            <a:r>
              <a:rPr lang="ko-KR" altLang="ko-KR" sz="1050" i="1" dirty="0">
                <a:solidFill>
                  <a:schemeClr val="bg1"/>
                </a:solidFill>
              </a:rPr>
              <a:t> of </a:t>
            </a:r>
            <a:r>
              <a:rPr lang="ko-KR" altLang="ko-KR" sz="1050" i="1" dirty="0" err="1">
                <a:solidFill>
                  <a:schemeClr val="bg1"/>
                </a:solidFill>
              </a:rPr>
              <a:t>Hospitality</a:t>
            </a:r>
            <a:r>
              <a:rPr lang="ko-KR" altLang="ko-KR" sz="1050" i="1" dirty="0">
                <a:solidFill>
                  <a:schemeClr val="bg1"/>
                </a:solidFill>
              </a:rPr>
              <a:t> and </a:t>
            </a:r>
            <a:r>
              <a:rPr lang="ko-KR" altLang="ko-KR" sz="1050" i="1" dirty="0" err="1">
                <a:solidFill>
                  <a:schemeClr val="bg1"/>
                </a:solidFill>
              </a:rPr>
              <a:t>Tourism</a:t>
            </a:r>
            <a:r>
              <a:rPr lang="ko-KR" altLang="ko-KR" sz="1050" i="1" dirty="0">
                <a:solidFill>
                  <a:schemeClr val="bg1"/>
                </a:solidFill>
              </a:rPr>
              <a:t> Technology, 12</a:t>
            </a:r>
            <a:r>
              <a:rPr lang="ko-KR" altLang="ko-KR" sz="1050" dirty="0">
                <a:solidFill>
                  <a:schemeClr val="bg1"/>
                </a:solidFill>
              </a:rPr>
              <a:t>(2), 210–238.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Conneau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Khandelwal</a:t>
            </a:r>
            <a:r>
              <a:rPr lang="ko-KR" altLang="ko-KR" sz="1050" dirty="0">
                <a:solidFill>
                  <a:schemeClr val="bg1"/>
                </a:solidFill>
              </a:rPr>
              <a:t>, K., </a:t>
            </a:r>
            <a:r>
              <a:rPr lang="ko-KR" altLang="ko-KR" sz="1050" dirty="0" err="1">
                <a:solidFill>
                  <a:schemeClr val="bg1"/>
                </a:solidFill>
              </a:rPr>
              <a:t>Goyal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N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Chaudhary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V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Wenzek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G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Guzmán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F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Grave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E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Ott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M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Zettlemoyer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L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Stoyanov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V</a:t>
            </a:r>
            <a:r>
              <a:rPr lang="ko-KR" altLang="ko-KR" sz="1050" dirty="0">
                <a:solidFill>
                  <a:schemeClr val="bg1"/>
                </a:solidFill>
              </a:rPr>
              <a:t>. (2020). </a:t>
            </a:r>
            <a:r>
              <a:rPr lang="ko-KR" altLang="ko-KR" sz="1050" dirty="0" err="1">
                <a:solidFill>
                  <a:schemeClr val="bg1"/>
                </a:solidFill>
              </a:rPr>
              <a:t>Unsupervised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cross-lingual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representation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learning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at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scale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In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i="1" dirty="0" err="1">
                <a:solidFill>
                  <a:schemeClr val="bg1"/>
                </a:solidFill>
              </a:rPr>
              <a:t>Proceedings</a:t>
            </a:r>
            <a:r>
              <a:rPr lang="ko-KR" altLang="ko-KR" sz="1050" i="1" dirty="0">
                <a:solidFill>
                  <a:schemeClr val="bg1"/>
                </a:solidFill>
              </a:rPr>
              <a:t> of </a:t>
            </a:r>
            <a:r>
              <a:rPr lang="ko-KR" altLang="ko-KR" sz="1050" i="1" dirty="0" err="1">
                <a:solidFill>
                  <a:schemeClr val="bg1"/>
                </a:solidFill>
              </a:rPr>
              <a:t>the</a:t>
            </a:r>
            <a:r>
              <a:rPr lang="ko-KR" altLang="ko-KR" sz="1050" i="1" dirty="0">
                <a:solidFill>
                  <a:schemeClr val="bg1"/>
                </a:solidFill>
              </a:rPr>
              <a:t> 58th </a:t>
            </a:r>
            <a:r>
              <a:rPr lang="ko-KR" altLang="ko-KR" sz="1050" i="1" dirty="0" err="1">
                <a:solidFill>
                  <a:schemeClr val="bg1"/>
                </a:solidFill>
              </a:rPr>
              <a:t>Annual</a:t>
            </a:r>
            <a:r>
              <a:rPr lang="ko-KR" altLang="ko-KR" sz="1050" i="1" dirty="0">
                <a:solidFill>
                  <a:schemeClr val="bg1"/>
                </a:solidFill>
              </a:rPr>
              <a:t> </a:t>
            </a:r>
            <a:r>
              <a:rPr lang="ko-KR" altLang="ko-KR" sz="1050" i="1" dirty="0" err="1">
                <a:solidFill>
                  <a:schemeClr val="bg1"/>
                </a:solidFill>
              </a:rPr>
              <a:t>Meeting</a:t>
            </a:r>
            <a:r>
              <a:rPr lang="ko-KR" altLang="ko-KR" sz="1050" i="1" dirty="0">
                <a:solidFill>
                  <a:schemeClr val="bg1"/>
                </a:solidFill>
              </a:rPr>
              <a:t> of </a:t>
            </a:r>
            <a:r>
              <a:rPr lang="ko-KR" altLang="ko-KR" sz="1050" i="1" dirty="0" err="1">
                <a:solidFill>
                  <a:schemeClr val="bg1"/>
                </a:solidFill>
              </a:rPr>
              <a:t>the</a:t>
            </a:r>
            <a:r>
              <a:rPr lang="ko-KR" altLang="ko-KR" sz="1050" i="1" dirty="0">
                <a:solidFill>
                  <a:schemeClr val="bg1"/>
                </a:solidFill>
              </a:rPr>
              <a:t> Association </a:t>
            </a:r>
            <a:r>
              <a:rPr lang="ko-KR" altLang="ko-KR" sz="1050" i="1" dirty="0" err="1">
                <a:solidFill>
                  <a:schemeClr val="bg1"/>
                </a:solidFill>
              </a:rPr>
              <a:t>for</a:t>
            </a:r>
            <a:r>
              <a:rPr lang="ko-KR" altLang="ko-KR" sz="1050" i="1" dirty="0">
                <a:solidFill>
                  <a:schemeClr val="bg1"/>
                </a:solidFill>
              </a:rPr>
              <a:t> </a:t>
            </a:r>
            <a:r>
              <a:rPr lang="ko-KR" altLang="ko-KR" sz="1050" i="1" dirty="0" err="1">
                <a:solidFill>
                  <a:schemeClr val="bg1"/>
                </a:solidFill>
              </a:rPr>
              <a:t>Computational</a:t>
            </a:r>
            <a:r>
              <a:rPr lang="ko-KR" altLang="ko-KR" sz="1050" i="1" dirty="0">
                <a:solidFill>
                  <a:schemeClr val="bg1"/>
                </a:solidFill>
              </a:rPr>
              <a:t> </a:t>
            </a:r>
            <a:r>
              <a:rPr lang="ko-KR" altLang="ko-KR" sz="1050" i="1" dirty="0" err="1">
                <a:solidFill>
                  <a:schemeClr val="bg1"/>
                </a:solidFill>
              </a:rPr>
              <a:t>Linguistics</a:t>
            </a:r>
            <a:r>
              <a:rPr lang="ko-KR" altLang="ko-KR" sz="1050" dirty="0">
                <a:solidFill>
                  <a:schemeClr val="bg1"/>
                </a:solidFill>
              </a:rPr>
              <a:t> (</a:t>
            </a:r>
            <a:r>
              <a:rPr lang="ko-KR" altLang="ko-KR" sz="1050" dirty="0" err="1">
                <a:solidFill>
                  <a:schemeClr val="bg1"/>
                </a:solidFill>
              </a:rPr>
              <a:t>pp</a:t>
            </a:r>
            <a:r>
              <a:rPr lang="ko-KR" altLang="ko-KR" sz="1050" dirty="0">
                <a:solidFill>
                  <a:schemeClr val="bg1"/>
                </a:solidFill>
              </a:rPr>
              <a:t>. 8440–8451). </a:t>
            </a:r>
            <a:r>
              <a:rPr lang="ko-KR" altLang="ko-KR" sz="1050" dirty="0" err="1">
                <a:solidFill>
                  <a:schemeClr val="bg1"/>
                </a:solidFill>
              </a:rPr>
              <a:t>Ma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E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Cheng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M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Hsiao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. (2018). </a:t>
            </a:r>
            <a:r>
              <a:rPr lang="ko-KR" altLang="ko-KR" sz="1050" dirty="0" err="1">
                <a:solidFill>
                  <a:schemeClr val="bg1"/>
                </a:solidFill>
              </a:rPr>
              <a:t>Sentiment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analysis</a:t>
            </a:r>
            <a:r>
              <a:rPr lang="ko-KR" altLang="ko-KR" sz="1050" dirty="0">
                <a:solidFill>
                  <a:schemeClr val="bg1"/>
                </a:solidFill>
              </a:rPr>
              <a:t> –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review</a:t>
            </a:r>
            <a:r>
              <a:rPr lang="ko-KR" altLang="ko-KR" sz="1050" dirty="0">
                <a:solidFill>
                  <a:schemeClr val="bg1"/>
                </a:solidFill>
              </a:rPr>
              <a:t> and </a:t>
            </a:r>
            <a:r>
              <a:rPr lang="ko-KR" altLang="ko-KR" sz="1050" dirty="0" err="1">
                <a:solidFill>
                  <a:schemeClr val="bg1"/>
                </a:solidFill>
              </a:rPr>
              <a:t>agenda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future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research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in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hospitality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contexts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i="1" dirty="0">
                <a:solidFill>
                  <a:schemeClr val="bg1"/>
                </a:solidFill>
              </a:rPr>
              <a:t>International </a:t>
            </a:r>
            <a:r>
              <a:rPr lang="ko-KR" altLang="ko-KR" sz="1050" i="1" dirty="0" err="1">
                <a:solidFill>
                  <a:schemeClr val="bg1"/>
                </a:solidFill>
              </a:rPr>
              <a:t>Journal</a:t>
            </a:r>
            <a:r>
              <a:rPr lang="ko-KR" altLang="ko-KR" sz="1050" i="1" dirty="0">
                <a:solidFill>
                  <a:schemeClr val="bg1"/>
                </a:solidFill>
              </a:rPr>
              <a:t> of </a:t>
            </a:r>
            <a:r>
              <a:rPr lang="ko-KR" altLang="ko-KR" sz="1050" i="1" dirty="0" err="1">
                <a:solidFill>
                  <a:schemeClr val="bg1"/>
                </a:solidFill>
              </a:rPr>
              <a:t>Contemporary</a:t>
            </a:r>
            <a:r>
              <a:rPr lang="ko-KR" altLang="ko-KR" sz="1050" i="1" dirty="0">
                <a:solidFill>
                  <a:schemeClr val="bg1"/>
                </a:solidFill>
              </a:rPr>
              <a:t> </a:t>
            </a:r>
            <a:r>
              <a:rPr lang="ko-KR" altLang="ko-KR" sz="1050" i="1" dirty="0" err="1">
                <a:solidFill>
                  <a:schemeClr val="bg1"/>
                </a:solidFill>
              </a:rPr>
              <a:t>Hospitality</a:t>
            </a:r>
            <a:r>
              <a:rPr lang="ko-KR" altLang="ko-KR" sz="1050" i="1" dirty="0">
                <a:solidFill>
                  <a:schemeClr val="bg1"/>
                </a:solidFill>
              </a:rPr>
              <a:t> Management, 30</a:t>
            </a:r>
            <a:r>
              <a:rPr lang="ko-KR" altLang="ko-KR" sz="1050" dirty="0">
                <a:solidFill>
                  <a:schemeClr val="bg1"/>
                </a:solidFill>
              </a:rPr>
              <a:t>(11), 3287–3308.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Ameur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Hamdi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S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Ben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Yahia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S</a:t>
            </a:r>
            <a:r>
              <a:rPr lang="ko-KR" altLang="ko-KR" sz="1050" dirty="0">
                <a:solidFill>
                  <a:schemeClr val="bg1"/>
                </a:solidFill>
              </a:rPr>
              <a:t>. (2023). </a:t>
            </a:r>
            <a:r>
              <a:rPr lang="ko-KR" altLang="ko-KR" sz="1050" dirty="0" err="1">
                <a:solidFill>
                  <a:schemeClr val="bg1"/>
                </a:solidFill>
              </a:rPr>
              <a:t>Sentiment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analysis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hotel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reviews</a:t>
            </a:r>
            <a:r>
              <a:rPr lang="ko-KR" altLang="ko-KR" sz="1050" dirty="0">
                <a:solidFill>
                  <a:schemeClr val="bg1"/>
                </a:solidFill>
              </a:rPr>
              <a:t>: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systematic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literature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review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i="1" dirty="0">
                <a:solidFill>
                  <a:schemeClr val="bg1"/>
                </a:solidFill>
              </a:rPr>
              <a:t>ACM </a:t>
            </a:r>
            <a:r>
              <a:rPr lang="ko-KR" altLang="ko-KR" sz="1050" i="1" dirty="0" err="1">
                <a:solidFill>
                  <a:schemeClr val="bg1"/>
                </a:solidFill>
              </a:rPr>
              <a:t>Computing</a:t>
            </a:r>
            <a:r>
              <a:rPr lang="ko-KR" altLang="ko-KR" sz="1050" i="1" dirty="0">
                <a:solidFill>
                  <a:schemeClr val="bg1"/>
                </a:solidFill>
              </a:rPr>
              <a:t> </a:t>
            </a:r>
            <a:r>
              <a:rPr lang="ko-KR" altLang="ko-KR" sz="1050" i="1" dirty="0" err="1">
                <a:solidFill>
                  <a:schemeClr val="bg1"/>
                </a:solidFill>
              </a:rPr>
              <a:t>Surveys</a:t>
            </a:r>
            <a:r>
              <a:rPr lang="ko-KR" altLang="ko-KR" sz="1050" i="1" dirty="0">
                <a:solidFill>
                  <a:schemeClr val="bg1"/>
                </a:solidFill>
              </a:rPr>
              <a:t>, 56</a:t>
            </a:r>
            <a:r>
              <a:rPr lang="ko-KR" altLang="ko-KR" sz="1050" dirty="0">
                <a:solidFill>
                  <a:schemeClr val="bg1"/>
                </a:solidFill>
              </a:rPr>
              <a:t>(2), </a:t>
            </a:r>
            <a:r>
              <a:rPr lang="ko-KR" altLang="ko-KR" sz="1050" dirty="0" err="1">
                <a:solidFill>
                  <a:schemeClr val="bg1"/>
                </a:solidFill>
              </a:rPr>
              <a:t>Article</a:t>
            </a:r>
            <a:r>
              <a:rPr lang="ko-KR" altLang="ko-KR" sz="1050" dirty="0">
                <a:solidFill>
                  <a:schemeClr val="bg1"/>
                </a:solidFill>
              </a:rPr>
              <a:t> 51.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Barbieri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F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Espinosa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Anke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L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Camacho-Collados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J</a:t>
            </a:r>
            <a:r>
              <a:rPr lang="ko-KR" altLang="ko-KR" sz="1050" dirty="0">
                <a:solidFill>
                  <a:schemeClr val="bg1"/>
                </a:solidFill>
              </a:rPr>
              <a:t>. (2022). XLM-T: </a:t>
            </a:r>
            <a:r>
              <a:rPr lang="ko-KR" altLang="ko-KR" sz="1050" dirty="0" err="1">
                <a:solidFill>
                  <a:schemeClr val="bg1"/>
                </a:solidFill>
              </a:rPr>
              <a:t>Multilingual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language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models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in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Twitter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sentiment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analysis</a:t>
            </a:r>
            <a:r>
              <a:rPr lang="ko-KR" altLang="ko-KR" sz="1050" dirty="0">
                <a:solidFill>
                  <a:schemeClr val="bg1"/>
                </a:solidFill>
              </a:rPr>
              <a:t> and </a:t>
            </a:r>
            <a:r>
              <a:rPr lang="ko-KR" altLang="ko-KR" sz="1050" dirty="0" err="1">
                <a:solidFill>
                  <a:schemeClr val="bg1"/>
                </a:solidFill>
              </a:rPr>
              <a:t>beyond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In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Proceedings</a:t>
            </a:r>
            <a:r>
              <a:rPr lang="ko-KR" altLang="ko-KR" sz="1050" dirty="0">
                <a:solidFill>
                  <a:schemeClr val="bg1"/>
                </a:solidFill>
              </a:rPr>
              <a:t> of </a:t>
            </a:r>
            <a:r>
              <a:rPr lang="ko-KR" altLang="ko-KR" sz="1050" dirty="0" err="1">
                <a:solidFill>
                  <a:schemeClr val="bg1"/>
                </a:solidFill>
              </a:rPr>
              <a:t>the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Thirteenth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Language</a:t>
            </a:r>
            <a:r>
              <a:rPr lang="ko-KR" altLang="ko-KR" sz="1050" dirty="0">
                <a:solidFill>
                  <a:schemeClr val="bg1"/>
                </a:solidFill>
              </a:rPr>
              <a:t> Resources and </a:t>
            </a:r>
            <a:r>
              <a:rPr lang="ko-KR" altLang="ko-KR" sz="1050" dirty="0" err="1">
                <a:solidFill>
                  <a:schemeClr val="bg1"/>
                </a:solidFill>
              </a:rPr>
              <a:t>Evaluation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Conference</a:t>
            </a:r>
            <a:r>
              <a:rPr lang="ko-KR" altLang="ko-KR" sz="1050" dirty="0">
                <a:solidFill>
                  <a:schemeClr val="bg1"/>
                </a:solidFill>
              </a:rPr>
              <a:t> (</a:t>
            </a:r>
            <a:r>
              <a:rPr lang="ko-KR" altLang="ko-KR" sz="1050" dirty="0" err="1">
                <a:solidFill>
                  <a:schemeClr val="bg1"/>
                </a:solidFill>
              </a:rPr>
              <a:t>pp</a:t>
            </a:r>
            <a:r>
              <a:rPr lang="ko-KR" altLang="ko-KR" sz="1050" dirty="0">
                <a:solidFill>
                  <a:schemeClr val="bg1"/>
                </a:solidFill>
              </a:rPr>
              <a:t>. 258–266). </a:t>
            </a:r>
            <a:r>
              <a:rPr lang="ko-KR" altLang="ko-KR" sz="1050" dirty="0" err="1">
                <a:solidFill>
                  <a:schemeClr val="bg1"/>
                </a:solidFill>
              </a:rPr>
              <a:t>European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Language</a:t>
            </a:r>
            <a:r>
              <a:rPr lang="ko-KR" altLang="ko-KR" sz="1050" dirty="0">
                <a:solidFill>
                  <a:schemeClr val="bg1"/>
                </a:solidFill>
              </a:rPr>
              <a:t> Resources Association.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Grootendorst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M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. (2022). </a:t>
            </a: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BERTopic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: </a:t>
            </a: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Neural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topic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modeling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with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a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class-based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 TF-IDF </a:t>
            </a:r>
            <a:r>
              <a:rPr lang="ko-KR" altLang="ko-KR" sz="1050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procedure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. </a:t>
            </a:r>
            <a:r>
              <a:rPr lang="ko-KR" altLang="ko-KR" sz="1050" i="1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arXiv</a:t>
            </a:r>
            <a:r>
              <a:rPr lang="ko-KR" altLang="ko-KR" sz="1050" i="1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 </a:t>
            </a:r>
            <a:r>
              <a:rPr lang="ko-KR" altLang="ko-KR" sz="1050" i="1" dirty="0" err="1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preprint</a:t>
            </a:r>
            <a:r>
              <a:rPr lang="ko-KR" altLang="ko-KR" sz="1050" i="1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 arXiv:2203.05794</a:t>
            </a:r>
            <a:r>
              <a:rPr lang="ko-KR" altLang="ko-KR" sz="1050" dirty="0">
                <a:solidFill>
                  <a:schemeClr val="bg1"/>
                </a:solidFill>
                <a:latin typeface="MiSans Light" panose="00000400000000000000" charset="-122"/>
                <a:ea typeface="MiSans Light" panose="00000400000000000000" charset="-122"/>
              </a:rPr>
              <a:t>.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McCann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P</a:t>
            </a:r>
            <a:r>
              <a:rPr lang="ko-KR" altLang="ko-KR" sz="1050" dirty="0">
                <a:solidFill>
                  <a:schemeClr val="bg1"/>
                </a:solidFill>
              </a:rPr>
              <a:t>. (2020). </a:t>
            </a:r>
            <a:r>
              <a:rPr lang="ko-KR" altLang="ko-KR" sz="1050" dirty="0" err="1">
                <a:solidFill>
                  <a:schemeClr val="bg1"/>
                </a:solidFill>
              </a:rPr>
              <a:t>fugashi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tool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tokenizing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Japanese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in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Python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Proceedings</a:t>
            </a:r>
            <a:r>
              <a:rPr lang="ko-KR" altLang="ko-KR" sz="1050" dirty="0">
                <a:solidFill>
                  <a:schemeClr val="bg1"/>
                </a:solidFill>
              </a:rPr>
              <a:t> of </a:t>
            </a:r>
            <a:r>
              <a:rPr lang="ko-KR" altLang="ko-KR" sz="1050" dirty="0" err="1">
                <a:solidFill>
                  <a:schemeClr val="bg1"/>
                </a:solidFill>
              </a:rPr>
              <a:t>the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Second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Workshop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NLP </a:t>
            </a:r>
            <a:r>
              <a:rPr lang="ko-KR" altLang="ko-KR" sz="1050" dirty="0" err="1">
                <a:solidFill>
                  <a:schemeClr val="bg1"/>
                </a:solidFill>
              </a:rPr>
              <a:t>Open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Source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Software</a:t>
            </a:r>
            <a:r>
              <a:rPr lang="ko-KR" altLang="ko-KR" sz="1050" dirty="0">
                <a:solidFill>
                  <a:schemeClr val="bg1"/>
                </a:solidFill>
              </a:rPr>
              <a:t>, 44–51.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>
                <a:solidFill>
                  <a:schemeClr val="bg1"/>
                </a:solidFill>
              </a:rPr>
              <a:t>Lee, </a:t>
            </a:r>
            <a:r>
              <a:rPr lang="ko-KR" altLang="ko-KR" sz="1050" dirty="0" err="1">
                <a:solidFill>
                  <a:schemeClr val="bg1"/>
                </a:solidFill>
              </a:rPr>
              <a:t>M</a:t>
            </a:r>
            <a:r>
              <a:rPr lang="ko-KR" altLang="ko-KR" sz="1050" dirty="0">
                <a:solidFill>
                  <a:schemeClr val="bg1"/>
                </a:solidFill>
              </a:rPr>
              <a:t>. (2024). </a:t>
            </a:r>
            <a:r>
              <a:rPr lang="ko-KR" altLang="ko-KR" sz="1050" dirty="0" err="1">
                <a:solidFill>
                  <a:schemeClr val="bg1"/>
                </a:solidFill>
              </a:rPr>
              <a:t>Kiwi</a:t>
            </a:r>
            <a:r>
              <a:rPr lang="ko-KR" altLang="ko-KR" sz="1050" dirty="0">
                <a:solidFill>
                  <a:schemeClr val="bg1"/>
                </a:solidFill>
              </a:rPr>
              <a:t>: </a:t>
            </a:r>
            <a:r>
              <a:rPr lang="ko-KR" altLang="ko-KR" sz="1050" dirty="0" err="1">
                <a:solidFill>
                  <a:schemeClr val="bg1"/>
                </a:solidFill>
              </a:rPr>
              <a:t>Developing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Korean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morphological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analyzer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based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statistical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language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models</a:t>
            </a:r>
            <a:r>
              <a:rPr lang="ko-KR" altLang="ko-KR" sz="1050" dirty="0">
                <a:solidFill>
                  <a:schemeClr val="bg1"/>
                </a:solidFill>
              </a:rPr>
              <a:t> and </a:t>
            </a:r>
            <a:r>
              <a:rPr lang="ko-KR" altLang="ko-KR" sz="1050" dirty="0" err="1">
                <a:solidFill>
                  <a:schemeClr val="bg1"/>
                </a:solidFill>
              </a:rPr>
              <a:t>skip-bigram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Korean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Journal</a:t>
            </a:r>
            <a:r>
              <a:rPr lang="ko-KR" altLang="ko-KR" sz="1050" dirty="0">
                <a:solidFill>
                  <a:schemeClr val="bg1"/>
                </a:solidFill>
              </a:rPr>
              <a:t> of Digital </a:t>
            </a:r>
            <a:r>
              <a:rPr lang="ko-KR" altLang="ko-KR" sz="1050" dirty="0" err="1">
                <a:solidFill>
                  <a:schemeClr val="bg1"/>
                </a:solidFill>
              </a:rPr>
              <a:t>Humanities</a:t>
            </a:r>
            <a:r>
              <a:rPr lang="ko-KR" altLang="ko-KR" sz="1050" dirty="0">
                <a:solidFill>
                  <a:schemeClr val="bg1"/>
                </a:solidFill>
              </a:rPr>
              <a:t>, 1(1), 109–136.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>
                <a:solidFill>
                  <a:schemeClr val="bg1"/>
                </a:solidFill>
              </a:rPr>
              <a:t>Sun, </a:t>
            </a:r>
            <a:r>
              <a:rPr lang="ko-KR" altLang="ko-KR" sz="1050" dirty="0" err="1">
                <a:solidFill>
                  <a:schemeClr val="bg1"/>
                </a:solidFill>
              </a:rPr>
              <a:t>J</a:t>
            </a:r>
            <a:r>
              <a:rPr lang="ko-KR" altLang="ko-KR" sz="1050" dirty="0">
                <a:solidFill>
                  <a:schemeClr val="bg1"/>
                </a:solidFill>
              </a:rPr>
              <a:t>. (2012). </a:t>
            </a:r>
            <a:r>
              <a:rPr lang="ko-KR" altLang="ko-KR" sz="1050" dirty="0" err="1">
                <a:solidFill>
                  <a:schemeClr val="bg1"/>
                </a:solidFill>
              </a:rPr>
              <a:t>jieba</a:t>
            </a:r>
            <a:r>
              <a:rPr lang="ko-KR" altLang="ko-KR" sz="1050" dirty="0">
                <a:solidFill>
                  <a:schemeClr val="bg1"/>
                </a:solidFill>
              </a:rPr>
              <a:t>: </a:t>
            </a:r>
            <a:r>
              <a:rPr lang="ko-KR" altLang="ko-KR" sz="1050" dirty="0" err="1">
                <a:solidFill>
                  <a:schemeClr val="bg1"/>
                </a:solidFill>
              </a:rPr>
              <a:t>Chinese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text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segmentation</a:t>
            </a:r>
            <a:r>
              <a:rPr lang="ko-KR" altLang="ko-KR" sz="1050" dirty="0">
                <a:solidFill>
                  <a:schemeClr val="bg1"/>
                </a:solidFill>
              </a:rPr>
              <a:t> [Computer </a:t>
            </a:r>
            <a:r>
              <a:rPr lang="ko-KR" altLang="ko-KR" sz="1050" dirty="0" err="1">
                <a:solidFill>
                  <a:schemeClr val="bg1"/>
                </a:solidFill>
              </a:rPr>
              <a:t>software</a:t>
            </a:r>
            <a:r>
              <a:rPr lang="ko-KR" altLang="ko-KR" sz="1050" dirty="0">
                <a:solidFill>
                  <a:schemeClr val="bg1"/>
                </a:solidFill>
              </a:rPr>
              <a:t>]. GitHub.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Phatthiyaphaibun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W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Chaovavanich</a:t>
            </a:r>
            <a:r>
              <a:rPr lang="ko-KR" altLang="ko-KR" sz="1050" dirty="0">
                <a:solidFill>
                  <a:schemeClr val="bg1"/>
                </a:solidFill>
              </a:rPr>
              <a:t>, K., </a:t>
            </a:r>
            <a:r>
              <a:rPr lang="ko-KR" altLang="ko-KR" sz="1050" dirty="0" err="1">
                <a:solidFill>
                  <a:schemeClr val="bg1"/>
                </a:solidFill>
              </a:rPr>
              <a:t>Polpanumas</a:t>
            </a:r>
            <a:r>
              <a:rPr lang="ko-KR" altLang="ko-KR" sz="1050" dirty="0">
                <a:solidFill>
                  <a:schemeClr val="bg1"/>
                </a:solidFill>
              </a:rPr>
              <a:t>, C., </a:t>
            </a:r>
            <a:r>
              <a:rPr lang="ko-KR" altLang="ko-KR" sz="1050" dirty="0" err="1">
                <a:solidFill>
                  <a:schemeClr val="bg1"/>
                </a:solidFill>
              </a:rPr>
              <a:t>Suriyawongkul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Lowphansirikul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L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Chormai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P</a:t>
            </a:r>
            <a:r>
              <a:rPr lang="ko-KR" altLang="ko-KR" sz="1050" dirty="0">
                <a:solidFill>
                  <a:schemeClr val="bg1"/>
                </a:solidFill>
              </a:rPr>
              <a:t>. (2023). </a:t>
            </a:r>
            <a:r>
              <a:rPr lang="ko-KR" altLang="ko-KR" sz="1050" dirty="0" err="1">
                <a:solidFill>
                  <a:schemeClr val="bg1"/>
                </a:solidFill>
              </a:rPr>
              <a:t>PyThaiNLP</a:t>
            </a:r>
            <a:r>
              <a:rPr lang="ko-KR" altLang="ko-KR" sz="1050" dirty="0">
                <a:solidFill>
                  <a:schemeClr val="bg1"/>
                </a:solidFill>
              </a:rPr>
              <a:t>: </a:t>
            </a:r>
            <a:r>
              <a:rPr lang="ko-KR" altLang="ko-KR" sz="1050" dirty="0" err="1">
                <a:solidFill>
                  <a:schemeClr val="bg1"/>
                </a:solidFill>
              </a:rPr>
              <a:t>Thai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natural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language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processing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in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Python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Proceedings</a:t>
            </a:r>
            <a:r>
              <a:rPr lang="ko-KR" altLang="ko-KR" sz="1050" dirty="0">
                <a:solidFill>
                  <a:schemeClr val="bg1"/>
                </a:solidFill>
              </a:rPr>
              <a:t> of </a:t>
            </a:r>
            <a:r>
              <a:rPr lang="ko-KR" altLang="ko-KR" sz="1050" dirty="0" err="1">
                <a:solidFill>
                  <a:schemeClr val="bg1"/>
                </a:solidFill>
              </a:rPr>
              <a:t>the</a:t>
            </a:r>
            <a:r>
              <a:rPr lang="ko-KR" altLang="ko-KR" sz="1050" dirty="0">
                <a:solidFill>
                  <a:schemeClr val="bg1"/>
                </a:solidFill>
              </a:rPr>
              <a:t> 3rd </a:t>
            </a:r>
            <a:r>
              <a:rPr lang="ko-KR" altLang="ko-KR" sz="1050" dirty="0" err="1">
                <a:solidFill>
                  <a:schemeClr val="bg1"/>
                </a:solidFill>
              </a:rPr>
              <a:t>Workshop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Natural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Language</a:t>
            </a:r>
            <a:r>
              <a:rPr lang="ko-KR" altLang="ko-KR" sz="1050" dirty="0">
                <a:solidFill>
                  <a:schemeClr val="bg1"/>
                </a:solidFill>
              </a:rPr>
              <a:t> Processing </a:t>
            </a:r>
            <a:r>
              <a:rPr lang="ko-KR" altLang="ko-KR" sz="1050" dirty="0" err="1">
                <a:solidFill>
                  <a:schemeClr val="bg1"/>
                </a:solidFill>
              </a:rPr>
              <a:t>Open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Source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Software</a:t>
            </a:r>
            <a:r>
              <a:rPr lang="ko-KR" altLang="ko-KR" sz="1050" dirty="0">
                <a:solidFill>
                  <a:schemeClr val="bg1"/>
                </a:solidFill>
              </a:rPr>
              <a:t>, 25–36.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bg1"/>
              </a:solidFill>
            </a:endParaRPr>
          </a:p>
          <a:p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45CB6-0FDF-4FBC-6F12-F6C099AAF983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46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61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94794-D8CA-4C14-F0D8-DF3F6809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FCE1A36D-74ED-3254-6A6A-C248E3BA93DE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E473C10-C7A4-D4F7-B9CB-19986AD98A96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78D7D8F7-B975-10F7-D318-A58E46D57BB5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B80F49D-446F-9E89-F788-6DD0084ECC4C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4CBC16D-87AA-171F-A065-68C7FA4C3830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8445B32A-AEE6-AD75-E78D-CD7DCD2AF324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58ABBE99-47C0-776F-6560-187246726B20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8DD2C2FC-D87D-898D-AE72-795DD2C50D3C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94757FF-D6C0-CB59-7F5A-A4B3870BB5C5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59953E-4C8D-EB1D-ADE7-9D8B678E8C2D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 문헌</a:t>
            </a:r>
            <a:endParaRPr lang="en-US" altLang="ko-KR" sz="2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17B87-6C11-D648-01C8-C5E9485C2029}"/>
              </a:ext>
            </a:extLst>
          </p:cNvPr>
          <p:cNvSpPr txBox="1"/>
          <p:nvPr/>
        </p:nvSpPr>
        <p:spPr>
          <a:xfrm>
            <a:off x="594860" y="597185"/>
            <a:ext cx="826175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šaragin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B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Ljajić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Milošević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N</a:t>
            </a:r>
            <a:r>
              <a:rPr lang="ko-KR" altLang="ko-KR" sz="1050" dirty="0">
                <a:solidFill>
                  <a:schemeClr val="bg1"/>
                </a:solidFill>
              </a:rPr>
              <a:t>. (2024). </a:t>
            </a:r>
            <a:r>
              <a:rPr lang="ko-KR" altLang="ko-KR" sz="1050" dirty="0" err="1">
                <a:solidFill>
                  <a:schemeClr val="bg1"/>
                </a:solidFill>
              </a:rPr>
              <a:t>Multilingual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transformer</a:t>
            </a:r>
            <a:r>
              <a:rPr lang="ko-KR" altLang="ko-KR" sz="1050" dirty="0">
                <a:solidFill>
                  <a:schemeClr val="bg1"/>
                </a:solidFill>
              </a:rPr>
              <a:t> and </a:t>
            </a:r>
            <a:r>
              <a:rPr lang="ko-KR" altLang="ko-KR" sz="1050" dirty="0" err="1">
                <a:solidFill>
                  <a:schemeClr val="bg1"/>
                </a:solidFill>
              </a:rPr>
              <a:t>BERTopic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short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text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topic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modeling</a:t>
            </a:r>
            <a:r>
              <a:rPr lang="ko-KR" altLang="ko-KR" sz="1050" dirty="0">
                <a:solidFill>
                  <a:schemeClr val="bg1"/>
                </a:solidFill>
              </a:rPr>
              <a:t>: The </a:t>
            </a:r>
            <a:r>
              <a:rPr lang="ko-KR" altLang="ko-KR" sz="1050" dirty="0" err="1">
                <a:solidFill>
                  <a:schemeClr val="bg1"/>
                </a:solidFill>
              </a:rPr>
              <a:t>case</a:t>
            </a:r>
            <a:r>
              <a:rPr lang="ko-KR" altLang="ko-KR" sz="1050" dirty="0">
                <a:solidFill>
                  <a:schemeClr val="bg1"/>
                </a:solidFill>
              </a:rPr>
              <a:t> of </a:t>
            </a:r>
            <a:r>
              <a:rPr lang="ko-KR" altLang="ko-KR" sz="1050" dirty="0" err="1">
                <a:solidFill>
                  <a:schemeClr val="bg1"/>
                </a:solidFill>
              </a:rPr>
              <a:t>Serbian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arXiv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preprint</a:t>
            </a:r>
            <a:r>
              <a:rPr lang="ko-KR" altLang="ko-KR" sz="1050" dirty="0">
                <a:solidFill>
                  <a:schemeClr val="bg1"/>
                </a:solidFill>
              </a:rPr>
              <a:t> arXiv:2402.03067.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Espinoza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R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Kishimoto</a:t>
            </a:r>
            <a:r>
              <a:rPr lang="ko-KR" altLang="ko-KR" sz="1050" dirty="0">
                <a:solidFill>
                  <a:schemeClr val="bg1"/>
                </a:solidFill>
              </a:rPr>
              <a:t>, K., </a:t>
            </a:r>
            <a:r>
              <a:rPr lang="ko-KR" altLang="ko-KR" sz="1050" dirty="0" err="1">
                <a:solidFill>
                  <a:schemeClr val="bg1"/>
                </a:solidFill>
              </a:rPr>
              <a:t>Liu</a:t>
            </a:r>
            <a:r>
              <a:rPr lang="ko-KR" altLang="ko-KR" sz="1050" dirty="0">
                <a:solidFill>
                  <a:schemeClr val="bg1"/>
                </a:solidFill>
              </a:rPr>
              <a:t>, C., </a:t>
            </a:r>
            <a:r>
              <a:rPr lang="ko-KR" altLang="ko-KR" sz="1050" dirty="0" err="1">
                <a:solidFill>
                  <a:schemeClr val="bg1"/>
                </a:solidFill>
              </a:rPr>
              <a:t>Santos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L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H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O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et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al</a:t>
            </a:r>
            <a:r>
              <a:rPr lang="ko-KR" altLang="ko-KR" sz="1050" dirty="0">
                <a:solidFill>
                  <a:schemeClr val="bg1"/>
                </a:solidFill>
              </a:rPr>
              <a:t>. (2025). </a:t>
            </a:r>
            <a:r>
              <a:rPr lang="ko-KR" altLang="ko-KR" sz="1050" dirty="0" err="1">
                <a:solidFill>
                  <a:schemeClr val="bg1"/>
                </a:solidFill>
              </a:rPr>
              <a:t>Leveraging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social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media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public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health</a:t>
            </a:r>
            <a:r>
              <a:rPr lang="ko-KR" altLang="ko-KR" sz="1050" dirty="0">
                <a:solidFill>
                  <a:schemeClr val="bg1"/>
                </a:solidFill>
              </a:rPr>
              <a:t>: NLP </a:t>
            </a:r>
            <a:r>
              <a:rPr lang="ko-KR" altLang="ko-KR" sz="1050" dirty="0" err="1">
                <a:solidFill>
                  <a:schemeClr val="bg1"/>
                </a:solidFill>
              </a:rPr>
              <a:t>implementations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blood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donation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data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analysis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in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Japan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Social</a:t>
            </a:r>
            <a:r>
              <a:rPr lang="ko-KR" altLang="ko-KR" sz="1050" dirty="0">
                <a:solidFill>
                  <a:schemeClr val="bg1"/>
                </a:solidFill>
              </a:rPr>
              <a:t> Network </a:t>
            </a:r>
            <a:r>
              <a:rPr lang="ko-KR" altLang="ko-KR" sz="1050" dirty="0" err="1">
                <a:solidFill>
                  <a:schemeClr val="bg1"/>
                </a:solidFill>
              </a:rPr>
              <a:t>Analysis</a:t>
            </a:r>
            <a:r>
              <a:rPr lang="ko-KR" altLang="ko-KR" sz="1050" dirty="0">
                <a:solidFill>
                  <a:schemeClr val="bg1"/>
                </a:solidFill>
              </a:rPr>
              <a:t> and Mining.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Reimers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N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Gurevych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I</a:t>
            </a:r>
            <a:r>
              <a:rPr lang="ko-KR" altLang="ko-KR" sz="1050" dirty="0">
                <a:solidFill>
                  <a:schemeClr val="bg1"/>
                </a:solidFill>
              </a:rPr>
              <a:t>. (2020). </a:t>
            </a:r>
            <a:r>
              <a:rPr lang="ko-KR" altLang="ko-KR" sz="1050" dirty="0" err="1">
                <a:solidFill>
                  <a:schemeClr val="bg1"/>
                </a:solidFill>
              </a:rPr>
              <a:t>Making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monolingual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sentence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embeddings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multilingual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using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knowledge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distillation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Proceedings</a:t>
            </a:r>
            <a:r>
              <a:rPr lang="ko-KR" altLang="ko-KR" sz="1050" dirty="0">
                <a:solidFill>
                  <a:schemeClr val="bg1"/>
                </a:solidFill>
              </a:rPr>
              <a:t> of </a:t>
            </a:r>
            <a:r>
              <a:rPr lang="ko-KR" altLang="ko-KR" sz="1050" dirty="0" err="1">
                <a:solidFill>
                  <a:schemeClr val="bg1"/>
                </a:solidFill>
              </a:rPr>
              <a:t>the</a:t>
            </a:r>
            <a:r>
              <a:rPr lang="ko-KR" altLang="ko-KR" sz="1050" dirty="0">
                <a:solidFill>
                  <a:schemeClr val="bg1"/>
                </a:solidFill>
              </a:rPr>
              <a:t> 2020 </a:t>
            </a:r>
            <a:r>
              <a:rPr lang="ko-KR" altLang="ko-KR" sz="1050" dirty="0" err="1">
                <a:solidFill>
                  <a:schemeClr val="bg1"/>
                </a:solidFill>
              </a:rPr>
              <a:t>Conference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Empirical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Methods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in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Natural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Language</a:t>
            </a:r>
            <a:r>
              <a:rPr lang="ko-KR" altLang="ko-KR" sz="1050" dirty="0">
                <a:solidFill>
                  <a:schemeClr val="bg1"/>
                </a:solidFill>
              </a:rPr>
              <a:t> Processing, 4512–4525. 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Wang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W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Downey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J</a:t>
            </a:r>
            <a:r>
              <a:rPr lang="ko-KR" altLang="ko-KR" sz="1050" dirty="0">
                <a:solidFill>
                  <a:schemeClr val="bg1"/>
                </a:solidFill>
              </a:rPr>
              <a:t>. (2026). </a:t>
            </a:r>
            <a:r>
              <a:rPr lang="ko-KR" altLang="ko-KR" sz="1050" dirty="0" err="1">
                <a:solidFill>
                  <a:schemeClr val="bg1"/>
                </a:solidFill>
              </a:rPr>
              <a:t>Going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beyond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description</a:t>
            </a:r>
            <a:r>
              <a:rPr lang="ko-KR" altLang="ko-KR" sz="1050" dirty="0">
                <a:solidFill>
                  <a:schemeClr val="bg1"/>
                </a:solidFill>
              </a:rPr>
              <a:t>: </a:t>
            </a:r>
            <a:r>
              <a:rPr lang="ko-KR" altLang="ko-KR" sz="1050" dirty="0" err="1">
                <a:solidFill>
                  <a:schemeClr val="bg1"/>
                </a:solidFill>
              </a:rPr>
              <a:t>Multilingual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topic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modelling</a:t>
            </a:r>
            <a:r>
              <a:rPr lang="ko-KR" altLang="ko-KR" sz="1050" dirty="0">
                <a:solidFill>
                  <a:schemeClr val="bg1"/>
                </a:solidFill>
              </a:rPr>
              <a:t> and </a:t>
            </a:r>
            <a:r>
              <a:rPr lang="ko-KR" altLang="ko-KR" sz="1050" dirty="0" err="1">
                <a:solidFill>
                  <a:schemeClr val="bg1"/>
                </a:solidFill>
              </a:rPr>
              <a:t>theoretical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integration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in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comparative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media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analysis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Humanities</a:t>
            </a:r>
            <a:r>
              <a:rPr lang="ko-KR" altLang="ko-KR" sz="1050" dirty="0">
                <a:solidFill>
                  <a:schemeClr val="bg1"/>
                </a:solidFill>
              </a:rPr>
              <a:t> and </a:t>
            </a:r>
            <a:r>
              <a:rPr lang="ko-KR" altLang="ko-KR" sz="1050" dirty="0" err="1">
                <a:solidFill>
                  <a:schemeClr val="bg1"/>
                </a:solidFill>
              </a:rPr>
              <a:t>Social</a:t>
            </a:r>
            <a:r>
              <a:rPr lang="ko-KR" altLang="ko-KR" sz="1050" dirty="0">
                <a:solidFill>
                  <a:schemeClr val="bg1"/>
                </a:solidFill>
              </a:rPr>
              <a:t> Sciences Communications.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Zhao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J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Zhang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Z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Feng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J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Li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. (2025). </a:t>
            </a:r>
            <a:r>
              <a:rPr lang="ko-KR" altLang="ko-KR" sz="1050" dirty="0" err="1">
                <a:solidFill>
                  <a:schemeClr val="bg1"/>
                </a:solidFill>
              </a:rPr>
              <a:t>Prioritizing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app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user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reviews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based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multidimensional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factors</a:t>
            </a:r>
            <a:r>
              <a:rPr lang="ko-KR" altLang="ko-KR" sz="1050" dirty="0">
                <a:solidFill>
                  <a:schemeClr val="bg1"/>
                </a:solidFill>
              </a:rPr>
              <a:t>: </a:t>
            </a:r>
            <a:r>
              <a:rPr lang="ko-KR" altLang="ko-KR" sz="1050" dirty="0" err="1">
                <a:solidFill>
                  <a:schemeClr val="bg1"/>
                </a:solidFill>
              </a:rPr>
              <a:t>An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integrated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BERTopic</a:t>
            </a:r>
            <a:r>
              <a:rPr lang="ko-KR" altLang="ko-KR" sz="1050" dirty="0">
                <a:solidFill>
                  <a:schemeClr val="bg1"/>
                </a:solidFill>
              </a:rPr>
              <a:t>–</a:t>
            </a:r>
            <a:r>
              <a:rPr lang="ko-KR" altLang="ko-KR" sz="1050" dirty="0" err="1">
                <a:solidFill>
                  <a:schemeClr val="bg1"/>
                </a:solidFill>
              </a:rPr>
              <a:t>SnowNLP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framework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supporting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developer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decisions</a:t>
            </a:r>
            <a:r>
              <a:rPr lang="ko-KR" altLang="ko-KR" sz="1050" dirty="0">
                <a:solidFill>
                  <a:schemeClr val="bg1"/>
                </a:solidFill>
              </a:rPr>
              <a:t>. IEEE </a:t>
            </a:r>
            <a:r>
              <a:rPr lang="ko-KR" altLang="ko-KR" sz="1050" dirty="0" err="1">
                <a:solidFill>
                  <a:schemeClr val="bg1"/>
                </a:solidFill>
              </a:rPr>
              <a:t>Transactions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Computational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Social</a:t>
            </a:r>
            <a:r>
              <a:rPr lang="ko-KR" altLang="ko-KR" sz="1050" dirty="0">
                <a:solidFill>
                  <a:schemeClr val="bg1"/>
                </a:solidFill>
              </a:rPr>
              <a:t> Systems.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McInnes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L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Healy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J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Melville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J</a:t>
            </a:r>
            <a:r>
              <a:rPr lang="ko-KR" altLang="ko-KR" sz="1050" dirty="0">
                <a:solidFill>
                  <a:schemeClr val="bg1"/>
                </a:solidFill>
              </a:rPr>
              <a:t>. (2020). UMAP: </a:t>
            </a:r>
            <a:r>
              <a:rPr lang="ko-KR" altLang="ko-KR" sz="1050" dirty="0" err="1">
                <a:solidFill>
                  <a:schemeClr val="bg1"/>
                </a:solidFill>
              </a:rPr>
              <a:t>Uniform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Manifold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Approximation</a:t>
            </a:r>
            <a:r>
              <a:rPr lang="ko-KR" altLang="ko-KR" sz="1050" dirty="0">
                <a:solidFill>
                  <a:schemeClr val="bg1"/>
                </a:solidFill>
              </a:rPr>
              <a:t> and </a:t>
            </a:r>
            <a:r>
              <a:rPr lang="ko-KR" altLang="ko-KR" sz="1050" dirty="0" err="1">
                <a:solidFill>
                  <a:schemeClr val="bg1"/>
                </a:solidFill>
              </a:rPr>
              <a:t>Projection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dimension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reduction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arXiv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preprint</a:t>
            </a:r>
            <a:r>
              <a:rPr lang="ko-KR" altLang="ko-KR" sz="1050" dirty="0">
                <a:solidFill>
                  <a:schemeClr val="bg1"/>
                </a:solidFill>
              </a:rPr>
              <a:t> arXiv:1802.03426.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050" dirty="0" err="1">
                <a:solidFill>
                  <a:schemeClr val="bg1"/>
                </a:solidFill>
              </a:rPr>
              <a:t>Campello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R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J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G</a:t>
            </a:r>
            <a:r>
              <a:rPr lang="ko-KR" altLang="ko-KR" sz="1050" dirty="0">
                <a:solidFill>
                  <a:schemeClr val="bg1"/>
                </a:solidFill>
              </a:rPr>
              <a:t>. </a:t>
            </a:r>
            <a:r>
              <a:rPr lang="ko-KR" altLang="ko-KR" sz="1050" dirty="0" err="1">
                <a:solidFill>
                  <a:schemeClr val="bg1"/>
                </a:solidFill>
              </a:rPr>
              <a:t>B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Moulavi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D</a:t>
            </a:r>
            <a:r>
              <a:rPr lang="ko-KR" altLang="ko-KR" sz="1050" dirty="0">
                <a:solidFill>
                  <a:schemeClr val="bg1"/>
                </a:solidFill>
              </a:rPr>
              <a:t>., </a:t>
            </a:r>
            <a:r>
              <a:rPr lang="ko-KR" altLang="ko-KR" sz="1050" dirty="0" err="1">
                <a:solidFill>
                  <a:schemeClr val="bg1"/>
                </a:solidFill>
              </a:rPr>
              <a:t>Zimek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A</a:t>
            </a:r>
            <a:r>
              <a:rPr lang="ko-KR" altLang="ko-KR" sz="1050" dirty="0">
                <a:solidFill>
                  <a:schemeClr val="bg1"/>
                </a:solidFill>
              </a:rPr>
              <a:t>., &amp; </a:t>
            </a:r>
            <a:r>
              <a:rPr lang="ko-KR" altLang="ko-KR" sz="1050" dirty="0" err="1">
                <a:solidFill>
                  <a:schemeClr val="bg1"/>
                </a:solidFill>
              </a:rPr>
              <a:t>Sander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J</a:t>
            </a:r>
            <a:r>
              <a:rPr lang="ko-KR" altLang="ko-KR" sz="1050" dirty="0">
                <a:solidFill>
                  <a:schemeClr val="bg1"/>
                </a:solidFill>
              </a:rPr>
              <a:t>. (2015). </a:t>
            </a:r>
            <a:r>
              <a:rPr lang="ko-KR" altLang="ko-KR" sz="1050" dirty="0" err="1">
                <a:solidFill>
                  <a:schemeClr val="bg1"/>
                </a:solidFill>
              </a:rPr>
              <a:t>Hierarchical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density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estimates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for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data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clustering</a:t>
            </a:r>
            <a:r>
              <a:rPr lang="ko-KR" altLang="ko-KR" sz="1050" dirty="0">
                <a:solidFill>
                  <a:schemeClr val="bg1"/>
                </a:solidFill>
              </a:rPr>
              <a:t>, </a:t>
            </a:r>
            <a:r>
              <a:rPr lang="ko-KR" altLang="ko-KR" sz="1050" dirty="0" err="1">
                <a:solidFill>
                  <a:schemeClr val="bg1"/>
                </a:solidFill>
              </a:rPr>
              <a:t>visualization</a:t>
            </a:r>
            <a:r>
              <a:rPr lang="ko-KR" altLang="ko-KR" sz="1050" dirty="0">
                <a:solidFill>
                  <a:schemeClr val="bg1"/>
                </a:solidFill>
              </a:rPr>
              <a:t>, and </a:t>
            </a:r>
            <a:r>
              <a:rPr lang="ko-KR" altLang="ko-KR" sz="1050" dirty="0" err="1">
                <a:solidFill>
                  <a:schemeClr val="bg1"/>
                </a:solidFill>
              </a:rPr>
              <a:t>outlier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detection</a:t>
            </a:r>
            <a:r>
              <a:rPr lang="ko-KR" altLang="ko-KR" sz="1050" dirty="0">
                <a:solidFill>
                  <a:schemeClr val="bg1"/>
                </a:solidFill>
              </a:rPr>
              <a:t>. ACM </a:t>
            </a:r>
            <a:r>
              <a:rPr lang="ko-KR" altLang="ko-KR" sz="1050" dirty="0" err="1">
                <a:solidFill>
                  <a:schemeClr val="bg1"/>
                </a:solidFill>
              </a:rPr>
              <a:t>Transactions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on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Knowledge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Discovery</a:t>
            </a:r>
            <a:r>
              <a:rPr lang="ko-KR" altLang="ko-KR" sz="1050" dirty="0">
                <a:solidFill>
                  <a:schemeClr val="bg1"/>
                </a:solidFill>
              </a:rPr>
              <a:t> </a:t>
            </a:r>
            <a:r>
              <a:rPr lang="ko-KR" altLang="ko-KR" sz="1050" dirty="0" err="1">
                <a:solidFill>
                  <a:schemeClr val="bg1"/>
                </a:solidFill>
              </a:rPr>
              <a:t>from</a:t>
            </a:r>
            <a:r>
              <a:rPr lang="ko-KR" altLang="ko-KR" sz="1050" dirty="0">
                <a:solidFill>
                  <a:schemeClr val="bg1"/>
                </a:solidFill>
              </a:rPr>
              <a:t> Data, 10(1), </a:t>
            </a:r>
            <a:r>
              <a:rPr lang="ko-KR" altLang="ko-KR" sz="1050" dirty="0" err="1">
                <a:solidFill>
                  <a:schemeClr val="bg1"/>
                </a:solidFill>
              </a:rPr>
              <a:t>Article</a:t>
            </a:r>
            <a:r>
              <a:rPr lang="ko-KR" altLang="ko-KR" sz="1050" dirty="0">
                <a:solidFill>
                  <a:schemeClr val="bg1"/>
                </a:solidFill>
              </a:rPr>
              <a:t> 5.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algn="ctr"/>
            <a:r>
              <a:rPr lang="en-US" altLang="ko-KR" sz="4400" dirty="0">
                <a:solidFill>
                  <a:schemeClr val="bg1"/>
                </a:solidFill>
              </a:rPr>
              <a:t>……</a:t>
            </a:r>
            <a:endParaRPr lang="ko-KR" altLang="ko-KR" sz="4400" dirty="0">
              <a:solidFill>
                <a:schemeClr val="bg1"/>
              </a:solidFill>
            </a:endParaRPr>
          </a:p>
          <a:p>
            <a:endParaRPr lang="ko-KR" altLang="ko-KR" sz="1050" dirty="0">
              <a:solidFill>
                <a:schemeClr val="bg1"/>
              </a:solidFill>
            </a:endParaRPr>
          </a:p>
          <a:p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9856A-7B60-F0D9-2A9E-CAF066FE5A38}"/>
              </a:ext>
            </a:extLst>
          </p:cNvPr>
          <p:cNvSpPr txBox="1"/>
          <p:nvPr/>
        </p:nvSpPr>
        <p:spPr>
          <a:xfrm>
            <a:off x="8722488" y="4774168"/>
            <a:ext cx="5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47</a:t>
            </a:r>
            <a:endParaRPr lang="ko-KR" altLang="en-US" b="1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2177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F440A-3602-5652-0BA9-EDC28BE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74658F40-78F8-DFAC-970F-F2C80CA46FD8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FB4FAF0-016F-2319-A9E0-0B49A30DD886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C83E38A-F6CF-19AD-A908-B5A0F7840066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CF232DD-EFBE-33C3-E20A-001BDB3CECCB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19ABD1C9-D569-A507-463A-CB5F9A3708FC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49128AC-D694-5211-71B4-03D3E5A3EBF7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5E6BA767-0BC5-93D1-1F5A-9FB222F59C09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7814FDCB-615C-4628-F3A6-15D28E3868D6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4110ECB-C204-8CBC-3E55-4B196571BAF3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19C1B6-9153-D2C0-4C22-7EB1B9633140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Appendix </a:t>
            </a:r>
            <a:endParaRPr lang="ko-KR" altLang="en-US" sz="2800" b="1" dirty="0">
              <a:ln w="19050"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48BE7D-D1C0-C404-168D-D3D3519F9275}"/>
              </a:ext>
            </a:extLst>
          </p:cNvPr>
          <p:cNvSpPr txBox="1"/>
          <p:nvPr/>
        </p:nvSpPr>
        <p:spPr>
          <a:xfrm>
            <a:off x="2784391" y="4458238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Table</a:t>
            </a:r>
            <a:r>
              <a:rPr lang="ko-KR" alt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&gt;</a:t>
            </a:r>
            <a:r>
              <a:rPr lang="ko-KR" altLang="en-US" sz="11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문화데이터 활용성</a:t>
            </a:r>
            <a:endParaRPr lang="ko-KR" altLang="ko-KR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EF9AC7-A8FE-8711-121A-036457FD1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599300"/>
              </p:ext>
            </p:extLst>
          </p:nvPr>
        </p:nvGraphicFramePr>
        <p:xfrm>
          <a:off x="481075" y="1236632"/>
          <a:ext cx="8036567" cy="3201695"/>
        </p:xfrm>
        <a:graphic>
          <a:graphicData uri="http://schemas.openxmlformats.org/drawingml/2006/table">
            <a:tbl>
              <a:tblPr firstRow="1" firstCol="1" bandRow="1">
                <a:tableStyleId>{D03447BB-5D67-496B-8E87-E561075AD55C}</a:tableStyleId>
              </a:tblPr>
              <a:tblGrid>
                <a:gridCol w="1937146">
                  <a:extLst>
                    <a:ext uri="{9D8B030D-6E8A-4147-A177-3AD203B41FA5}">
                      <a16:colId xmlns:a16="http://schemas.microsoft.com/office/drawing/2014/main" val="3499791226"/>
                    </a:ext>
                  </a:extLst>
                </a:gridCol>
                <a:gridCol w="996591">
                  <a:extLst>
                    <a:ext uri="{9D8B030D-6E8A-4147-A177-3AD203B41FA5}">
                      <a16:colId xmlns:a16="http://schemas.microsoft.com/office/drawing/2014/main" val="527976221"/>
                    </a:ext>
                  </a:extLst>
                </a:gridCol>
                <a:gridCol w="2551415">
                  <a:extLst>
                    <a:ext uri="{9D8B030D-6E8A-4147-A177-3AD203B41FA5}">
                      <a16:colId xmlns:a16="http://schemas.microsoft.com/office/drawing/2014/main" val="3251493351"/>
                    </a:ext>
                  </a:extLst>
                </a:gridCol>
                <a:gridCol w="2551415">
                  <a:extLst>
                    <a:ext uri="{9D8B030D-6E8A-4147-A177-3AD203B41FA5}">
                      <a16:colId xmlns:a16="http://schemas.microsoft.com/office/drawing/2014/main" val="3365437982"/>
                    </a:ext>
                  </a:extLst>
                </a:gridCol>
              </a:tblGrid>
              <a:tr h="346954">
                <a:tc rowSpan="2">
                  <a:txBody>
                    <a:bodyPr/>
                    <a:lstStyle/>
                    <a:p>
                      <a:pPr algn="just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활용 데이터</a:t>
                      </a: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</a:t>
                      </a: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명</a:t>
                      </a: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)</a:t>
                      </a:r>
                      <a:endParaRPr lang="ko-KR" sz="105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제공기관</a:t>
                      </a: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</a:t>
                      </a: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명</a:t>
                      </a: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)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0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출처</a:t>
                      </a:r>
                      <a:endParaRPr lang="ko-KR" sz="100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760506"/>
                  </a:ext>
                </a:extLst>
              </a:tr>
              <a:tr h="3390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플랫폼</a:t>
                      </a: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</a:t>
                      </a: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명</a:t>
                      </a: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)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URL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extLst>
                  <a:ext uri="{0D108BD9-81ED-4DB2-BD59-A6C34878D82A}">
                    <a16:rowId xmlns:a16="http://schemas.microsoft.com/office/drawing/2014/main" val="4046433682"/>
                  </a:ext>
                </a:extLst>
              </a:tr>
              <a:tr h="83233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25</a:t>
                      </a: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년</a:t>
                      </a: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 12</a:t>
                      </a: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월</a:t>
                      </a: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 31</a:t>
                      </a: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일 기준 관광숙박업 통계</a:t>
                      </a: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</a:t>
                      </a: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최종</a:t>
                      </a: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)_</a:t>
                      </a: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공개용</a:t>
                      </a:r>
                      <a:endParaRPr lang="ko-KR" sz="105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문화체육관광부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문화체육관광부</a:t>
                      </a:r>
                      <a:endParaRPr lang="ko-KR" sz="105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https://www.mcst.go.kr/site/s_policy/dept/deptView.jsp?pSeq=2122&amp;pDataCD=0417000000&amp;pType=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extLst>
                  <a:ext uri="{0D108BD9-81ED-4DB2-BD59-A6C34878D82A}">
                    <a16:rowId xmlns:a16="http://schemas.microsoft.com/office/drawing/2014/main" val="3937203591"/>
                  </a:ext>
                </a:extLst>
              </a:tr>
              <a:tr h="56113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국토교통부</a:t>
                      </a: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_</a:t>
                      </a: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전국 버스정류장 위치정보</a:t>
                      </a: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_20251031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국토교통부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공공데이터포털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https://www.data.go.kr/data/15067528/fileData.do</a:t>
                      </a:r>
                      <a:endParaRPr lang="ko-KR" sz="105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extLst>
                  <a:ext uri="{0D108BD9-81ED-4DB2-BD59-A6C34878D82A}">
                    <a16:rowId xmlns:a16="http://schemas.microsoft.com/office/drawing/2014/main" val="343134800"/>
                  </a:ext>
                </a:extLst>
              </a:tr>
              <a:tr h="56113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행정안전부</a:t>
                      </a: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_</a:t>
                      </a: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식품</a:t>
                      </a: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_</a:t>
                      </a:r>
                      <a:r>
                        <a:rPr lang="ko-KR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일반음식점</a:t>
                      </a: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_20251127</a:t>
                      </a:r>
                      <a:endParaRPr lang="ko-KR" sz="105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행정안전부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공공데이터포털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https://www.data.go.kr/data/15096283/standard.do?recommendDataYn=Y</a:t>
                      </a:r>
                      <a:endParaRPr lang="ko-KR" sz="105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extLst>
                  <a:ext uri="{0D108BD9-81ED-4DB2-BD59-A6C34878D82A}">
                    <a16:rowId xmlns:a16="http://schemas.microsoft.com/office/drawing/2014/main" val="961202103"/>
                  </a:ext>
                </a:extLst>
              </a:tr>
              <a:tr h="56113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국가철도공단</a:t>
                      </a: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_</a:t>
                      </a: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코레일</a:t>
                      </a: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_</a:t>
                      </a: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지하철</a:t>
                      </a:r>
                      <a:r>
                        <a:rPr lang="en-US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_</a:t>
                      </a: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주소데이터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국가철도공단</a:t>
                      </a:r>
                      <a:endParaRPr lang="ko-KR" sz="105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60000"/>
                        </a:lnSpc>
                        <a:buNone/>
                      </a:pPr>
                      <a:r>
                        <a:rPr lang="ko-KR" sz="1050" dirty="0" err="1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공공데이터포털</a:t>
                      </a:r>
                      <a:endParaRPr lang="ko-KR" sz="105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50" dirty="0"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https://www.data.go.kr/data/15041113/fileData.do#layer_data_infomation</a:t>
                      </a:r>
                      <a:endParaRPr lang="ko-KR" sz="105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4770" marR="64770" marT="17780" marB="17780" anchor="ctr"/>
                </a:tc>
                <a:extLst>
                  <a:ext uri="{0D108BD9-81ED-4DB2-BD59-A6C34878D82A}">
                    <a16:rowId xmlns:a16="http://schemas.microsoft.com/office/drawing/2014/main" val="3584948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31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D96F-DE99-7103-5ABE-C4F257D1D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3CE5E9EA-C018-F0E7-F811-51FBEE90584C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B868AE0-A824-0039-CEBC-C57E325E65DA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F0CC307-DAFE-010F-9C26-1244D6B44AAF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96B048E-2AC5-6F84-70A8-2BA2ED59FF2D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7CE873F-0AE3-5E4F-B33E-AB09ACAD2E4C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9BD55D9A-0D2F-4C5F-57BD-0E6DA5CFC87B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7EA231D7-7E38-B107-0AD9-BC3B1E7C2766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0F41660F-323C-7EC3-7767-B0973A7A2497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DFA44ED-2FFE-ECEE-8310-680143E6EB04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808D46-E109-B239-DB4C-7446283A890F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Appendix</a:t>
            </a:r>
            <a:endParaRPr lang="ko-KR" altLang="en-US" sz="2800" b="1" dirty="0">
              <a:ln w="19050"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7EEBFD-680F-3756-4AC9-4AADF38D2B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76"/>
          <a:stretch>
            <a:fillRect/>
          </a:stretch>
        </p:blipFill>
        <p:spPr>
          <a:xfrm>
            <a:off x="1330162" y="765093"/>
            <a:ext cx="3313625" cy="19974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DB622-52F3-CB8C-4906-316346C4B18D}"/>
              </a:ext>
            </a:extLst>
          </p:cNvPr>
          <p:cNvSpPr txBox="1"/>
          <p:nvPr/>
        </p:nvSpPr>
        <p:spPr>
          <a:xfrm>
            <a:off x="1060314" y="2735976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&gt;</a:t>
            </a:r>
            <a:r>
              <a:rPr lang="ko-KR" altLang="en-US" sz="11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리뷰 개수 기준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Top 15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관광지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A42CC50-E91B-E83F-1B89-F10C81718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916" y="703404"/>
            <a:ext cx="2921001" cy="2032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6EA63D-C46A-6254-A7F4-44C152621720}"/>
              </a:ext>
            </a:extLst>
          </p:cNvPr>
          <p:cNvSpPr txBox="1"/>
          <p:nvPr/>
        </p:nvSpPr>
        <p:spPr>
          <a:xfrm>
            <a:off x="4693046" y="2742335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&gt;</a:t>
            </a:r>
            <a:r>
              <a:rPr lang="ko-KR" altLang="en-US" sz="11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지역별 리뷰 분포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178E57C-36DD-B9B9-C36A-18B97C3664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632" y="2981396"/>
            <a:ext cx="3164342" cy="17583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EB49BA-A052-29AE-8D6B-7F3BA1EDA25E}"/>
              </a:ext>
            </a:extLst>
          </p:cNvPr>
          <p:cNvSpPr txBox="1"/>
          <p:nvPr/>
        </p:nvSpPr>
        <p:spPr>
          <a:xfrm>
            <a:off x="964588" y="4733400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&gt;</a:t>
            </a:r>
            <a:r>
              <a:rPr lang="ko-KR" altLang="en-US" sz="11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관광지 유형별 리뷰 분포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B680F72-931F-4C4F-3A8E-FF2FFF057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1319" y="3085816"/>
            <a:ext cx="2574840" cy="164213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53D4004-9B9E-11CD-A5D3-46682DEC9714}"/>
              </a:ext>
            </a:extLst>
          </p:cNvPr>
          <p:cNvSpPr txBox="1"/>
          <p:nvPr/>
        </p:nvSpPr>
        <p:spPr>
          <a:xfrm>
            <a:off x="4704964" y="4712949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&gt;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언어별 리뷰 분포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45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616A-66B1-E0AD-927E-5F1BACF2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A7029D26-F72D-2C5A-BAA3-F3298ACC8BA8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4314E44-7C2A-17C2-1C65-2F0109CDD8B2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0212A2EA-E29B-7B37-2D65-C52D805F099D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7BA0EADC-EEFD-558F-EBF3-4B7FE50A8D94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0C3B4721-0DC4-C55B-350B-6BF1EA6C158C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FB4595C8-6ED7-98E8-EB42-5E615D19A44D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AD892771-E1CD-B761-8D21-14EE592253E9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68F5B87F-AEBC-2B9D-540B-FC47797D525D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5E87AE5-7777-2290-0EA3-8838EA0438F5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E2C419-2400-65EA-AF35-F76BC5AA306E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Appendix</a:t>
            </a:r>
            <a:endParaRPr lang="ko-KR" altLang="en-US" sz="2800" b="1" dirty="0">
              <a:ln w="19050"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3B481-DD4B-A651-574D-4B70B26C5B7B}"/>
              </a:ext>
            </a:extLst>
          </p:cNvPr>
          <p:cNvSpPr txBox="1"/>
          <p:nvPr/>
        </p:nvSpPr>
        <p:spPr>
          <a:xfrm>
            <a:off x="460325" y="2477869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5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&gt;</a:t>
            </a:r>
            <a:r>
              <a:rPr lang="ko-KR" altLang="en-US" sz="11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여행 유형별 리뷰 분포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EDF248-3FA1-9794-A59C-6ADF5B783779}"/>
              </a:ext>
            </a:extLst>
          </p:cNvPr>
          <p:cNvSpPr txBox="1"/>
          <p:nvPr/>
        </p:nvSpPr>
        <p:spPr>
          <a:xfrm>
            <a:off x="5150245" y="2661426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6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&gt;</a:t>
            </a:r>
            <a:r>
              <a:rPr lang="ko-KR" altLang="en-US" sz="11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전반적 감성 분포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AB9E26-B2D5-20A4-B28C-AAABAAADE8DE}"/>
              </a:ext>
            </a:extLst>
          </p:cNvPr>
          <p:cNvSpPr txBox="1"/>
          <p:nvPr/>
        </p:nvSpPr>
        <p:spPr>
          <a:xfrm>
            <a:off x="115501" y="4733400"/>
            <a:ext cx="46606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7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&gt;</a:t>
            </a:r>
            <a:r>
              <a:rPr lang="ko-KR" altLang="en-US" sz="11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Sentiment Share by Attraction Type (sorted by negative share)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8E8A7D-E064-518E-2CEE-896FF5B9E124}"/>
              </a:ext>
            </a:extLst>
          </p:cNvPr>
          <p:cNvSpPr txBox="1"/>
          <p:nvPr/>
        </p:nvSpPr>
        <p:spPr>
          <a:xfrm>
            <a:off x="5056767" y="4719995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8 &gt;</a:t>
            </a:r>
            <a:r>
              <a:rPr lang="ko-KR" altLang="en-US" sz="11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Sentiment Share by Trip Type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211786-6A45-599F-94D0-C28B48252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93" y="973142"/>
            <a:ext cx="3775040" cy="14486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EE0440-55FB-4CEA-B7D7-FE484BCAE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223" y="756518"/>
            <a:ext cx="1885317" cy="18893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6BE122-6705-DEE7-8E48-A5F074E23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48" y="2893470"/>
            <a:ext cx="2752784" cy="18175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0A448BD-94E6-A240-17E2-DFA752A4C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0225" y="3119229"/>
            <a:ext cx="3352700" cy="121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3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5D7D-87CB-19A6-BD23-B31E81E6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F6E2AF9B-2749-9519-2A25-451DC691D688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90CA6D8-665C-96D1-4B1F-A6A63CBDBF2F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42CD940-EE93-434B-9741-03662458731B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9D41A1A8-CF2D-7051-8E39-24BE8467558E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78A6D9D-B382-EF69-9F5D-C7098FA1E004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82C7EA73-CAC1-DFFC-C3F3-071C1AD453C4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B8905BDF-3B2B-44FC-BD5A-A48370EB4901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864494F5-C43B-E5C5-4FCF-FEEC5487AB76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31DB6B8-B36B-7D43-B22A-A1887D4FC6DD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8ED3B9-36C6-6C77-A0DA-C9E3C9904BFD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Appendix</a:t>
            </a:r>
            <a:endParaRPr lang="ko-KR" altLang="en-US" sz="2800" b="1" dirty="0">
              <a:ln w="19050"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C22E8E-0299-D367-4389-D8734F5A82CF}"/>
              </a:ext>
            </a:extLst>
          </p:cNvPr>
          <p:cNvSpPr txBox="1"/>
          <p:nvPr/>
        </p:nvSpPr>
        <p:spPr>
          <a:xfrm>
            <a:off x="1049496" y="2425735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9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&gt;</a:t>
            </a:r>
            <a:r>
              <a:rPr lang="ko-KR" altLang="en-US" sz="11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Sentiment Share by Reviewer Language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B30CD5-1FC0-7E50-68D2-EC15F14AD5B6}"/>
              </a:ext>
            </a:extLst>
          </p:cNvPr>
          <p:cNvSpPr txBox="1"/>
          <p:nvPr/>
        </p:nvSpPr>
        <p:spPr>
          <a:xfrm>
            <a:off x="4661285" y="2425735"/>
            <a:ext cx="3728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10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&gt;</a:t>
            </a:r>
            <a:r>
              <a:rPr lang="ko-KR" altLang="en-US" sz="11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Sentiment Share by District</a:t>
            </a:r>
            <a:endParaRPr lang="ko-KR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643E85-91DB-D74B-D6B3-40E597AFC4DA}"/>
              </a:ext>
            </a:extLst>
          </p:cNvPr>
          <p:cNvSpPr txBox="1"/>
          <p:nvPr/>
        </p:nvSpPr>
        <p:spPr>
          <a:xfrm>
            <a:off x="-22025" y="4543766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11 &gt;</a:t>
            </a:r>
            <a:r>
              <a:rPr lang="ko-KR" altLang="en-US" sz="10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Topic Composition within Positive Reviews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49F308-FDDD-5B28-0D72-32B43B31B776}"/>
              </a:ext>
            </a:extLst>
          </p:cNvPr>
          <p:cNvSpPr txBox="1"/>
          <p:nvPr/>
        </p:nvSpPr>
        <p:spPr>
          <a:xfrm>
            <a:off x="2913725" y="4543767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12&gt;</a:t>
            </a:r>
            <a:r>
              <a:rPr lang="ko-KR" altLang="en-US" sz="10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Topic Composition within Neutral Reviews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B441F2-6312-586D-ADC5-E9149B097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647" y="880612"/>
            <a:ext cx="3454307" cy="15029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0C70B61-D001-F0E3-CBC5-1B1376796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225" y="889365"/>
            <a:ext cx="2444309" cy="15029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95BC64-B80B-DC6C-4640-1EBFEF17F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58" y="3118795"/>
            <a:ext cx="2425616" cy="142497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A6D6B03-80D0-029F-924F-DE1986FE8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458" y="2833168"/>
            <a:ext cx="1986893" cy="16838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D27CE66-E747-410B-4112-0B0AF56B3590}"/>
              </a:ext>
            </a:extLst>
          </p:cNvPr>
          <p:cNvSpPr txBox="1"/>
          <p:nvPr/>
        </p:nvSpPr>
        <p:spPr>
          <a:xfrm>
            <a:off x="5617608" y="4605322"/>
            <a:ext cx="372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13 &gt;</a:t>
            </a:r>
            <a:r>
              <a:rPr lang="ko-KR" altLang="en-US" sz="900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Topic Composition within</a:t>
            </a:r>
          </a:p>
          <a:p>
            <a:pPr algn="ctr" fontAlgn="base"/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Negative Reviews</a:t>
            </a:r>
            <a:endParaRPr lang="ko-KR" altLang="ko-KR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1D81F90-9779-4EC0-DED6-08326307B9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599" y="2731747"/>
            <a:ext cx="2208477" cy="187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4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6ACA0-24F0-6F94-50A5-9106DB86F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1716B77F-C76C-B266-D04E-D992A4392A5D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391C67D-DE6C-7513-055D-F5DEC6C874B0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8BA1986-8478-CFE4-9A6E-EF5C780D70FC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0C428732-5C24-553F-815D-1ACB8763B6D2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49C8C73-37BB-50E5-C464-7C3226485251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81BBF39-50E0-D457-B5E2-395B74525EC0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EF3CE77D-18A7-8B50-B68D-0453F945CC18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1DA692A2-6F6F-8B70-48ED-785DF1ABDDF6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A30F322-4E6A-7C88-1EF8-499EA87E5E6A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7E2438-79CC-D414-7360-D0B68332EF8B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Appendix</a:t>
            </a:r>
            <a:endParaRPr lang="ko-KR" altLang="en-US" sz="2800" b="1" dirty="0">
              <a:ln w="19050"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2D7D5-AE35-CF98-32D8-0E2263CCCD52}"/>
              </a:ext>
            </a:extLst>
          </p:cNvPr>
          <p:cNvSpPr txBox="1"/>
          <p:nvPr/>
        </p:nvSpPr>
        <p:spPr>
          <a:xfrm>
            <a:off x="2701812" y="4717428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표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10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차이점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—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명소 유형별 고유 불만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93066D8-2873-B396-0DFF-078CE298F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142785"/>
              </p:ext>
            </p:extLst>
          </p:nvPr>
        </p:nvGraphicFramePr>
        <p:xfrm>
          <a:off x="481076" y="907042"/>
          <a:ext cx="8181850" cy="3778382"/>
        </p:xfrm>
        <a:graphic>
          <a:graphicData uri="http://schemas.openxmlformats.org/drawingml/2006/table">
            <a:tbl>
              <a:tblPr/>
              <a:tblGrid>
                <a:gridCol w="1636370">
                  <a:extLst>
                    <a:ext uri="{9D8B030D-6E8A-4147-A177-3AD203B41FA5}">
                      <a16:colId xmlns:a16="http://schemas.microsoft.com/office/drawing/2014/main" val="2944840074"/>
                    </a:ext>
                  </a:extLst>
                </a:gridCol>
                <a:gridCol w="1636370">
                  <a:extLst>
                    <a:ext uri="{9D8B030D-6E8A-4147-A177-3AD203B41FA5}">
                      <a16:colId xmlns:a16="http://schemas.microsoft.com/office/drawing/2014/main" val="1277009866"/>
                    </a:ext>
                  </a:extLst>
                </a:gridCol>
                <a:gridCol w="1636370">
                  <a:extLst>
                    <a:ext uri="{9D8B030D-6E8A-4147-A177-3AD203B41FA5}">
                      <a16:colId xmlns:a16="http://schemas.microsoft.com/office/drawing/2014/main" val="2614226800"/>
                    </a:ext>
                  </a:extLst>
                </a:gridCol>
                <a:gridCol w="1636370">
                  <a:extLst>
                    <a:ext uri="{9D8B030D-6E8A-4147-A177-3AD203B41FA5}">
                      <a16:colId xmlns:a16="http://schemas.microsoft.com/office/drawing/2014/main" val="450150590"/>
                    </a:ext>
                  </a:extLst>
                </a:gridCol>
                <a:gridCol w="1636370">
                  <a:extLst>
                    <a:ext uri="{9D8B030D-6E8A-4147-A177-3AD203B41FA5}">
                      <a16:colId xmlns:a16="http://schemas.microsoft.com/office/drawing/2014/main" val="2425762786"/>
                    </a:ext>
                  </a:extLst>
                </a:gridCol>
              </a:tblGrid>
              <a:tr h="231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유형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 명소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핵심 긍정 키워드 (</a:t>
                      </a:r>
                      <a:r>
                        <a:rPr lang="ko-KR" sz="800" b="1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Top</a:t>
                      </a:r>
                      <a:r>
                        <a:rPr lang="ko-KR" sz="8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5)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고유 부정 키워드 (</a:t>
                      </a:r>
                      <a:r>
                        <a:rPr lang="ko-KR" sz="800" b="1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Top</a:t>
                      </a:r>
                      <a:r>
                        <a:rPr lang="ko-KR" sz="8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5)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고유 부정 원인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116526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궁궐·성곽·역사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경복궁, 창덕궁, 화성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palace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seoul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beautiful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visit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changing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destroyed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rebuilt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japanese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朝鮮,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forbidden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city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일제 재건축 논란, 故宮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592149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자연·경관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성산일출봉, 주상절리, 설악산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view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beautiful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nature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sunrise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volcano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slippery, stairs, weather, winter, cable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날씨 의존성, 미끄러운 계단, 계절 한정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938453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전통문화·한옥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북촌, 전주한옥, 인사동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traditional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韓屋,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hanok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korean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walk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tourists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residential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상업, 아쉽, </a:t>
                      </a:r>
                      <a:r>
                        <a:rPr lang="ko-KR" altLang="en-US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느낌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주민-관광객 갈등, 상업화로 진정성 훼손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00117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박물관·전시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국립박물관, 경주박물관, 서울예술의전당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museum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history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free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kids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tanks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english, exhibits, guide, display, 아쉽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영어 안내 부족, 전시 설명 불충분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139394"/>
                  </a:ext>
                </a:extLst>
              </a:tr>
              <a:tr h="2844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테마파크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에버랜드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rides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park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theme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fun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day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wait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queue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ride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time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bus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놀이기구 대기시간(부정 리뷰 74%), 교통 불편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711499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해변·수변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해운대, 광안리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beach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night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restaurants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bridge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beautiful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cold, winter, parasol, swim, 여름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비수기 황량함, 계절 의존성, 수영 제한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175839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도심 하천·공원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청계천, 남산공원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walk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city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night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stream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beautiful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christmas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winter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bus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cable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南山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계절·날씨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영향, 케이블카 가성비 불만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234571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스파·마사지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아로마타이, 스파고결, 인사동사우나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massage, deep, clean, recommend, staff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dirty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shower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hygiene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wet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products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위생 불만, 예약 어려움, 가격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124663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교통 인프라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서울메트로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easy, clean, metro, card, subway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escalator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stairs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行李,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elevator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電梯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에스컬레이터 부족, 짐 이동 불편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461465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역사·정치 특수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DMZ, 위안부박물관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north, border, tunnel, history, women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tour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zone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北朝鮮,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enforced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held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투어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제약·운영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방식 불만, 감성적 무거움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959201"/>
                  </a:ext>
                </a:extLst>
              </a:tr>
              <a:tr h="32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복합 쇼핑몰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코엑스몰, 롯데타워몰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mall, shopping, huge, aquarium, library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closed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공사,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crowded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사람, </a:t>
                      </a: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time</a:t>
                      </a:r>
                      <a:endParaRPr lang="ko-KR" sz="6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6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공사·리뉴얼</a:t>
                      </a:r>
                      <a:r>
                        <a:rPr lang="ko-KR" sz="6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불만, 혼잡</a:t>
                      </a:r>
                    </a:p>
                  </a:txBody>
                  <a:tcPr marL="35079" marR="35079" marT="17539" marB="17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603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76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AF86-585E-095A-D94E-F5CD46DB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3BF6A0C7-CDDC-9492-699A-AC0DBA25796E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0AFFD77-D097-81B3-EFA7-AD4C5C32AD4C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5B93615D-BC81-D3B2-03B8-F31F856764DC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8CC4DC-EBF4-74EC-5331-D56FA1342358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30875665-A69B-82E6-85D0-9AC162860B4F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8EC13800-8246-CDD9-1FA5-65F40491560E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119B28D-94A5-A3E1-413E-456FF6A3F13F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7F67AC7-91CD-2471-70C8-0C50E8257591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E0D812E-6330-CDDC-80CA-7C2B0FD48C81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FEB511-0694-C35D-8FAC-4ED46D477258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Appendix</a:t>
            </a:r>
            <a:endParaRPr lang="ko-KR" altLang="en-US" sz="2800" b="1" dirty="0">
              <a:ln w="19050"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DC3F27-BF56-7681-58B1-21344818E88E}"/>
              </a:ext>
            </a:extLst>
          </p:cNvPr>
          <p:cNvSpPr txBox="1"/>
          <p:nvPr/>
        </p:nvSpPr>
        <p:spPr>
          <a:xfrm>
            <a:off x="2701812" y="4717428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표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10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관광 당국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·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이해관계자 대상 제언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94CBE2-D418-D699-4896-640AB4C09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09817"/>
              </p:ext>
            </p:extLst>
          </p:nvPr>
        </p:nvGraphicFramePr>
        <p:xfrm>
          <a:off x="481077" y="862236"/>
          <a:ext cx="8181835" cy="3801546"/>
        </p:xfrm>
        <a:graphic>
          <a:graphicData uri="http://schemas.openxmlformats.org/drawingml/2006/table">
            <a:tbl>
              <a:tblPr/>
              <a:tblGrid>
                <a:gridCol w="585723">
                  <a:extLst>
                    <a:ext uri="{9D8B030D-6E8A-4147-A177-3AD203B41FA5}">
                      <a16:colId xmlns:a16="http://schemas.microsoft.com/office/drawing/2014/main" val="3299013309"/>
                    </a:ext>
                  </a:extLst>
                </a:gridCol>
                <a:gridCol w="2687011">
                  <a:extLst>
                    <a:ext uri="{9D8B030D-6E8A-4147-A177-3AD203B41FA5}">
                      <a16:colId xmlns:a16="http://schemas.microsoft.com/office/drawing/2014/main" val="3559257461"/>
                    </a:ext>
                  </a:extLst>
                </a:gridCol>
                <a:gridCol w="1636367">
                  <a:extLst>
                    <a:ext uri="{9D8B030D-6E8A-4147-A177-3AD203B41FA5}">
                      <a16:colId xmlns:a16="http://schemas.microsoft.com/office/drawing/2014/main" val="602540557"/>
                    </a:ext>
                  </a:extLst>
                </a:gridCol>
                <a:gridCol w="1636367">
                  <a:extLst>
                    <a:ext uri="{9D8B030D-6E8A-4147-A177-3AD203B41FA5}">
                      <a16:colId xmlns:a16="http://schemas.microsoft.com/office/drawing/2014/main" val="674112243"/>
                    </a:ext>
                  </a:extLst>
                </a:gridCol>
                <a:gridCol w="1636367">
                  <a:extLst>
                    <a:ext uri="{9D8B030D-6E8A-4147-A177-3AD203B41FA5}">
                      <a16:colId xmlns:a16="http://schemas.microsoft.com/office/drawing/2014/main" val="1533647449"/>
                    </a:ext>
                  </a:extLst>
                </a:gridCol>
              </a:tblGrid>
              <a:tr h="136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제언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근거 키워드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대상 명소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실행 방안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4B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778718"/>
                  </a:ext>
                </a:extLst>
              </a:tr>
              <a:tr h="36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①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혼잡 분산 —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예약제·시간대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분산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wait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queue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crowded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tourists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people</a:t>
                      </a:r>
                      <a:endParaRPr lang="ko-KR" sz="8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북촌, 에버랜드,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N서울타워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명동, 성산일출봉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사전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예약제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의무화,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Fast-pass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확대,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비성수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시간 할인 유도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750909"/>
                  </a:ext>
                </a:extLst>
              </a:tr>
              <a:tr h="2517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②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교통 접근성 개선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bus, taxi, ferry, station, time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불국사, 남이섬, DMZ, 설악산, 민속촌, 해동용궁사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다국어 안내 셔틀버스 확충, 실시간 교통 정보 앱 연동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360902"/>
                  </a:ext>
                </a:extLst>
              </a:tr>
              <a:tr h="36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③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다국어 안내 강화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english, guide, exhibits, display, ガイド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경주박물관, 국립중앙박물관, 창덕궁, 서울예술의전당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오디오 가이드 한·영·중·일 4개 국어 확충, QR 기반 다국어 전시 설명 제공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918071"/>
                  </a:ext>
                </a:extLst>
              </a:tr>
              <a:tr h="36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④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전통문화지구 진정성 보호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상업,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residential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tourists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아쉽, 느</a:t>
                      </a:r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낌</a:t>
                      </a:r>
                      <a:endParaRPr lang="ko-KR" sz="8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북촌, 전주한옥, 인사동, 감천마을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주민 생활 보호구역 지정, 방문객 행동 수칙 안내, 상업 비율 규제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803677"/>
                  </a:ext>
                </a:extLst>
              </a:tr>
              <a:tr h="36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⑤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계절·날씨 기반 방문 분산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cold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winter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weather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slippery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비수기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해운대, 성산일출봉, 설악산, 정방폭포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비성수기 콘텐츠 개발, 방문 전 날씨 알림 연동, 기대치 조율 안내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82890"/>
                  </a:ext>
                </a:extLst>
              </a:tr>
              <a:tr h="36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⑥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일제 재건축 논란 대응 — 역사 해설 강화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destroyed, rebuilt, japanese, 朝鮮, original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경복궁, 창덕궁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복원 경위 및 역사적 맥락을 담은 다국어 안내판 설치, 해설사 교육 강화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989902"/>
                  </a:ext>
                </a:extLst>
              </a:tr>
              <a:tr h="2517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⑦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스파·위생 품질 기준 마련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dirty, hygiene, shower, wet, products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인사동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스파사우나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아로마타이</a:t>
                      </a:r>
                      <a:endParaRPr lang="ko-KR" sz="8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관광 인증제 도입, 정기 위생 점검, 이용 후기 모니터링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02385"/>
                  </a:ext>
                </a:extLst>
              </a:tr>
              <a:tr h="4816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⑧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지하철 배리어프리 확충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escalator, stairs, 行李, elevator, 電梯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서울메트로 전반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 환승역 </a:t>
                      </a:r>
                      <a:r>
                        <a:rPr lang="ko-KR" sz="800" dirty="0" err="1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엘리베이터·에스컬레이터</a:t>
                      </a: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추가 설치, 짐 보관 서비스 확대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080089"/>
                  </a:ext>
                </a:extLst>
              </a:tr>
              <a:tr h="36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⑨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故宮 비교 대응 — 차별화 콘텐츠 개발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故宫, forbidden city, beijing, 感觉, compare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경복궁, 창덕궁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'조선왕조 고유성' 스토리텔링 강화, 중국어권 맞춤 해설 콘텐츠 개발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861698"/>
                  </a:ext>
                </a:extLst>
              </a:tr>
              <a:tr h="36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⑩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저혼잡 명소 홍보 강화 (OWI 연계)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garden, peaceful, bonsai, quiet, calm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스피리티드가든, 동궁과 월지, 남산골한옥마을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관광 분산 캠페인 추진, SNS 홍보 확대, 패키지 여행 상품 연계</a:t>
                      </a:r>
                    </a:p>
                  </a:txBody>
                  <a:tcPr marL="29063" marR="29063" marT="14531" marB="14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692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66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829F-2616-1549-35AC-C141600A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707E0B1B-7D8F-96DD-B462-C2E568A39C53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B0703C5-C6E3-0039-DDE6-986E0D7D0CE8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262DCEB-AA5B-A847-0D01-1B410C20168E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10369273-60B3-4A94-1BA8-3F168E957392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1926B18F-1B53-B918-788D-F7AEFB91C0A1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B0AF75E-B22B-E275-08D5-CE66229F0A09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CAE5F79A-3BDA-6988-A84B-A23C75903D1C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D9FE57E5-1534-C81B-41F5-A8070727F240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0ACCB3F-1301-B504-EFF4-745849B83BF6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D89057-3C04-056A-2E4E-886719E3952D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Appendix</a:t>
            </a:r>
            <a:endParaRPr lang="ko-KR" altLang="en-US" sz="2800" b="1" dirty="0">
              <a:ln w="19050"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0BC034-5C1E-425A-438C-6A26306D9BBF}"/>
              </a:ext>
            </a:extLst>
          </p:cNvPr>
          <p:cNvSpPr txBox="1"/>
          <p:nvPr/>
        </p:nvSpPr>
        <p:spPr>
          <a:xfrm>
            <a:off x="386277" y="4315217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10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시설 밀도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vs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평균 평점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 descr="Facility Density vs. Average Rating">
            <a:extLst>
              <a:ext uri="{FF2B5EF4-FFF2-40B4-BE49-F238E27FC236}">
                <a16:creationId xmlns:a16="http://schemas.microsoft.com/office/drawing/2014/main" id="{2A143ABD-028D-D805-298C-2CE22B0C3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76" y="1283609"/>
            <a:ext cx="3590590" cy="2990116"/>
          </a:xfrm>
          <a:prstGeom prst="rect">
            <a:avLst/>
          </a:prstGeom>
        </p:spPr>
      </p:pic>
      <p:pic>
        <p:nvPicPr>
          <p:cNvPr id="4" name="그림 3" descr="Popularity vs. Rating Quadrant Map">
            <a:extLst>
              <a:ext uri="{FF2B5EF4-FFF2-40B4-BE49-F238E27FC236}">
                <a16:creationId xmlns:a16="http://schemas.microsoft.com/office/drawing/2014/main" id="{E7507767-35B7-C6DA-8875-410A3BF7B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963" y="1283609"/>
            <a:ext cx="4162567" cy="29901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971ED7-3233-84B1-2E97-A6F6B796EF2D}"/>
              </a:ext>
            </a:extLst>
          </p:cNvPr>
          <p:cNvSpPr txBox="1"/>
          <p:nvPr/>
        </p:nvSpPr>
        <p:spPr>
          <a:xfrm>
            <a:off x="4687017" y="4315217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10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인구 밀도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vs.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평점 </a:t>
            </a:r>
            <a:r>
              <a:rPr lang="ko-KR" altLang="en-US" sz="10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사분면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7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FE2E4-3D66-5D8A-700B-788DD2771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0C447938-2B8D-2B59-A5F7-4D78B0DB6210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54CF72F-BA1E-9488-D28C-DE50A70F712F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E615B123-F5E0-B9A7-CA87-5823380BFAF6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AF709B49-700A-403E-5FB3-BD79C1E40C25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D8DED6B1-05A3-2A10-3907-D35FF972A437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4F29BABF-82C1-DC26-0833-FD9B38A56879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1C5E26F5-BFC0-80B2-5EA7-075A8495D014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4A003AC-3CB2-2215-709D-C9EAA9BA89E9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C9837BC-D335-0E00-6AE4-CF428307590E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C88953-CFC2-5A3F-AEFD-6C368577BCE8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Appendix</a:t>
            </a:r>
            <a:endParaRPr lang="ko-KR" altLang="en-US" sz="2800" b="1" dirty="0">
              <a:ln w="19050"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3E445-53CF-CC3F-A58D-A773CB445C17}"/>
              </a:ext>
            </a:extLst>
          </p:cNvPr>
          <p:cNvSpPr txBox="1"/>
          <p:nvPr/>
        </p:nvSpPr>
        <p:spPr>
          <a:xfrm>
            <a:off x="641096" y="4211446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10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지하철 접근성 비교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 descr="Subway Accessibility Comparison">
            <a:extLst>
              <a:ext uri="{FF2B5EF4-FFF2-40B4-BE49-F238E27FC236}">
                <a16:creationId xmlns:a16="http://schemas.microsoft.com/office/drawing/2014/main" id="{5E1B95EC-52BE-AC8E-C291-8823E89E4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76" y="1515016"/>
            <a:ext cx="4575692" cy="2695498"/>
          </a:xfrm>
          <a:prstGeom prst="rect">
            <a:avLst/>
          </a:prstGeom>
        </p:spPr>
      </p:pic>
      <p:pic>
        <p:nvPicPr>
          <p:cNvPr id="7" name="그림 6" descr="Rating Distribution by Attraction Type">
            <a:extLst>
              <a:ext uri="{FF2B5EF4-FFF2-40B4-BE49-F238E27FC236}">
                <a16:creationId xmlns:a16="http://schemas.microsoft.com/office/drawing/2014/main" id="{8F6B49C0-4F22-1854-2AD7-9D8EC84E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257" y="1385247"/>
            <a:ext cx="3520667" cy="28147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FC1B95-1C2E-FA7D-89E0-C075B1EF6012}"/>
              </a:ext>
            </a:extLst>
          </p:cNvPr>
          <p:cNvSpPr txBox="1"/>
          <p:nvPr/>
        </p:nvSpPr>
        <p:spPr>
          <a:xfrm>
            <a:off x="5056768" y="4211446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10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관광지 유형별 평점 분포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47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F2CD-0ECE-8EB4-973C-AEAEAB82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id="{97BE36D4-28C1-7251-0645-B93E1C268667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7E5E220-1821-EB39-7F80-068826A61500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BE2A572-767F-387A-CEDC-8151A7A15E8E}"/>
              </a:ext>
            </a:extLst>
          </p:cNvPr>
          <p:cNvGrpSpPr/>
          <p:nvPr/>
        </p:nvGrpSpPr>
        <p:grpSpPr>
          <a:xfrm>
            <a:off x="358775" y="705172"/>
            <a:ext cx="8426450" cy="4296197"/>
            <a:chOff x="358775" y="984537"/>
            <a:chExt cx="8183341" cy="3413843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9A9E040-E029-3F6C-2168-7B4C943853E0}"/>
                </a:ext>
              </a:extLst>
            </p:cNvPr>
            <p:cNvCxnSpPr/>
            <p:nvPr/>
          </p:nvCxnSpPr>
          <p:spPr>
            <a:xfrm flipH="1">
              <a:off x="358775" y="4398380"/>
              <a:ext cx="8183341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5DAEB44-18B5-D0B2-7EBD-908EA9CEC9FE}"/>
                </a:ext>
              </a:extLst>
            </p:cNvPr>
            <p:cNvCxnSpPr/>
            <p:nvPr/>
          </p:nvCxnSpPr>
          <p:spPr>
            <a:xfrm flipH="1">
              <a:off x="358775" y="984537"/>
              <a:ext cx="817176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2A12D016-9994-882F-1D1D-204A268EB204}"/>
              </a:ext>
            </a:extLst>
          </p:cNvPr>
          <p:cNvCxnSpPr/>
          <p:nvPr/>
        </p:nvCxnSpPr>
        <p:spPr>
          <a:xfrm>
            <a:off x="358775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6507549-507A-611E-BC12-07C8C9C2CA38}"/>
              </a:ext>
            </a:extLst>
          </p:cNvPr>
          <p:cNvCxnSpPr/>
          <p:nvPr/>
        </p:nvCxnSpPr>
        <p:spPr>
          <a:xfrm>
            <a:off x="8785225" y="0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81E3A6C-CC95-0AF6-6684-CACD7DF170D8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00154B8-C909-FE39-13D8-657F00D977F3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BBA9A2-A86F-7DF4-3616-1030C9C3D9CE}"/>
              </a:ext>
            </a:extLst>
          </p:cNvPr>
          <p:cNvSpPr/>
          <p:nvPr/>
        </p:nvSpPr>
        <p:spPr>
          <a:xfrm>
            <a:off x="358774" y="159622"/>
            <a:ext cx="600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800" b="1" dirty="0">
                <a:ln w="19050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Appendix</a:t>
            </a:r>
            <a:endParaRPr lang="ko-KR" altLang="en-US" sz="2800" b="1" dirty="0">
              <a:ln w="19050"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E8A4FE-7F53-1A5B-2607-3AC2A5403ACB}"/>
              </a:ext>
            </a:extLst>
          </p:cNvPr>
          <p:cNvSpPr txBox="1"/>
          <p:nvPr/>
        </p:nvSpPr>
        <p:spPr>
          <a:xfrm>
            <a:off x="2784391" y="4689147"/>
            <a:ext cx="3728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&lt; </a:t>
            </a:r>
            <a:r>
              <a:rPr lang="ko-KR" altLang="en-US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그림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10 &gt;</a:t>
            </a:r>
            <a:r>
              <a:rPr lang="ko-KR" altLang="en-US" sz="1000" b="1" dirty="0">
                <a:ln w="19050">
                  <a:noFill/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  <a:sym typeface="+mn-lt"/>
              </a:rPr>
              <a:t>Local Indicators of Spatial Association (LISA)</a:t>
            </a:r>
            <a:endParaRPr lang="ko-KR" altLang="ko-KR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 descr="Moran scatterplot">
            <a:extLst>
              <a:ext uri="{FF2B5EF4-FFF2-40B4-BE49-F238E27FC236}">
                <a16:creationId xmlns:a16="http://schemas.microsoft.com/office/drawing/2014/main" id="{DCA7B4F3-15AB-E66C-0418-F2139AC0D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771" y="805409"/>
            <a:ext cx="3728458" cy="381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4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BBB9-BFF9-297C-5A9C-DF0F5AB4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夜晚亮着灯的舞台&#10;&#10;中度可信度描述已自动生成">
            <a:extLst>
              <a:ext uri="{FF2B5EF4-FFF2-40B4-BE49-F238E27FC236}">
                <a16:creationId xmlns:a16="http://schemas.microsoft.com/office/drawing/2014/main" id="{45F1E238-8BAB-46B8-93B3-26D5BFD854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3" r="27152"/>
          <a:stretch>
            <a:fillRect/>
          </a:stretch>
        </p:blipFill>
        <p:spPr>
          <a:xfrm>
            <a:off x="5847127" y="1259807"/>
            <a:ext cx="2996692" cy="2642056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A5A0D82-646E-FF00-ABBE-36AE7B928AAD}"/>
              </a:ext>
            </a:extLst>
          </p:cNvPr>
          <p:cNvSpPr/>
          <p:nvPr/>
        </p:nvSpPr>
        <p:spPr>
          <a:xfrm>
            <a:off x="3886563" y="708403"/>
            <a:ext cx="5173803" cy="3281748"/>
          </a:xfrm>
          <a:custGeom>
            <a:avLst/>
            <a:gdLst>
              <a:gd name="connsiteX0" fmla="*/ 6436154 w 9144000"/>
              <a:gd name="connsiteY0" fmla="*/ 1628732 h 5143500"/>
              <a:gd name="connsiteX1" fmla="*/ 6846435 w 9144000"/>
              <a:gd name="connsiteY1" fmla="*/ 2649167 h 5143500"/>
              <a:gd name="connsiteX2" fmla="*/ 6025873 w 9144000"/>
              <a:gd name="connsiteY2" fmla="*/ 2649167 h 5143500"/>
              <a:gd name="connsiteX3" fmla="*/ 8089090 w 9144000"/>
              <a:gd name="connsiteY3" fmla="*/ 978945 h 5143500"/>
              <a:gd name="connsiteX4" fmla="*/ 8089090 w 9144000"/>
              <a:gd name="connsiteY4" fmla="*/ 4414295 h 5143500"/>
              <a:gd name="connsiteX5" fmla="*/ 8611603 w 9144000"/>
              <a:gd name="connsiteY5" fmla="*/ 4414295 h 5143500"/>
              <a:gd name="connsiteX6" fmla="*/ 8611603 w 9144000"/>
              <a:gd name="connsiteY6" fmla="*/ 978945 h 5143500"/>
              <a:gd name="connsiteX7" fmla="*/ 6171811 w 9144000"/>
              <a:gd name="connsiteY7" fmla="*/ 978945 h 5143500"/>
              <a:gd name="connsiteX8" fmla="*/ 4790579 w 9144000"/>
              <a:gd name="connsiteY8" fmla="*/ 4414295 h 5143500"/>
              <a:gd name="connsiteX9" fmla="*/ 5316178 w 9144000"/>
              <a:gd name="connsiteY9" fmla="*/ 4414295 h 5143500"/>
              <a:gd name="connsiteX10" fmla="*/ 5815789 w 9144000"/>
              <a:gd name="connsiteY10" fmla="*/ 3171680 h 5143500"/>
              <a:gd name="connsiteX11" fmla="*/ 7056519 w 9144000"/>
              <a:gd name="connsiteY11" fmla="*/ 3171680 h 5143500"/>
              <a:gd name="connsiteX12" fmla="*/ 7556131 w 9144000"/>
              <a:gd name="connsiteY12" fmla="*/ 4414295 h 5143500"/>
              <a:gd name="connsiteX13" fmla="*/ 8081730 w 9144000"/>
              <a:gd name="connsiteY13" fmla="*/ 4414295 h 5143500"/>
              <a:gd name="connsiteX14" fmla="*/ 6700497 w 9144000"/>
              <a:gd name="connsiteY14" fmla="*/ 978945 h 5143500"/>
              <a:gd name="connsiteX15" fmla="*/ 6697411 w 9144000"/>
              <a:gd name="connsiteY15" fmla="*/ 978945 h 5143500"/>
              <a:gd name="connsiteX16" fmla="*/ 0 w 9144000"/>
              <a:gd name="connsiteY16" fmla="*/ 0 h 5143500"/>
              <a:gd name="connsiteX17" fmla="*/ 9144000 w 9144000"/>
              <a:gd name="connsiteY17" fmla="*/ 0 h 5143500"/>
              <a:gd name="connsiteX18" fmla="*/ 9144000 w 9144000"/>
              <a:gd name="connsiteY18" fmla="*/ 5143500 h 5143500"/>
              <a:gd name="connsiteX19" fmla="*/ 0 w 9144000"/>
              <a:gd name="connsiteY19" fmla="*/ 514349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6436154" y="1628732"/>
                </a:moveTo>
                <a:lnTo>
                  <a:pt x="6846435" y="2649167"/>
                </a:lnTo>
                <a:lnTo>
                  <a:pt x="6025873" y="2649167"/>
                </a:lnTo>
                <a:close/>
                <a:moveTo>
                  <a:pt x="8089090" y="978945"/>
                </a:moveTo>
                <a:lnTo>
                  <a:pt x="8089090" y="4414295"/>
                </a:lnTo>
                <a:lnTo>
                  <a:pt x="8611603" y="4414295"/>
                </a:lnTo>
                <a:lnTo>
                  <a:pt x="8611603" y="978945"/>
                </a:lnTo>
                <a:close/>
                <a:moveTo>
                  <a:pt x="6171811" y="978945"/>
                </a:moveTo>
                <a:lnTo>
                  <a:pt x="4790579" y="4414295"/>
                </a:lnTo>
                <a:lnTo>
                  <a:pt x="5316178" y="4414295"/>
                </a:lnTo>
                <a:lnTo>
                  <a:pt x="5815789" y="3171680"/>
                </a:lnTo>
                <a:lnTo>
                  <a:pt x="7056519" y="3171680"/>
                </a:lnTo>
                <a:lnTo>
                  <a:pt x="7556131" y="4414295"/>
                </a:lnTo>
                <a:lnTo>
                  <a:pt x="8081730" y="4414295"/>
                </a:lnTo>
                <a:lnTo>
                  <a:pt x="6700497" y="978945"/>
                </a:lnTo>
                <a:lnTo>
                  <a:pt x="6697411" y="978945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499"/>
                </a:lnTo>
                <a:close/>
              </a:path>
            </a:pathLst>
          </a:custGeom>
          <a:solidFill>
            <a:srgbClr val="101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DDEF06E2-2FF6-D564-1670-7F99A315D04D}"/>
              </a:ext>
            </a:extLst>
          </p:cNvPr>
          <p:cNvSpPr/>
          <p:nvPr/>
        </p:nvSpPr>
        <p:spPr bwMode="auto">
          <a:xfrm>
            <a:off x="-1422483" y="2110085"/>
            <a:ext cx="74180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ko-KR" altLang="en-US" sz="5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감사합니다</a:t>
            </a:r>
            <a:r>
              <a:rPr lang="en-US" altLang="ko-KR" sz="54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  <a:sym typeface="MiSans Light" panose="00000400000000000000" charset="-122"/>
              </a:rPr>
              <a:t>.</a:t>
            </a:r>
            <a:endParaRPr lang="en-US" altLang="zh-CN" sz="5400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  <a:sym typeface="MiSans Light" panose="00000400000000000000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0E7BCEE-3FF5-9B72-C11E-82DCB92B7058}"/>
              </a:ext>
            </a:extLst>
          </p:cNvPr>
          <p:cNvSpPr/>
          <p:nvPr/>
        </p:nvSpPr>
        <p:spPr>
          <a:xfrm>
            <a:off x="8241649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27FD2F4-1BDF-B7D0-9827-7F1630B84A29}"/>
              </a:ext>
            </a:extLst>
          </p:cNvPr>
          <p:cNvSpPr/>
          <p:nvPr/>
        </p:nvSpPr>
        <p:spPr>
          <a:xfrm>
            <a:off x="8517646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CA9A39E3-7E09-1EDC-77AD-12D745498814}"/>
              </a:ext>
            </a:extLst>
          </p:cNvPr>
          <p:cNvGrpSpPr/>
          <p:nvPr/>
        </p:nvGrpSpPr>
        <p:grpSpPr>
          <a:xfrm>
            <a:off x="220229" y="991998"/>
            <a:ext cx="8712777" cy="2998153"/>
            <a:chOff x="224227" y="992218"/>
            <a:chExt cx="8461407" cy="3086449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1F56103E-B064-E411-D7A5-816E6FAFD4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227" y="4078667"/>
              <a:ext cx="8461407" cy="0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7442DDC9-6A94-806A-9766-737360B4A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242" y="992218"/>
              <a:ext cx="8452392" cy="4069"/>
            </a:xfrm>
            <a:prstGeom prst="line">
              <a:avLst/>
            </a:prstGeom>
            <a:ln>
              <a:solidFill>
                <a:srgbClr val="394B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F730F63C-BEC2-6A8F-073B-81FDADF462DB}"/>
              </a:ext>
            </a:extLst>
          </p:cNvPr>
          <p:cNvCxnSpPr/>
          <p:nvPr/>
        </p:nvCxnSpPr>
        <p:spPr>
          <a:xfrm>
            <a:off x="220229" y="92597"/>
            <a:ext cx="0" cy="5050903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19B804A-399E-9C5F-5256-9EDDA5C1D128}"/>
              </a:ext>
            </a:extLst>
          </p:cNvPr>
          <p:cNvCxnSpPr/>
          <p:nvPr/>
        </p:nvCxnSpPr>
        <p:spPr>
          <a:xfrm>
            <a:off x="8933007" y="9085"/>
            <a:ext cx="0" cy="5143500"/>
          </a:xfrm>
          <a:prstGeom prst="line">
            <a:avLst/>
          </a:prstGeom>
          <a:ln>
            <a:solidFill>
              <a:srgbClr val="394B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95C783B1-C096-6FCF-F40B-0AB754BB5849}"/>
              </a:ext>
            </a:extLst>
          </p:cNvPr>
          <p:cNvSpPr/>
          <p:nvPr/>
        </p:nvSpPr>
        <p:spPr>
          <a:xfrm>
            <a:off x="7689653" y="380498"/>
            <a:ext cx="145279" cy="145279"/>
          </a:xfrm>
          <a:prstGeom prst="ellipse">
            <a:avLst/>
          </a:prstGeom>
          <a:solidFill>
            <a:srgbClr val="FF1F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155A827-D6DB-AAD8-A23F-BF0A66A1273B}"/>
              </a:ext>
            </a:extLst>
          </p:cNvPr>
          <p:cNvSpPr/>
          <p:nvPr/>
        </p:nvSpPr>
        <p:spPr>
          <a:xfrm>
            <a:off x="7965651" y="380498"/>
            <a:ext cx="145279" cy="145279"/>
          </a:xfrm>
          <a:prstGeom prst="ellipse">
            <a:avLst/>
          </a:prstGeom>
          <a:solidFill>
            <a:srgbClr val="44D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5069D9A4-E0B5-0543-8432-C882A330160B}"/>
              </a:ext>
            </a:extLst>
          </p:cNvPr>
          <p:cNvSpPr/>
          <p:nvPr/>
        </p:nvSpPr>
        <p:spPr>
          <a:xfrm>
            <a:off x="365760" y="418665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SMART </a:t>
            </a:r>
            <a:r>
              <a:rPr lang="ko-KR" altLang="en-US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팀</a:t>
            </a:r>
            <a:endParaRPr lang="en-US" b="1" dirty="0">
              <a:ln w="19050">
                <a:noFill/>
              </a:ln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005CDA1-7BA7-245C-51B1-3B26495339ED}"/>
              </a:ext>
            </a:extLst>
          </p:cNvPr>
          <p:cNvSpPr/>
          <p:nvPr/>
        </p:nvSpPr>
        <p:spPr>
          <a:xfrm>
            <a:off x="365760" y="457985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 err="1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김다희·최준희</a:t>
            </a:r>
            <a:r>
              <a:rPr lang="en-US" altLang="ko-KR" sz="1200" b="1" dirty="0">
                <a:ln w="19050">
                  <a:noFill/>
                </a:ln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경희대학교</a:t>
            </a:r>
            <a:r>
              <a:rPr lang="en-US" sz="1200" dirty="0">
                <a:solidFill>
                  <a:srgbClr val="AABDD4"/>
                </a:solidFill>
                <a:latin typeface="나눔고딕" pitchFamily="2" charset="-127"/>
                <a:ea typeface="나눔고딕" pitchFamily="2" charset="-127"/>
                <a:cs typeface="Calibri" pitchFamily="34" charset="-120"/>
              </a:rPr>
              <a:t> 일반대학원 빅데이터응용학과 석사과정</a:t>
            </a:r>
            <a:endParaRPr lang="en-US" sz="12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679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MywiaGRpZCI6IjBlNmYzZTEwNWQwMzkzNTU5OGQ4MzYzMTk4MDUxNmFkIiwidXNlckNvdW50IjozfQ=="/>
  <p:tag name="KSO_WPP_MARK_KEY" val="6c9ae2d5-5322-47e6-a2c6-33aecd9b24b9"/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自定义 1405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44D5FA"/>
      </a:accent1>
      <a:accent2>
        <a:srgbClr val="8FFFFF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MiSans Heavy">
      <a:majorFont>
        <a:latin typeface="MiSans Bold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Sans Light"/>
        <a:ea typeface=""/>
        <a:cs typeface=""/>
        <a:font script="Jpan" typeface="ＭＳ Ｐゴシック"/>
        <a:font script="Hang" typeface="맑은 고딕"/>
        <a:font script="Hans" typeface="MiSans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Light"/>
        <a:ea typeface=""/>
        <a:cs typeface=""/>
        <a:font script="Jpan" typeface="ＭＳ Ｐゴシック"/>
        <a:font script="Hang" typeface="맑은 고딕"/>
        <a:font script="Hans" typeface="MiSans Light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Sans Light"/>
        <a:ea typeface=""/>
        <a:cs typeface=""/>
        <a:font script="Jpan" typeface="ＭＳ Ｐゴシック"/>
        <a:font script="Hang" typeface="맑은 고딕"/>
        <a:font script="Hans" typeface="MiSans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Light"/>
        <a:ea typeface=""/>
        <a:cs typeface=""/>
        <a:font script="Jpan" typeface="ＭＳ Ｐゴシック"/>
        <a:font script="Hang" typeface="맑은 고딕"/>
        <a:font script="Hans" typeface="MiSans Light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573816C7988B1429A0FA1FB5E729E63" ma:contentTypeVersion="9" ma:contentTypeDescription="새 문서를 만듭니다." ma:contentTypeScope="" ma:versionID="c8450b74690cea448397c7ddef928be5">
  <xsd:schema xmlns:xsd="http://www.w3.org/2001/XMLSchema" xmlns:xs="http://www.w3.org/2001/XMLSchema" xmlns:p="http://schemas.microsoft.com/office/2006/metadata/properties" xmlns:ns3="22b297ff-f5b6-4846-8442-ba41fb991cc0" targetNamespace="http://schemas.microsoft.com/office/2006/metadata/properties" ma:root="true" ma:fieldsID="f94958a7b457f844492f4ac93fe5d7da" ns3:_="">
    <xsd:import namespace="22b297ff-f5b6-4846-8442-ba41fb991c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b297ff-f5b6-4846-8442-ba41fb991c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00D9B8-3AF4-41C0-A230-BA143D202E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b297ff-f5b6-4846-8442-ba41fb991c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80D352-1D78-494C-9878-3997299C1A34}">
  <ds:schemaRefs>
    <ds:schemaRef ds:uri="http://purl.org/dc/dcmitype/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22b297ff-f5b6-4846-8442-ba41fb991cc0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1690A15-BB3A-4CED-8F23-F2FFDF2F1E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人工智能AIChat产品介绍通用PPT模板</Template>
  <TotalTime>6352</TotalTime>
  <Words>9302</Words>
  <Application>Microsoft Office PowerPoint</Application>
  <PresentationFormat>화면 슬라이드 쇼(16:9)</PresentationFormat>
  <Paragraphs>973</Paragraphs>
  <Slides>57</Slides>
  <Notes>55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70" baseType="lpstr">
      <vt:lpstr>나눔고딕</vt:lpstr>
      <vt:lpstr>Helvetica</vt:lpstr>
      <vt:lpstr>MiSans Light</vt:lpstr>
      <vt:lpstr>Times New Roman</vt:lpstr>
      <vt:lpstr>Wingdings</vt:lpstr>
      <vt:lpstr>Calibri</vt:lpstr>
      <vt:lpstr>Arial</vt:lpstr>
      <vt:lpstr>Montserrat Black</vt:lpstr>
      <vt:lpstr>Georgia</vt:lpstr>
      <vt:lpstr>바탕</vt:lpstr>
      <vt:lpstr>Courier New</vt:lpstr>
      <vt:lpstr>Office 主题​​</vt:lpstr>
      <vt:lpstr>포장기 셸 개체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M12663</dc:creator>
  <cp:lastModifiedBy>다희 김</cp:lastModifiedBy>
  <cp:revision>252</cp:revision>
  <dcterms:created xsi:type="dcterms:W3CDTF">2023-06-09T13:37:00Z</dcterms:created>
  <dcterms:modified xsi:type="dcterms:W3CDTF">2026-08-06T13:06:21Z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4149CF35FE3C4244A6E6B872F3C17867_11</vt:lpwstr>
  </property>
  <property fmtid="{D5CDD505-2E9C-101B-9397-08002B2CF9AE}" pid="3" name="KSOProductBuildVer">
    <vt:lpwstr>2052-12.1.0.16729</vt:lpwstr>
  </property>
  <property fmtid="{D5CDD505-2E9C-101B-9397-08002B2CF9AE}" pid="4" name="KSOTemplateUUID">
    <vt:lpwstr>v1.0_mb_MMqn+cAplvfp40vMHu0q7A==</vt:lpwstr>
  </property>
  <property fmtid="{D5CDD505-2E9C-101B-9397-08002B2CF9AE}" pid="5" name="ContentTypeId">
    <vt:lpwstr>0x010100F573816C7988B1429A0FA1FB5E729E63</vt:lpwstr>
  </property>
</Properties>
</file>